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10"/>
  </p:notesMasterIdLst>
  <p:sldIdLst>
    <p:sldId id="461" r:id="rId5"/>
    <p:sldId id="462" r:id="rId6"/>
    <p:sldId id="463" r:id="rId7"/>
    <p:sldId id="460" r:id="rId8"/>
    <p:sldId id="449"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FCFC"/>
    <a:srgbClr val="A974FB"/>
    <a:srgbClr val="DEEBF7"/>
    <a:srgbClr val="09CD86"/>
    <a:srgbClr val="0A0045"/>
    <a:srgbClr val="128C75"/>
    <a:srgbClr val="7F7F7F"/>
    <a:srgbClr val="018838"/>
    <a:srgbClr val="E2F0D9"/>
    <a:srgbClr val="D1EB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スタイル (濃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スタイル (濃色)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7" d="100"/>
          <a:sy n="117" d="100"/>
        </p:scale>
        <p:origin x="643" y="91"/>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BB8152-7813-4DD7-8C30-6943339385CA}" type="datetimeFigureOut">
              <a:rPr kumimoji="1" lang="ja-JP" altLang="en-US" smtClean="0"/>
              <a:t>2026/10/9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757476-B337-4A58-AD00-3B086E867399}" type="slidenum">
              <a:rPr kumimoji="1" lang="ja-JP" altLang="en-US" smtClean="0"/>
              <a:t>‹#›</a:t>
            </a:fld>
            <a:endParaRPr kumimoji="1" lang="ja-JP" altLang="en-US"/>
          </a:p>
        </p:txBody>
      </p:sp>
    </p:spTree>
    <p:extLst>
      <p:ext uri="{BB962C8B-B14F-4D97-AF65-F5344CB8AC3E}">
        <p14:creationId xmlns:p14="http://schemas.microsoft.com/office/powerpoint/2010/main" val="134399863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9B757476-B337-4A58-AD00-3B086E867399}" type="slidenum">
              <a:rPr kumimoji="1" lang="ja-JP" altLang="en-US" smtClean="0"/>
              <a:t>1</a:t>
            </a:fld>
            <a:endParaRPr kumimoji="1" lang="ja-JP" altLang="en-US"/>
          </a:p>
        </p:txBody>
      </p:sp>
    </p:spTree>
    <p:extLst>
      <p:ext uri="{BB962C8B-B14F-4D97-AF65-F5344CB8AC3E}">
        <p14:creationId xmlns:p14="http://schemas.microsoft.com/office/powerpoint/2010/main" val="30973644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9B757476-B337-4A58-AD00-3B086E867399}" type="slidenum">
              <a:rPr kumimoji="1" lang="ja-JP" altLang="en-US" smtClean="0"/>
              <a:t>4</a:t>
            </a:fld>
            <a:endParaRPr kumimoji="1" lang="ja-JP" altLang="en-US"/>
          </a:p>
        </p:txBody>
      </p:sp>
    </p:spTree>
    <p:extLst>
      <p:ext uri="{BB962C8B-B14F-4D97-AF65-F5344CB8AC3E}">
        <p14:creationId xmlns:p14="http://schemas.microsoft.com/office/powerpoint/2010/main" val="3502313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1_東京都GTT連盟_タイトルとコンテンツ">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9F28BF40-0C44-45B2-1858-3068C934FEB5}"/>
              </a:ext>
            </a:extLst>
          </p:cNvPr>
          <p:cNvSpPr/>
          <p:nvPr userDrawn="1"/>
        </p:nvSpPr>
        <p:spPr>
          <a:xfrm>
            <a:off x="0" y="-10160"/>
            <a:ext cx="12192000" cy="66483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6534E2D3-8122-4E07-5DED-FD5CE17EBE55}"/>
              </a:ext>
            </a:extLst>
          </p:cNvPr>
          <p:cNvSpPr>
            <a:spLocks noGrp="1"/>
          </p:cNvSpPr>
          <p:nvPr>
            <p:ph type="title"/>
          </p:nvPr>
        </p:nvSpPr>
        <p:spPr/>
        <p:txBody>
          <a:bodyPr/>
          <a:lstStyle>
            <a:lvl1pPr>
              <a:defRPr>
                <a:solidFill>
                  <a:srgbClr val="0A0045"/>
                </a:solidFill>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AEF5EE7-1386-DA2F-141B-273E2C609717}"/>
              </a:ext>
            </a:extLst>
          </p:cNvPr>
          <p:cNvSpPr>
            <a:spLocks noGrp="1"/>
          </p:cNvSpPr>
          <p:nvPr>
            <p:ph idx="1"/>
          </p:nvPr>
        </p:nvSpPr>
        <p:spPr/>
        <p:txBody>
          <a:bodyPr>
            <a:noAutofit/>
          </a:bodyPr>
          <a:lstStyle>
            <a:lvl1pPr>
              <a:defRPr sz="3200" b="1">
                <a:latin typeface="+mn-ea"/>
                <a:ea typeface="+mn-ea"/>
              </a:defRPr>
            </a:lvl1pPr>
            <a:lvl2pPr>
              <a:defRPr>
                <a:latin typeface="+mn-ea"/>
                <a:ea typeface="+mn-ea"/>
              </a:defRPr>
            </a:lvl2pPr>
            <a:lvl3pPr>
              <a:spcBef>
                <a:spcPts val="0"/>
              </a:spcBef>
              <a:spcAft>
                <a:spcPts val="0"/>
              </a:spcAft>
              <a:defRPr>
                <a:latin typeface="+mn-ea"/>
                <a:ea typeface="+mn-ea"/>
              </a:defRPr>
            </a:lvl3pPr>
            <a:lvl4pPr>
              <a:lnSpc>
                <a:spcPts val="2400"/>
              </a:lnSpc>
              <a:defRPr>
                <a:latin typeface="+mn-ea"/>
                <a:ea typeface="+mn-ea"/>
              </a:defRPr>
            </a:lvl4pPr>
            <a:lvl5pPr>
              <a:defRPr sz="14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2E37901-2F67-E8F2-32B1-6E60AB3A6436}"/>
              </a:ext>
            </a:extLst>
          </p:cNvPr>
          <p:cNvSpPr>
            <a:spLocks noGrp="1"/>
          </p:cNvSpPr>
          <p:nvPr>
            <p:ph type="dt" sz="half" idx="10"/>
          </p:nvPr>
        </p:nvSpPr>
        <p:spPr/>
        <p:txBody>
          <a:bodyPr/>
          <a:lstStyle/>
          <a:p>
            <a:fld id="{48522A55-22D5-47DA-B376-12D74840BD06}" type="datetime1">
              <a:rPr kumimoji="1" lang="ja-JP" altLang="en-US" smtClean="0"/>
              <a:t>2026/10/9</a:t>
            </a:fld>
            <a:endParaRPr kumimoji="1" lang="ja-JP" altLang="en-US"/>
          </a:p>
        </p:txBody>
      </p:sp>
      <p:sp>
        <p:nvSpPr>
          <p:cNvPr id="6" name="スライド番号プレースホルダー 5">
            <a:extLst>
              <a:ext uri="{FF2B5EF4-FFF2-40B4-BE49-F238E27FC236}">
                <a16:creationId xmlns:a16="http://schemas.microsoft.com/office/drawing/2014/main" id="{FFBC9E01-9A0F-E1DE-67C1-524F7E4C50AB}"/>
              </a:ext>
            </a:extLst>
          </p:cNvPr>
          <p:cNvSpPr>
            <a:spLocks noGrp="1"/>
          </p:cNvSpPr>
          <p:nvPr>
            <p:ph type="sldNum" sz="quarter" idx="12"/>
          </p:nvPr>
        </p:nvSpPr>
        <p:spPr/>
        <p:txBody>
          <a:bodyPr/>
          <a:lstStyle>
            <a:lvl1pPr>
              <a:defRPr>
                <a:solidFill>
                  <a:srgbClr val="0A0045"/>
                </a:solidFill>
              </a:defRPr>
            </a:lvl1pPr>
          </a:lstStyle>
          <a:p>
            <a:fld id="{42C06FF3-EDEF-40D9-844B-E8BDE887AEB1}" type="slidenum">
              <a:rPr lang="ja-JP" altLang="en-US" smtClean="0"/>
              <a:pPr/>
              <a:t>‹#›</a:t>
            </a:fld>
            <a:endParaRPr lang="ja-JP" altLang="en-US"/>
          </a:p>
        </p:txBody>
      </p:sp>
    </p:spTree>
    <p:extLst>
      <p:ext uri="{BB962C8B-B14F-4D97-AF65-F5344CB8AC3E}">
        <p14:creationId xmlns:p14="http://schemas.microsoft.com/office/powerpoint/2010/main" val="3643970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表紙_GTT東京都連名">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DA7C13D4-85B1-45AC-1216-B18A6FBC0C6E}"/>
              </a:ext>
            </a:extLst>
          </p:cNvPr>
          <p:cNvSpPr/>
          <p:nvPr userDrawn="1"/>
        </p:nvSpPr>
        <p:spPr>
          <a:xfrm>
            <a:off x="0" y="0"/>
            <a:ext cx="12192000" cy="68580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F94BDDB0-0B3B-1F99-215B-4A73194E842D}"/>
              </a:ext>
            </a:extLst>
          </p:cNvPr>
          <p:cNvSpPr>
            <a:spLocks noGrp="1"/>
          </p:cNvSpPr>
          <p:nvPr>
            <p:ph type="title"/>
          </p:nvPr>
        </p:nvSpPr>
        <p:spPr>
          <a:xfrm>
            <a:off x="1019436" y="1988840"/>
            <a:ext cx="10117124" cy="576064"/>
          </a:xfrm>
        </p:spPr>
        <p:txBody>
          <a:bodyPr>
            <a:normAutofit/>
          </a:bodyPr>
          <a:lstStyle>
            <a:lvl1pPr>
              <a:defRPr sz="3600">
                <a:solidFill>
                  <a:srgbClr val="0A0045"/>
                </a:solidFill>
              </a:defRPr>
            </a:lvl1p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700EB93-ADD2-7A50-3075-35EC332194F0}"/>
              </a:ext>
            </a:extLst>
          </p:cNvPr>
          <p:cNvSpPr>
            <a:spLocks noGrp="1"/>
          </p:cNvSpPr>
          <p:nvPr>
            <p:ph type="dt" sz="half" idx="10"/>
          </p:nvPr>
        </p:nvSpPr>
        <p:spPr/>
        <p:txBody>
          <a:bodyPr/>
          <a:lstStyle/>
          <a:p>
            <a:fld id="{E1847F1A-3080-4AE7-9245-F405EDE1DDF3}" type="datetime1">
              <a:rPr lang="ja-JP" altLang="en-US" smtClean="0"/>
              <a:t>2026/10/9</a:t>
            </a:fld>
            <a:endParaRPr lang="ja-JP" altLang="en-US"/>
          </a:p>
        </p:txBody>
      </p:sp>
      <p:sp>
        <p:nvSpPr>
          <p:cNvPr id="5" name="スライド番号プレースホルダー 4">
            <a:extLst>
              <a:ext uri="{FF2B5EF4-FFF2-40B4-BE49-F238E27FC236}">
                <a16:creationId xmlns:a16="http://schemas.microsoft.com/office/drawing/2014/main" id="{5CE3CD43-DC4B-6753-A084-9BE3623A7E0B}"/>
              </a:ext>
            </a:extLst>
          </p:cNvPr>
          <p:cNvSpPr>
            <a:spLocks noGrp="1"/>
          </p:cNvSpPr>
          <p:nvPr>
            <p:ph type="sldNum" sz="quarter" idx="12"/>
          </p:nvPr>
        </p:nvSpPr>
        <p:spPr/>
        <p:txBody>
          <a:bodyPr/>
          <a:lstStyle/>
          <a:p>
            <a:fld id="{42C06FF3-EDEF-40D9-844B-E8BDE887AEB1}" type="slidenum">
              <a:rPr lang="ja-JP" altLang="en-US" smtClean="0"/>
              <a:pPr/>
              <a:t>‹#›</a:t>
            </a:fld>
            <a:endParaRPr lang="ja-JP" altLang="en-US"/>
          </a:p>
        </p:txBody>
      </p:sp>
      <p:sp>
        <p:nvSpPr>
          <p:cNvPr id="11" name="テキスト プレースホルダー 10">
            <a:extLst>
              <a:ext uri="{FF2B5EF4-FFF2-40B4-BE49-F238E27FC236}">
                <a16:creationId xmlns:a16="http://schemas.microsoft.com/office/drawing/2014/main" id="{AD773ABD-511A-6C5F-D7E9-C0DA73238666}"/>
              </a:ext>
            </a:extLst>
          </p:cNvPr>
          <p:cNvSpPr>
            <a:spLocks noGrp="1"/>
          </p:cNvSpPr>
          <p:nvPr>
            <p:ph type="body" sz="quarter" idx="13"/>
          </p:nvPr>
        </p:nvSpPr>
        <p:spPr>
          <a:xfrm>
            <a:off x="1019436" y="2708920"/>
            <a:ext cx="10117124" cy="576262"/>
          </a:xfrm>
          <a:prstGeom prst="rect">
            <a:avLst/>
          </a:prstGeom>
        </p:spPr>
        <p:txBody>
          <a:bodyPr/>
          <a:lstStyle>
            <a:lvl1pPr marL="0" indent="0" algn="ctr">
              <a:buNone/>
              <a:defRPr sz="2000" b="1">
                <a:solidFill>
                  <a:srgbClr val="0A0045"/>
                </a:solidFill>
              </a:defRPr>
            </a:lvl1pPr>
            <a:lvl2pPr marL="457200" indent="0">
              <a:buNone/>
              <a:defRPr/>
            </a:lvl2pPr>
          </a:lstStyle>
          <a:p>
            <a:pPr lvl="0"/>
            <a:r>
              <a:rPr kumimoji="1" lang="ja-JP" altLang="en-US"/>
              <a:t>マスター テキストの書式設定</a:t>
            </a:r>
          </a:p>
        </p:txBody>
      </p:sp>
    </p:spTree>
    <p:extLst>
      <p:ext uri="{BB962C8B-B14F-4D97-AF65-F5344CB8AC3E}">
        <p14:creationId xmlns:p14="http://schemas.microsoft.com/office/powerpoint/2010/main" val="2771601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四角形: 角を丸くする 10">
            <a:extLst>
              <a:ext uri="{FF2B5EF4-FFF2-40B4-BE49-F238E27FC236}">
                <a16:creationId xmlns:a16="http://schemas.microsoft.com/office/drawing/2014/main" id="{4E54C745-1914-B58C-DB7A-3CBD3A0A7CD5}"/>
              </a:ext>
            </a:extLst>
          </p:cNvPr>
          <p:cNvSpPr/>
          <p:nvPr userDrawn="1"/>
        </p:nvSpPr>
        <p:spPr>
          <a:xfrm>
            <a:off x="0" y="653872"/>
            <a:ext cx="12187147" cy="5777911"/>
          </a:xfrm>
          <a:prstGeom prst="roundRect">
            <a:avLst>
              <a:gd name="adj"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プレースホルダー 1">
            <a:extLst>
              <a:ext uri="{FF2B5EF4-FFF2-40B4-BE49-F238E27FC236}">
                <a16:creationId xmlns:a16="http://schemas.microsoft.com/office/drawing/2014/main" id="{F2295E26-55C6-A9DF-E00D-4D28E8179C0A}"/>
              </a:ext>
            </a:extLst>
          </p:cNvPr>
          <p:cNvSpPr>
            <a:spLocks noGrp="1"/>
          </p:cNvSpPr>
          <p:nvPr>
            <p:ph type="title"/>
          </p:nvPr>
        </p:nvSpPr>
        <p:spPr>
          <a:xfrm>
            <a:off x="335360" y="116632"/>
            <a:ext cx="7956008" cy="468054"/>
          </a:xfrm>
          <a:prstGeom prst="rect">
            <a:avLst/>
          </a:prstGeom>
        </p:spPr>
        <p:txBody>
          <a:bodyPr vert="horz" lIns="0" tIns="0" rIns="0" bIns="0" rtlCol="0" anchor="ctr" anchorCtr="0">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2665390-A383-723E-0251-6CC5CE3B4F52}"/>
              </a:ext>
            </a:extLst>
          </p:cNvPr>
          <p:cNvSpPr>
            <a:spLocks noGrp="1"/>
          </p:cNvSpPr>
          <p:nvPr>
            <p:ph type="body" idx="1"/>
          </p:nvPr>
        </p:nvSpPr>
        <p:spPr>
          <a:xfrm>
            <a:off x="335360" y="918445"/>
            <a:ext cx="11521280" cy="5390875"/>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BEEE95A-4113-AE11-D7CA-5E8DAC22E0EB}"/>
              </a:ext>
            </a:extLst>
          </p:cNvPr>
          <p:cNvSpPr>
            <a:spLocks noGrp="1"/>
          </p:cNvSpPr>
          <p:nvPr>
            <p:ph type="dt" sz="half" idx="2"/>
          </p:nvPr>
        </p:nvSpPr>
        <p:spPr>
          <a:xfrm>
            <a:off x="336236" y="6562935"/>
            <a:ext cx="3246040" cy="178433"/>
          </a:xfrm>
          <a:prstGeom prst="rect">
            <a:avLst/>
          </a:prstGeom>
          <a:noFill/>
        </p:spPr>
        <p:txBody>
          <a:bodyPr vert="horz" lIns="0" tIns="0" rIns="0" bIns="0" rtlCol="0" anchor="t" anchorCtr="0"/>
          <a:lstStyle>
            <a:lvl1pPr algn="l">
              <a:defRPr sz="1000">
                <a:solidFill>
                  <a:srgbClr val="008000"/>
                </a:solidFill>
                <a:latin typeface="+mn-ea"/>
                <a:ea typeface="+mn-ea"/>
              </a:defRPr>
            </a:lvl1pPr>
          </a:lstStyle>
          <a:p>
            <a:fld id="{F1FA71E0-FC87-437A-9C14-FB30BE460721}" type="datetime1">
              <a:rPr lang="ja-JP" altLang="en-US" smtClean="0"/>
              <a:t>2026/10/9</a:t>
            </a:fld>
            <a:endParaRPr lang="ja-JP" altLang="en-US"/>
          </a:p>
        </p:txBody>
      </p:sp>
      <p:sp>
        <p:nvSpPr>
          <p:cNvPr id="5" name="フッター プレースホルダー 4">
            <a:extLst>
              <a:ext uri="{FF2B5EF4-FFF2-40B4-BE49-F238E27FC236}">
                <a16:creationId xmlns:a16="http://schemas.microsoft.com/office/drawing/2014/main" id="{65720EC7-3D48-3BC9-8382-F71D33A17605}"/>
              </a:ext>
            </a:extLst>
          </p:cNvPr>
          <p:cNvSpPr>
            <a:spLocks noGrp="1"/>
          </p:cNvSpPr>
          <p:nvPr>
            <p:ph type="ftr" sz="quarter" idx="3"/>
          </p:nvPr>
        </p:nvSpPr>
        <p:spPr>
          <a:xfrm>
            <a:off x="4038600" y="6555675"/>
            <a:ext cx="4114800" cy="178433"/>
          </a:xfrm>
          <a:prstGeom prst="rect">
            <a:avLst/>
          </a:prstGeom>
          <a:noFill/>
        </p:spPr>
        <p:txBody>
          <a:bodyPr vert="horz" lIns="0" tIns="0" rIns="0" bIns="0" rtlCol="0" anchor="t" anchorCtr="0"/>
          <a:lstStyle>
            <a:lvl1pPr algn="ctr">
              <a:defRPr sz="1000">
                <a:solidFill>
                  <a:srgbClr val="008000"/>
                </a:solidFill>
                <a:latin typeface="+mn-lt"/>
                <a:ea typeface="Noto Sans JP Medium" panose="020B0200000000000000" pitchFamily="50" charset="-128"/>
              </a:defRPr>
            </a:lvl1pPr>
          </a:lstStyle>
          <a:p>
            <a:endParaRPr lang="ja-JP" altLang="en-US"/>
          </a:p>
        </p:txBody>
      </p:sp>
      <p:sp>
        <p:nvSpPr>
          <p:cNvPr id="6" name="スライド番号プレースホルダー 5">
            <a:extLst>
              <a:ext uri="{FF2B5EF4-FFF2-40B4-BE49-F238E27FC236}">
                <a16:creationId xmlns:a16="http://schemas.microsoft.com/office/drawing/2014/main" id="{14FB723E-30B7-488E-7E05-9456155FBF03}"/>
              </a:ext>
            </a:extLst>
          </p:cNvPr>
          <p:cNvSpPr>
            <a:spLocks noGrp="1"/>
          </p:cNvSpPr>
          <p:nvPr>
            <p:ph type="sldNum" sz="quarter" idx="4"/>
          </p:nvPr>
        </p:nvSpPr>
        <p:spPr>
          <a:xfrm>
            <a:off x="8610600" y="6562935"/>
            <a:ext cx="3245164" cy="174885"/>
          </a:xfrm>
          <a:prstGeom prst="rect">
            <a:avLst/>
          </a:prstGeom>
          <a:noFill/>
        </p:spPr>
        <p:txBody>
          <a:bodyPr vert="horz" lIns="0" tIns="0" rIns="0" bIns="0" rtlCol="0" anchor="t" anchorCtr="0"/>
          <a:lstStyle>
            <a:lvl1pPr algn="r">
              <a:defRPr sz="1000">
                <a:solidFill>
                  <a:srgbClr val="008000"/>
                </a:solidFill>
                <a:latin typeface="+mn-ea"/>
                <a:ea typeface="+mn-ea"/>
              </a:defRPr>
            </a:lvl1pPr>
          </a:lstStyle>
          <a:p>
            <a:fld id="{42C06FF3-EDEF-40D9-844B-E8BDE887AEB1}" type="slidenum">
              <a:rPr lang="ja-JP" altLang="en-US" smtClean="0"/>
              <a:pPr/>
              <a:t>‹#›</a:t>
            </a:fld>
            <a:endParaRPr lang="ja-JP" altLang="en-US"/>
          </a:p>
        </p:txBody>
      </p:sp>
    </p:spTree>
    <p:extLst>
      <p:ext uri="{BB962C8B-B14F-4D97-AF65-F5344CB8AC3E}">
        <p14:creationId xmlns:p14="http://schemas.microsoft.com/office/powerpoint/2010/main" val="951777164"/>
      </p:ext>
    </p:extLst>
  </p:cSld>
  <p:clrMap bg1="lt1" tx1="dk1" bg2="lt2" tx2="dk2" accent1="accent1" accent2="accent2" accent3="accent3" accent4="accent4" accent5="accent5" accent6="accent6" hlink="hlink" folHlink="folHlink"/>
  <p:sldLayoutIdLst>
    <p:sldLayoutId id="2147483665" r:id="rId1"/>
    <p:sldLayoutId id="2147483668" r:id="rId2"/>
  </p:sldLayoutIdLst>
  <p:hf hdr="0" ftr="0" dt="0"/>
  <p:txStyles>
    <p:titleStyle>
      <a:lvl1pPr algn="l" defTabSz="914400" rtl="0" eaLnBrk="1" latinLnBrk="0" hangingPunct="1">
        <a:lnSpc>
          <a:spcPct val="90000"/>
        </a:lnSpc>
        <a:spcBef>
          <a:spcPct val="0"/>
        </a:spcBef>
        <a:buNone/>
        <a:defRPr kumimoji="1" sz="2000" b="1" kern="1200">
          <a:solidFill>
            <a:schemeClr val="bg1"/>
          </a:solidFill>
          <a:latin typeface="+mn-ea"/>
          <a:ea typeface="+mn-ea"/>
          <a:cs typeface="+mj-cs"/>
        </a:defRPr>
      </a:lvl1pPr>
    </p:titleStyle>
    <p:bodyStyle>
      <a:lvl1pPr marL="0" indent="0" algn="l" defTabSz="914400" rtl="0" eaLnBrk="1" latinLnBrk="0" hangingPunct="1">
        <a:lnSpc>
          <a:spcPts val="3200"/>
        </a:lnSpc>
        <a:spcBef>
          <a:spcPts val="0"/>
        </a:spcBef>
        <a:spcAft>
          <a:spcPts val="800"/>
        </a:spcAft>
        <a:buFont typeface="Arial" panose="020B0604020202020204" pitchFamily="34" charset="0"/>
        <a:buNone/>
        <a:defRPr kumimoji="1" sz="3200" b="1" kern="1200">
          <a:solidFill>
            <a:schemeClr val="tx1"/>
          </a:solidFill>
          <a:latin typeface="+mn-ea"/>
          <a:ea typeface="+mn-ea"/>
          <a:cs typeface="+mn-cs"/>
        </a:defRPr>
      </a:lvl1pPr>
      <a:lvl2pPr marL="685800" indent="-228600" algn="l" defTabSz="914400" rtl="0" eaLnBrk="1" latinLnBrk="0" hangingPunct="1">
        <a:lnSpc>
          <a:spcPts val="2800"/>
        </a:lnSpc>
        <a:spcBef>
          <a:spcPts val="0"/>
        </a:spcBef>
        <a:spcAft>
          <a:spcPts val="0"/>
        </a:spcAft>
        <a:buFont typeface="Arial" panose="020B0604020202020204" pitchFamily="34" charset="0"/>
        <a:buChar char="•"/>
        <a:defRPr kumimoji="1" sz="2000" b="1" kern="1200">
          <a:solidFill>
            <a:schemeClr val="tx1"/>
          </a:solidFill>
          <a:latin typeface="+mn-ea"/>
          <a:ea typeface="+mn-ea"/>
          <a:cs typeface="+mn-cs"/>
        </a:defRPr>
      </a:lvl2pPr>
      <a:lvl3pPr marL="1143000" indent="-228600" algn="l" defTabSz="914400" rtl="0" eaLnBrk="1" latinLnBrk="0" hangingPunct="1">
        <a:lnSpc>
          <a:spcPts val="2400"/>
        </a:lnSpc>
        <a:spcBef>
          <a:spcPts val="0"/>
        </a:spcBef>
        <a:buFont typeface="Arial" panose="020B0604020202020204" pitchFamily="34" charset="0"/>
        <a:buChar char="•"/>
        <a:defRPr kumimoji="1" sz="1800" kern="1200">
          <a:solidFill>
            <a:schemeClr val="tx1"/>
          </a:solidFill>
          <a:latin typeface="+mn-ea"/>
          <a:ea typeface="+mn-ea"/>
          <a:cs typeface="+mn-cs"/>
        </a:defRPr>
      </a:lvl3pPr>
      <a:lvl4pPr marL="1600200" indent="-228600" algn="l" defTabSz="914400" rtl="0" eaLnBrk="1" latinLnBrk="0" hangingPunct="1">
        <a:lnSpc>
          <a:spcPts val="2400"/>
        </a:lnSpc>
        <a:spcBef>
          <a:spcPts val="0"/>
        </a:spcBef>
        <a:buFont typeface="Arial" panose="020B0604020202020204" pitchFamily="34" charset="0"/>
        <a:buChar char="•"/>
        <a:defRPr kumimoji="1" sz="1600" kern="1200">
          <a:solidFill>
            <a:schemeClr val="tx1"/>
          </a:solidFill>
          <a:latin typeface="+mn-ea"/>
          <a:ea typeface="+mn-ea"/>
          <a:cs typeface="+mn-cs"/>
        </a:defRPr>
      </a:lvl4pPr>
      <a:lvl5pPr marL="2057400" indent="-228600" algn="l" defTabSz="914400" rtl="0" eaLnBrk="1" latinLnBrk="0" hangingPunct="1">
        <a:lnSpc>
          <a:spcPts val="2000"/>
        </a:lnSpc>
        <a:spcBef>
          <a:spcPts val="0"/>
        </a:spcBef>
        <a:buFont typeface="Arial" panose="020B0604020202020204" pitchFamily="34" charset="0"/>
        <a:buChar char="•"/>
        <a:defRPr kumimoji="1"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A916DC48-FE98-10EF-29FC-ADF16CFF26D7}"/>
              </a:ext>
            </a:extLst>
          </p:cNvPr>
          <p:cNvSpPr>
            <a:spLocks noGrp="1"/>
          </p:cNvSpPr>
          <p:nvPr>
            <p:ph type="sldNum" sz="quarter" idx="12"/>
          </p:nvPr>
        </p:nvSpPr>
        <p:spPr/>
        <p:txBody>
          <a:bodyPr/>
          <a:lstStyle/>
          <a:p>
            <a:fld id="{42C06FF3-EDEF-40D9-844B-E8BDE887AEB1}" type="slidenum">
              <a:rPr lang="ja-JP" altLang="en-US" smtClean="0"/>
              <a:pPr/>
              <a:t>1</a:t>
            </a:fld>
            <a:endParaRPr lang="ja-JP" altLang="en-US"/>
          </a:p>
        </p:txBody>
      </p:sp>
      <p:grpSp>
        <p:nvGrpSpPr>
          <p:cNvPr id="12" name="グループ化 11">
            <a:extLst>
              <a:ext uri="{FF2B5EF4-FFF2-40B4-BE49-F238E27FC236}">
                <a16:creationId xmlns:a16="http://schemas.microsoft.com/office/drawing/2014/main" id="{EF1AAABE-7C18-C5EF-F462-5E7EED252C75}"/>
              </a:ext>
            </a:extLst>
          </p:cNvPr>
          <p:cNvGrpSpPr/>
          <p:nvPr/>
        </p:nvGrpSpPr>
        <p:grpSpPr>
          <a:xfrm>
            <a:off x="1020519" y="2343140"/>
            <a:ext cx="10117124" cy="2178644"/>
            <a:chOff x="1020519" y="2497375"/>
            <a:chExt cx="10117124" cy="2178644"/>
          </a:xfrm>
        </p:grpSpPr>
        <p:sp>
          <p:nvSpPr>
            <p:cNvPr id="8" name="タイトル 9">
              <a:extLst>
                <a:ext uri="{FF2B5EF4-FFF2-40B4-BE49-F238E27FC236}">
                  <a16:creationId xmlns:a16="http://schemas.microsoft.com/office/drawing/2014/main" id="{1AF61D2E-9CC4-8C1B-B9BD-0DBFBA0011B5}"/>
                </a:ext>
              </a:extLst>
            </p:cNvPr>
            <p:cNvSpPr txBox="1">
              <a:spLocks/>
            </p:cNvSpPr>
            <p:nvPr/>
          </p:nvSpPr>
          <p:spPr>
            <a:xfrm>
              <a:off x="1020519" y="3456522"/>
              <a:ext cx="10117124" cy="576064"/>
            </a:xfrm>
            <a:prstGeom prst="rect">
              <a:avLst/>
            </a:prstGeom>
          </p:spPr>
          <p:txBody>
            <a:bodyPr vert="horz" lIns="0" tIns="0" rIns="0" bIns="0" rtlCol="0" anchor="ctr" anchorCtr="0">
              <a:noAutofit/>
            </a:bodyPr>
            <a:lstStyle>
              <a:lvl1pPr algn="l" defTabSz="914400" rtl="0" eaLnBrk="1" latinLnBrk="0" hangingPunct="1">
                <a:lnSpc>
                  <a:spcPct val="90000"/>
                </a:lnSpc>
                <a:spcBef>
                  <a:spcPct val="0"/>
                </a:spcBef>
                <a:buNone/>
                <a:defRPr kumimoji="1" sz="2000" b="1" kern="1200">
                  <a:solidFill>
                    <a:srgbClr val="0A0045"/>
                  </a:solidFill>
                  <a:latin typeface="+mn-ea"/>
                  <a:ea typeface="+mn-ea"/>
                  <a:cs typeface="+mj-cs"/>
                </a:defRPr>
              </a:lvl1pPr>
            </a:lstStyle>
            <a:p>
              <a:r>
                <a:rPr lang="ja-JP" altLang="en-US" sz="2800" dirty="0">
                  <a:latin typeface="游ゴシック"/>
                  <a:ea typeface="游ゴシック"/>
                </a:rPr>
                <a:t>秋池 翔悟</a:t>
              </a:r>
              <a:r>
                <a:rPr lang="ja-JP" altLang="en-US" dirty="0">
                  <a:latin typeface="游ゴシック"/>
                  <a:ea typeface="游ゴシック"/>
                </a:rPr>
                <a:t>（</a:t>
              </a:r>
              <a:r>
                <a:rPr lang="en-US" altLang="ja-JP" dirty="0" err="1">
                  <a:latin typeface="游ゴシック"/>
                  <a:ea typeface="游ゴシック"/>
                </a:rPr>
                <a:t>Shohgo</a:t>
              </a:r>
              <a:r>
                <a:rPr lang="ja-JP" altLang="en-US" dirty="0">
                  <a:latin typeface="游ゴシック"/>
                  <a:ea typeface="游ゴシック"/>
                  <a:cs typeface="+mn-ea"/>
                </a:rPr>
                <a:t> </a:t>
              </a:r>
              <a:r>
                <a:rPr lang="en-US" altLang="ja-JP" dirty="0" err="1">
                  <a:latin typeface="游ゴシック"/>
                  <a:ea typeface="游ゴシック"/>
                  <a:cs typeface="+mn-ea"/>
                </a:rPr>
                <a:t>Akiike</a:t>
              </a:r>
              <a:r>
                <a:rPr lang="ja-JP" altLang="en-US" dirty="0">
                  <a:latin typeface="游ゴシック"/>
                  <a:ea typeface="游ゴシック"/>
                  <a:cs typeface="+mn-ea"/>
                </a:rPr>
                <a:t>）</a:t>
              </a:r>
              <a:endParaRPr lang="ja-JP" altLang="en-US" dirty="0">
                <a:latin typeface="游ゴシック"/>
                <a:ea typeface="游ゴシック"/>
              </a:endParaRPr>
            </a:p>
          </p:txBody>
        </p:sp>
        <p:sp>
          <p:nvSpPr>
            <p:cNvPr id="9" name="テキスト プレースホルダー 6">
              <a:extLst>
                <a:ext uri="{FF2B5EF4-FFF2-40B4-BE49-F238E27FC236}">
                  <a16:creationId xmlns:a16="http://schemas.microsoft.com/office/drawing/2014/main" id="{923BA4D6-6C9A-574C-A76F-63A1484D7C6A}"/>
                </a:ext>
              </a:extLst>
            </p:cNvPr>
            <p:cNvSpPr txBox="1">
              <a:spLocks/>
            </p:cNvSpPr>
            <p:nvPr/>
          </p:nvSpPr>
          <p:spPr>
            <a:xfrm>
              <a:off x="1020519" y="2497375"/>
              <a:ext cx="10117124" cy="576262"/>
            </a:xfrm>
            <a:prstGeom prst="rect">
              <a:avLst/>
            </a:prstGeom>
          </p:spPr>
          <p:txBody>
            <a:bodyPr vert="horz" lIns="0" tIns="0" rIns="0" bIns="0" rtlCol="0" anchor="t">
              <a:noAutofit/>
            </a:bodyPr>
            <a:lstStyle>
              <a:lvl1pPr marL="0" indent="0" algn="ctr" defTabSz="914400" rtl="0" eaLnBrk="1" latinLnBrk="0" hangingPunct="1">
                <a:lnSpc>
                  <a:spcPts val="3200"/>
                </a:lnSpc>
                <a:spcBef>
                  <a:spcPts val="0"/>
                </a:spcBef>
                <a:spcAft>
                  <a:spcPts val="800"/>
                </a:spcAft>
                <a:buFont typeface="Arial" panose="020B0604020202020204" pitchFamily="34" charset="0"/>
                <a:buNone/>
                <a:defRPr kumimoji="1" sz="2000" b="1" kern="1200">
                  <a:solidFill>
                    <a:srgbClr val="0A0045"/>
                  </a:solidFill>
                  <a:latin typeface="+mn-ea"/>
                  <a:ea typeface="+mn-ea"/>
                  <a:cs typeface="+mn-cs"/>
                </a:defRPr>
              </a:lvl1pPr>
              <a:lvl2pPr marL="457200" indent="0" algn="l" defTabSz="914400" rtl="0" eaLnBrk="1" latinLnBrk="0" hangingPunct="1">
                <a:lnSpc>
                  <a:spcPts val="2800"/>
                </a:lnSpc>
                <a:spcBef>
                  <a:spcPts val="0"/>
                </a:spcBef>
                <a:spcAft>
                  <a:spcPts val="0"/>
                </a:spcAft>
                <a:buFont typeface="Arial" panose="020B0604020202020204" pitchFamily="34" charset="0"/>
                <a:buNone/>
                <a:defRPr kumimoji="1" sz="2000" b="1" kern="1200">
                  <a:solidFill>
                    <a:schemeClr val="tx1"/>
                  </a:solidFill>
                  <a:latin typeface="+mn-ea"/>
                  <a:ea typeface="+mn-ea"/>
                  <a:cs typeface="+mn-cs"/>
                </a:defRPr>
              </a:lvl2pPr>
              <a:lvl3pPr marL="1143000" indent="-228600" algn="l" defTabSz="914400" rtl="0" eaLnBrk="1" latinLnBrk="0" hangingPunct="1">
                <a:lnSpc>
                  <a:spcPts val="2400"/>
                </a:lnSpc>
                <a:spcBef>
                  <a:spcPts val="0"/>
                </a:spcBef>
                <a:buFont typeface="Arial" panose="020B0604020202020204" pitchFamily="34" charset="0"/>
                <a:buChar char="•"/>
                <a:defRPr kumimoji="1" sz="1800" kern="1200">
                  <a:solidFill>
                    <a:schemeClr val="tx1"/>
                  </a:solidFill>
                  <a:latin typeface="+mn-ea"/>
                  <a:ea typeface="+mn-ea"/>
                  <a:cs typeface="+mn-cs"/>
                </a:defRPr>
              </a:lvl3pPr>
              <a:lvl4pPr marL="1600200" indent="-228600" algn="l" defTabSz="914400" rtl="0" eaLnBrk="1" latinLnBrk="0" hangingPunct="1">
                <a:lnSpc>
                  <a:spcPts val="2400"/>
                </a:lnSpc>
                <a:spcBef>
                  <a:spcPts val="0"/>
                </a:spcBef>
                <a:buFont typeface="Arial" panose="020B0604020202020204" pitchFamily="34" charset="0"/>
                <a:buChar char="•"/>
                <a:defRPr kumimoji="1" sz="1600" kern="1200">
                  <a:solidFill>
                    <a:schemeClr val="tx1"/>
                  </a:solidFill>
                  <a:latin typeface="+mn-ea"/>
                  <a:ea typeface="+mn-ea"/>
                  <a:cs typeface="+mn-cs"/>
                </a:defRPr>
              </a:lvl4pPr>
              <a:lvl5pPr marL="2057400" indent="-228600" algn="l" defTabSz="914400" rtl="0" eaLnBrk="1" latinLnBrk="0" hangingPunct="1">
                <a:lnSpc>
                  <a:spcPts val="2000"/>
                </a:lnSpc>
                <a:spcBef>
                  <a:spcPts val="0"/>
                </a:spcBef>
                <a:buFont typeface="Arial" panose="020B0604020202020204" pitchFamily="34" charset="0"/>
                <a:buChar char="•"/>
                <a:defRPr kumimoji="1"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l"/>
              <a:r>
                <a:rPr lang="ja-JP" altLang="en-US" sz="4600">
                  <a:latin typeface="游ゴシック"/>
                  <a:ea typeface="游ゴシック"/>
                </a:rPr>
                <a:t>ポートフォリオ</a:t>
              </a:r>
              <a:endParaRPr lang="en-US" altLang="ja-JP" sz="4600">
                <a:latin typeface="游ゴシック"/>
                <a:ea typeface="游ゴシック"/>
              </a:endParaRPr>
            </a:p>
          </p:txBody>
        </p:sp>
        <p:sp>
          <p:nvSpPr>
            <p:cNvPr id="11" name="テキスト プレースホルダー 6">
              <a:extLst>
                <a:ext uri="{FF2B5EF4-FFF2-40B4-BE49-F238E27FC236}">
                  <a16:creationId xmlns:a16="http://schemas.microsoft.com/office/drawing/2014/main" id="{0AAE7572-DB68-9ECE-7036-CF29FA32C945}"/>
                </a:ext>
              </a:extLst>
            </p:cNvPr>
            <p:cNvSpPr txBox="1">
              <a:spLocks/>
            </p:cNvSpPr>
            <p:nvPr/>
          </p:nvSpPr>
          <p:spPr>
            <a:xfrm>
              <a:off x="1020519" y="4099757"/>
              <a:ext cx="10117124" cy="576262"/>
            </a:xfrm>
            <a:prstGeom prst="rect">
              <a:avLst/>
            </a:prstGeom>
          </p:spPr>
          <p:txBody>
            <a:bodyPr vert="horz" lIns="0" tIns="0" rIns="0" bIns="0" rtlCol="0" anchor="t">
              <a:noAutofit/>
            </a:bodyPr>
            <a:lstStyle>
              <a:lvl1pPr marL="0" indent="0" algn="ctr" defTabSz="914400" rtl="0" eaLnBrk="1" latinLnBrk="0" hangingPunct="1">
                <a:lnSpc>
                  <a:spcPts val="3200"/>
                </a:lnSpc>
                <a:spcBef>
                  <a:spcPts val="0"/>
                </a:spcBef>
                <a:spcAft>
                  <a:spcPts val="800"/>
                </a:spcAft>
                <a:buFont typeface="Arial" panose="020B0604020202020204" pitchFamily="34" charset="0"/>
                <a:buNone/>
                <a:defRPr kumimoji="1" sz="2000" b="1" kern="1200">
                  <a:solidFill>
                    <a:srgbClr val="0A0045"/>
                  </a:solidFill>
                  <a:latin typeface="+mn-ea"/>
                  <a:ea typeface="+mn-ea"/>
                  <a:cs typeface="+mn-cs"/>
                </a:defRPr>
              </a:lvl1pPr>
              <a:lvl2pPr marL="457200" indent="0" algn="l" defTabSz="914400" rtl="0" eaLnBrk="1" latinLnBrk="0" hangingPunct="1">
                <a:lnSpc>
                  <a:spcPts val="2800"/>
                </a:lnSpc>
                <a:spcBef>
                  <a:spcPts val="0"/>
                </a:spcBef>
                <a:spcAft>
                  <a:spcPts val="0"/>
                </a:spcAft>
                <a:buFont typeface="Arial" panose="020B0604020202020204" pitchFamily="34" charset="0"/>
                <a:buNone/>
                <a:defRPr kumimoji="1" sz="2000" b="1" kern="1200">
                  <a:solidFill>
                    <a:schemeClr val="tx1"/>
                  </a:solidFill>
                  <a:latin typeface="+mn-ea"/>
                  <a:ea typeface="+mn-ea"/>
                  <a:cs typeface="+mn-cs"/>
                </a:defRPr>
              </a:lvl2pPr>
              <a:lvl3pPr marL="1143000" indent="-228600" algn="l" defTabSz="914400" rtl="0" eaLnBrk="1" latinLnBrk="0" hangingPunct="1">
                <a:lnSpc>
                  <a:spcPts val="2400"/>
                </a:lnSpc>
                <a:spcBef>
                  <a:spcPts val="0"/>
                </a:spcBef>
                <a:buFont typeface="Arial" panose="020B0604020202020204" pitchFamily="34" charset="0"/>
                <a:buChar char="•"/>
                <a:defRPr kumimoji="1" sz="1800" kern="1200">
                  <a:solidFill>
                    <a:schemeClr val="tx1"/>
                  </a:solidFill>
                  <a:latin typeface="+mn-ea"/>
                  <a:ea typeface="+mn-ea"/>
                  <a:cs typeface="+mn-cs"/>
                </a:defRPr>
              </a:lvl3pPr>
              <a:lvl4pPr marL="1600200" indent="-228600" algn="l" defTabSz="914400" rtl="0" eaLnBrk="1" latinLnBrk="0" hangingPunct="1">
                <a:lnSpc>
                  <a:spcPts val="2400"/>
                </a:lnSpc>
                <a:spcBef>
                  <a:spcPts val="0"/>
                </a:spcBef>
                <a:buFont typeface="Arial" panose="020B0604020202020204" pitchFamily="34" charset="0"/>
                <a:buChar char="•"/>
                <a:defRPr kumimoji="1" sz="1600" kern="1200">
                  <a:solidFill>
                    <a:schemeClr val="tx1"/>
                  </a:solidFill>
                  <a:latin typeface="+mn-ea"/>
                  <a:ea typeface="+mn-ea"/>
                  <a:cs typeface="+mn-cs"/>
                </a:defRPr>
              </a:lvl4pPr>
              <a:lvl5pPr marL="2057400" indent="-228600" algn="l" defTabSz="914400" rtl="0" eaLnBrk="1" latinLnBrk="0" hangingPunct="1">
                <a:lnSpc>
                  <a:spcPts val="2000"/>
                </a:lnSpc>
                <a:spcBef>
                  <a:spcPts val="0"/>
                </a:spcBef>
                <a:buFont typeface="Arial" panose="020B0604020202020204" pitchFamily="34" charset="0"/>
                <a:buChar char="•"/>
                <a:defRPr kumimoji="1"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l"/>
              <a:r>
                <a:rPr lang="ja-JP" altLang="en-US" sz="1800" b="0" dirty="0">
                  <a:latin typeface="游ゴシック"/>
                  <a:ea typeface="游ゴシック"/>
                </a:rPr>
                <a:t>202</a:t>
              </a:r>
              <a:r>
                <a:rPr lang="en-US" altLang="ja-JP" sz="1800" b="0" dirty="0">
                  <a:latin typeface="游ゴシック"/>
                  <a:ea typeface="游ゴシック"/>
                </a:rPr>
                <a:t>6</a:t>
              </a:r>
              <a:r>
                <a:rPr lang="ja-JP" altLang="en-US" sz="1800" b="0" dirty="0">
                  <a:latin typeface="游ゴシック"/>
                  <a:ea typeface="游ゴシック"/>
                </a:rPr>
                <a:t>.</a:t>
              </a:r>
              <a:r>
                <a:rPr lang="en-US" altLang="ja-JP" sz="1800" b="0" dirty="0">
                  <a:latin typeface="游ゴシック"/>
                  <a:ea typeface="游ゴシック"/>
                </a:rPr>
                <a:t>10</a:t>
              </a:r>
              <a:r>
                <a:rPr lang="ja-JP" altLang="en-US" sz="1800" b="0" dirty="0">
                  <a:latin typeface="游ゴシック"/>
                  <a:ea typeface="游ゴシック"/>
                </a:rPr>
                <a:t>.</a:t>
              </a:r>
              <a:r>
                <a:rPr lang="en-US" altLang="ja-JP" sz="1800" b="0" dirty="0">
                  <a:latin typeface="游ゴシック"/>
                  <a:ea typeface="游ゴシック"/>
                </a:rPr>
                <a:t>09</a:t>
              </a:r>
              <a:r>
                <a:rPr lang="ja-JP" altLang="en-US" sz="1800" b="0" dirty="0">
                  <a:latin typeface="游ゴシック"/>
                  <a:ea typeface="游ゴシック"/>
                </a:rPr>
                <a:t>更新</a:t>
              </a:r>
              <a:endParaRPr lang="en-US" altLang="ja-JP" sz="1800" b="0" dirty="0">
                <a:latin typeface="游ゴシック"/>
                <a:ea typeface="游ゴシック"/>
              </a:endParaRPr>
            </a:p>
          </p:txBody>
        </p:sp>
      </p:grpSp>
    </p:spTree>
    <p:extLst>
      <p:ext uri="{BB962C8B-B14F-4D97-AF65-F5344CB8AC3E}">
        <p14:creationId xmlns:p14="http://schemas.microsoft.com/office/powerpoint/2010/main" val="521536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CAB0A-330B-473F-E0BC-0D27E6B9970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75C8847-243F-1B67-63AB-12A7B674D9A5}"/>
              </a:ext>
            </a:extLst>
          </p:cNvPr>
          <p:cNvSpPr>
            <a:spLocks noGrp="1"/>
          </p:cNvSpPr>
          <p:nvPr>
            <p:ph type="title"/>
          </p:nvPr>
        </p:nvSpPr>
        <p:spPr>
          <a:xfrm>
            <a:off x="335360" y="116632"/>
            <a:ext cx="2786663" cy="468054"/>
          </a:xfrm>
        </p:spPr>
        <p:txBody>
          <a:bodyPr/>
          <a:lstStyle/>
          <a:p>
            <a:r>
              <a:rPr kumimoji="1" lang="ja-JP" altLang="en-US" dirty="0">
                <a:latin typeface="游ゴシック"/>
                <a:ea typeface="游ゴシック"/>
              </a:rPr>
              <a:t>プロフィール</a:t>
            </a:r>
          </a:p>
        </p:txBody>
      </p:sp>
      <p:sp>
        <p:nvSpPr>
          <p:cNvPr id="4" name="スライド番号プレースホルダー 3">
            <a:extLst>
              <a:ext uri="{FF2B5EF4-FFF2-40B4-BE49-F238E27FC236}">
                <a16:creationId xmlns:a16="http://schemas.microsoft.com/office/drawing/2014/main" id="{B4628920-5C77-F3EB-86C3-E328FABBA9A5}"/>
              </a:ext>
            </a:extLst>
          </p:cNvPr>
          <p:cNvSpPr>
            <a:spLocks noGrp="1"/>
          </p:cNvSpPr>
          <p:nvPr>
            <p:ph type="sldNum" sz="quarter" idx="12"/>
          </p:nvPr>
        </p:nvSpPr>
        <p:spPr/>
        <p:txBody>
          <a:bodyPr/>
          <a:lstStyle/>
          <a:p>
            <a:fld id="{42C06FF3-EDEF-40D9-844B-E8BDE887AEB1}" type="slidenum">
              <a:rPr lang="ja-JP" altLang="en-US" smtClean="0"/>
              <a:pPr/>
              <a:t>2</a:t>
            </a:fld>
            <a:endParaRPr lang="ja-JP" altLang="en-US"/>
          </a:p>
        </p:txBody>
      </p:sp>
      <p:sp>
        <p:nvSpPr>
          <p:cNvPr id="7" name="テキスト ボックス 13">
            <a:extLst>
              <a:ext uri="{FF2B5EF4-FFF2-40B4-BE49-F238E27FC236}">
                <a16:creationId xmlns:a16="http://schemas.microsoft.com/office/drawing/2014/main" id="{64247452-4B08-381A-009F-5C08D02A287D}"/>
              </a:ext>
            </a:extLst>
          </p:cNvPr>
          <p:cNvSpPr txBox="1"/>
          <p:nvPr/>
        </p:nvSpPr>
        <p:spPr>
          <a:xfrm>
            <a:off x="236398" y="802194"/>
            <a:ext cx="827205" cy="369332"/>
          </a:xfrm>
          <a:prstGeom prst="rect">
            <a:avLst/>
          </a:prstGeom>
          <a:noFill/>
          <a:ln>
            <a:noFill/>
          </a:ln>
        </p:spPr>
        <p:txBody>
          <a:bodyPr wrap="square" lIns="91440" tIns="45720" rIns="91440" bIns="4572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b="1" dirty="0">
                <a:solidFill>
                  <a:srgbClr val="000000"/>
                </a:solidFill>
                <a:ea typeface="游ゴシック"/>
              </a:rPr>
              <a:t>氏名</a:t>
            </a:r>
            <a:endParaRPr lang="en-US" altLang="ja-JP" b="1" dirty="0">
              <a:solidFill>
                <a:srgbClr val="000000"/>
              </a:solidFill>
              <a:ea typeface="游ゴシック"/>
            </a:endParaRPr>
          </a:p>
        </p:txBody>
      </p:sp>
      <p:sp>
        <p:nvSpPr>
          <p:cNvPr id="9" name="テキスト ボックス 13">
            <a:extLst>
              <a:ext uri="{FF2B5EF4-FFF2-40B4-BE49-F238E27FC236}">
                <a16:creationId xmlns:a16="http://schemas.microsoft.com/office/drawing/2014/main" id="{7E715298-0112-8304-2913-92DB3FD0BC5B}"/>
              </a:ext>
            </a:extLst>
          </p:cNvPr>
          <p:cNvSpPr txBox="1"/>
          <p:nvPr/>
        </p:nvSpPr>
        <p:spPr>
          <a:xfrm>
            <a:off x="1356156" y="802194"/>
            <a:ext cx="2303949" cy="369332"/>
          </a:xfrm>
          <a:prstGeom prst="rect">
            <a:avLst/>
          </a:prstGeom>
          <a:noFill/>
          <a:ln>
            <a:noFill/>
          </a:ln>
        </p:spPr>
        <p:txBody>
          <a:bodyPr wrap="square" lIns="91440" tIns="45720" rIns="91440" bIns="4572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dirty="0">
                <a:solidFill>
                  <a:srgbClr val="000000"/>
                </a:solidFill>
                <a:ea typeface="游ゴシック"/>
              </a:rPr>
              <a:t>秋池 翔悟</a:t>
            </a:r>
            <a:endParaRPr lang="en-US" altLang="ja-JP" dirty="0">
              <a:solidFill>
                <a:srgbClr val="000000"/>
              </a:solidFill>
              <a:ea typeface="游ゴシック"/>
            </a:endParaRPr>
          </a:p>
        </p:txBody>
      </p:sp>
      <p:sp>
        <p:nvSpPr>
          <p:cNvPr id="10" name="テキスト ボックス 13">
            <a:extLst>
              <a:ext uri="{FF2B5EF4-FFF2-40B4-BE49-F238E27FC236}">
                <a16:creationId xmlns:a16="http://schemas.microsoft.com/office/drawing/2014/main" id="{7C47C81F-40FE-C5CA-BEA4-95F967558AF6}"/>
              </a:ext>
            </a:extLst>
          </p:cNvPr>
          <p:cNvSpPr txBox="1"/>
          <p:nvPr/>
        </p:nvSpPr>
        <p:spPr>
          <a:xfrm>
            <a:off x="236398" y="1402102"/>
            <a:ext cx="827205" cy="369332"/>
          </a:xfrm>
          <a:prstGeom prst="rect">
            <a:avLst/>
          </a:prstGeom>
          <a:noFill/>
          <a:ln>
            <a:noFill/>
          </a:ln>
        </p:spPr>
        <p:txBody>
          <a:bodyPr wrap="square" lIns="91440" tIns="45720" rIns="91440" bIns="4572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b="1" dirty="0">
                <a:solidFill>
                  <a:srgbClr val="000000"/>
                </a:solidFill>
                <a:ea typeface="游ゴシック"/>
              </a:rPr>
              <a:t>略歴</a:t>
            </a:r>
            <a:endParaRPr lang="en-US" altLang="ja-JP" b="1" dirty="0">
              <a:solidFill>
                <a:srgbClr val="000000"/>
              </a:solidFill>
              <a:ea typeface="游ゴシック"/>
            </a:endParaRPr>
          </a:p>
        </p:txBody>
      </p:sp>
      <p:sp>
        <p:nvSpPr>
          <p:cNvPr id="11" name="テキスト ボックス 13">
            <a:extLst>
              <a:ext uri="{FF2B5EF4-FFF2-40B4-BE49-F238E27FC236}">
                <a16:creationId xmlns:a16="http://schemas.microsoft.com/office/drawing/2014/main" id="{62C69AEA-A2AD-E044-E1F7-4048BA74168D}"/>
              </a:ext>
            </a:extLst>
          </p:cNvPr>
          <p:cNvSpPr txBox="1"/>
          <p:nvPr/>
        </p:nvSpPr>
        <p:spPr>
          <a:xfrm>
            <a:off x="1356156" y="1402102"/>
            <a:ext cx="3986858" cy="3046988"/>
          </a:xfrm>
          <a:prstGeom prst="rect">
            <a:avLst/>
          </a:prstGeom>
          <a:noFill/>
          <a:ln>
            <a:noFill/>
          </a:ln>
        </p:spPr>
        <p:txBody>
          <a:bodyPr wrap="square" lIns="91440" tIns="45720" rIns="91440" bIns="4572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600" dirty="0">
                <a:solidFill>
                  <a:srgbClr val="000000"/>
                </a:solidFill>
                <a:ea typeface="+mn-lt"/>
                <a:cs typeface="+mn-lt"/>
              </a:rPr>
              <a:t>2016</a:t>
            </a:r>
            <a:r>
              <a:rPr lang="ja-JP" altLang="en-US" sz="1600" dirty="0">
                <a:solidFill>
                  <a:srgbClr val="000000"/>
                </a:solidFill>
                <a:ea typeface="+mn-lt"/>
                <a:cs typeface="+mn-lt"/>
              </a:rPr>
              <a:t>年</a:t>
            </a:r>
            <a:r>
              <a:rPr lang="en-US" altLang="ja-JP" sz="1600" dirty="0">
                <a:solidFill>
                  <a:srgbClr val="000000"/>
                </a:solidFill>
                <a:ea typeface="+mn-lt"/>
                <a:cs typeface="+mn-lt"/>
              </a:rPr>
              <a:t> 5</a:t>
            </a:r>
            <a:r>
              <a:rPr lang="ja-JP" altLang="en-US" sz="1600" dirty="0">
                <a:solidFill>
                  <a:srgbClr val="000000"/>
                </a:solidFill>
                <a:ea typeface="+mn-lt"/>
                <a:cs typeface="+mn-lt"/>
              </a:rPr>
              <a:t>月　</a:t>
            </a:r>
            <a:r>
              <a:rPr lang="ja-JP" altLang="en-US" sz="1600" dirty="0"/>
              <a:t>監視・運用オペレーターとして</a:t>
            </a:r>
            <a:r>
              <a:rPr lang="en-US" altLang="ja-JP" sz="1600" dirty="0"/>
              <a:t>IT</a:t>
            </a:r>
            <a:r>
              <a:rPr lang="ja-JP" altLang="en-US" sz="1600" dirty="0"/>
              <a:t>業界に従事</a:t>
            </a:r>
            <a:endParaRPr lang="ja-JP" altLang="en-US" sz="1600" dirty="0">
              <a:solidFill>
                <a:srgbClr val="000000"/>
              </a:solidFill>
              <a:ea typeface="+mn-lt"/>
              <a:cs typeface="+mn-lt"/>
            </a:endParaRPr>
          </a:p>
          <a:p>
            <a:endParaRPr lang="en-US" altLang="ja-JP" sz="1600" dirty="0">
              <a:solidFill>
                <a:srgbClr val="000000"/>
              </a:solidFill>
              <a:ea typeface="+mn-lt"/>
              <a:cs typeface="+mn-lt"/>
            </a:endParaRPr>
          </a:p>
          <a:p>
            <a:r>
              <a:rPr lang="en-US" altLang="ja-JP" sz="1600" dirty="0">
                <a:solidFill>
                  <a:srgbClr val="000000"/>
                </a:solidFill>
                <a:ea typeface="+mn-lt"/>
                <a:cs typeface="+mn-lt"/>
              </a:rPr>
              <a:t>2017</a:t>
            </a:r>
            <a:r>
              <a:rPr lang="ja-JP" altLang="en-US" sz="1600" dirty="0">
                <a:solidFill>
                  <a:srgbClr val="000000"/>
                </a:solidFill>
                <a:ea typeface="+mn-lt"/>
                <a:cs typeface="+mn-lt"/>
              </a:rPr>
              <a:t>年</a:t>
            </a:r>
            <a:r>
              <a:rPr lang="en-US" altLang="ja-JP" sz="1600" dirty="0">
                <a:solidFill>
                  <a:srgbClr val="000000"/>
                </a:solidFill>
                <a:ea typeface="+mn-lt"/>
                <a:cs typeface="+mn-lt"/>
              </a:rPr>
              <a:t>6</a:t>
            </a:r>
            <a:r>
              <a:rPr lang="ja-JP" altLang="en-US" sz="1600" dirty="0">
                <a:solidFill>
                  <a:srgbClr val="000000"/>
                </a:solidFill>
                <a:ea typeface="+mn-lt"/>
                <a:cs typeface="+mn-lt"/>
              </a:rPr>
              <a:t>月 </a:t>
            </a:r>
            <a:r>
              <a:rPr lang="en-US" altLang="ja-JP" sz="1600" dirty="0">
                <a:solidFill>
                  <a:srgbClr val="000000"/>
                </a:solidFill>
                <a:ea typeface="+mn-lt"/>
                <a:cs typeface="+mn-lt"/>
              </a:rPr>
              <a:t>~</a:t>
            </a:r>
            <a:r>
              <a:rPr lang="ja-JP" altLang="en-US" sz="1600" dirty="0">
                <a:solidFill>
                  <a:srgbClr val="000000"/>
                </a:solidFill>
                <a:ea typeface="+mn-lt"/>
                <a:cs typeface="+mn-lt"/>
              </a:rPr>
              <a:t> </a:t>
            </a:r>
            <a:r>
              <a:rPr lang="en-US" altLang="ja-JP" sz="1600" dirty="0">
                <a:solidFill>
                  <a:srgbClr val="000000"/>
                </a:solidFill>
                <a:ea typeface="+mn-lt"/>
                <a:cs typeface="+mn-lt"/>
              </a:rPr>
              <a:t>2023</a:t>
            </a:r>
            <a:r>
              <a:rPr lang="ja-JP" altLang="en-US" sz="1600" dirty="0">
                <a:solidFill>
                  <a:srgbClr val="000000"/>
                </a:solidFill>
                <a:ea typeface="+mn-lt"/>
                <a:cs typeface="+mn-lt"/>
              </a:rPr>
              <a:t>年</a:t>
            </a:r>
            <a:r>
              <a:rPr lang="en-US" altLang="ja-JP" sz="1600" dirty="0">
                <a:solidFill>
                  <a:srgbClr val="000000"/>
                </a:solidFill>
                <a:ea typeface="+mn-lt"/>
                <a:cs typeface="+mn-lt"/>
              </a:rPr>
              <a:t>2</a:t>
            </a:r>
            <a:r>
              <a:rPr lang="ja-JP" altLang="en-US" sz="1600" dirty="0">
                <a:solidFill>
                  <a:srgbClr val="000000"/>
                </a:solidFill>
                <a:ea typeface="+mn-lt"/>
                <a:cs typeface="+mn-lt"/>
              </a:rPr>
              <a:t>月　</a:t>
            </a:r>
            <a:r>
              <a:rPr lang="ja-JP" altLang="en-US" sz="1600" dirty="0"/>
              <a:t>インフラ運用・保守エンジニアとしてオンプレミス／プライベートクラウド／</a:t>
            </a:r>
            <a:r>
              <a:rPr lang="en-US" altLang="ja-JP" sz="1600" dirty="0"/>
              <a:t>AWS</a:t>
            </a:r>
            <a:r>
              <a:rPr lang="ja-JP" altLang="en-US" sz="1600" dirty="0"/>
              <a:t>環境における障害対応、運用保守業務を担当</a:t>
            </a:r>
            <a:endParaRPr lang="ja-JP" altLang="en-US" sz="1600" dirty="0">
              <a:solidFill>
                <a:srgbClr val="000000"/>
              </a:solidFill>
              <a:ea typeface="+mn-lt"/>
              <a:cs typeface="+mn-lt"/>
            </a:endParaRPr>
          </a:p>
          <a:p>
            <a:endParaRPr lang="ja-JP" altLang="en-US" sz="1600" dirty="0">
              <a:solidFill>
                <a:srgbClr val="000000"/>
              </a:solidFill>
              <a:ea typeface="+mn-lt"/>
              <a:cs typeface="+mn-lt"/>
            </a:endParaRPr>
          </a:p>
          <a:p>
            <a:r>
              <a:rPr lang="en-US" altLang="ja-JP" sz="1600" dirty="0">
                <a:solidFill>
                  <a:srgbClr val="000000"/>
                </a:solidFill>
                <a:ea typeface="+mn-lt"/>
                <a:cs typeface="+mn-lt"/>
              </a:rPr>
              <a:t>2023</a:t>
            </a:r>
            <a:r>
              <a:rPr lang="ja-JP" altLang="en-US" sz="1600" dirty="0">
                <a:solidFill>
                  <a:srgbClr val="000000"/>
                </a:solidFill>
                <a:ea typeface="+mn-lt"/>
                <a:cs typeface="+mn-lt"/>
              </a:rPr>
              <a:t>年 </a:t>
            </a:r>
            <a:r>
              <a:rPr lang="en-US" altLang="ja-JP" sz="1600" dirty="0">
                <a:solidFill>
                  <a:srgbClr val="000000"/>
                </a:solidFill>
                <a:ea typeface="+mn-lt"/>
                <a:cs typeface="+mn-lt"/>
              </a:rPr>
              <a:t>~ </a:t>
            </a:r>
            <a:r>
              <a:rPr lang="ja-JP" altLang="en-US" sz="1600" dirty="0">
                <a:solidFill>
                  <a:srgbClr val="000000"/>
                </a:solidFill>
                <a:ea typeface="+mn-lt"/>
                <a:cs typeface="+mn-lt"/>
              </a:rPr>
              <a:t>現在　</a:t>
            </a:r>
            <a:r>
              <a:rPr lang="en-US" altLang="ja-JP" sz="1600" dirty="0">
                <a:solidFill>
                  <a:srgbClr val="000000"/>
                </a:solidFill>
                <a:ea typeface="+mn-lt"/>
                <a:cs typeface="+mn-lt"/>
              </a:rPr>
              <a:t>A</a:t>
            </a:r>
            <a:r>
              <a:rPr lang="en-US" altLang="ja-JP" sz="1600" dirty="0"/>
              <a:t>WS</a:t>
            </a:r>
            <a:r>
              <a:rPr lang="ja-JP" altLang="en-US" sz="1600" dirty="0"/>
              <a:t>リセラー企業にてテクニカルサポートを担当</a:t>
            </a:r>
            <a:br>
              <a:rPr lang="ja-JP" altLang="en-US" sz="1600" dirty="0"/>
            </a:br>
            <a:r>
              <a:rPr lang="ja-JP" altLang="en-US" sz="1600" dirty="0"/>
              <a:t>法人顧客向け</a:t>
            </a:r>
            <a:r>
              <a:rPr lang="en-US" altLang="ja-JP" sz="1600" dirty="0"/>
              <a:t>AWS</a:t>
            </a:r>
            <a:r>
              <a:rPr lang="ja-JP" altLang="en-US" sz="1600" dirty="0"/>
              <a:t>技術問い合わせ対応およびトラブルシューティングに従事</a:t>
            </a:r>
            <a:endParaRPr lang="en-US" altLang="ja-JP" sz="1600" dirty="0">
              <a:solidFill>
                <a:srgbClr val="000000"/>
              </a:solidFill>
              <a:ea typeface="+mn-lt"/>
              <a:cs typeface="+mn-lt"/>
            </a:endParaRPr>
          </a:p>
        </p:txBody>
      </p:sp>
      <p:sp>
        <p:nvSpPr>
          <p:cNvPr id="3" name="テキスト ボックス 13">
            <a:extLst>
              <a:ext uri="{FF2B5EF4-FFF2-40B4-BE49-F238E27FC236}">
                <a16:creationId xmlns:a16="http://schemas.microsoft.com/office/drawing/2014/main" id="{4B6D8C18-2F74-82DF-BD93-D618567B874B}"/>
              </a:ext>
            </a:extLst>
          </p:cNvPr>
          <p:cNvSpPr txBox="1"/>
          <p:nvPr/>
        </p:nvSpPr>
        <p:spPr>
          <a:xfrm>
            <a:off x="134983" y="4739628"/>
            <a:ext cx="1156864" cy="646331"/>
          </a:xfrm>
          <a:prstGeom prst="rect">
            <a:avLst/>
          </a:prstGeom>
          <a:noFill/>
          <a:ln>
            <a:noFill/>
          </a:ln>
        </p:spPr>
        <p:txBody>
          <a:bodyPr wrap="square" lIns="91440" tIns="45720" rIns="91440" bIns="4572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b="1" dirty="0">
                <a:solidFill>
                  <a:srgbClr val="000000"/>
                </a:solidFill>
                <a:ea typeface="游ゴシック"/>
              </a:rPr>
              <a:t>強み/</a:t>
            </a:r>
            <a:endParaRPr lang="ja-JP" dirty="0"/>
          </a:p>
          <a:p>
            <a:r>
              <a:rPr lang="ja-JP" altLang="en-US" b="1" dirty="0">
                <a:solidFill>
                  <a:srgbClr val="000000"/>
                </a:solidFill>
                <a:ea typeface="游ゴシック"/>
              </a:rPr>
              <a:t>専門分野</a:t>
            </a:r>
            <a:endParaRPr lang="ja-JP" dirty="0"/>
          </a:p>
        </p:txBody>
      </p:sp>
      <p:sp>
        <p:nvSpPr>
          <p:cNvPr id="8" name="テキスト ボックス 13">
            <a:extLst>
              <a:ext uri="{FF2B5EF4-FFF2-40B4-BE49-F238E27FC236}">
                <a16:creationId xmlns:a16="http://schemas.microsoft.com/office/drawing/2014/main" id="{B28F8744-7D09-722B-C87C-B9C5D9EC6BB9}"/>
              </a:ext>
            </a:extLst>
          </p:cNvPr>
          <p:cNvSpPr txBox="1"/>
          <p:nvPr/>
        </p:nvSpPr>
        <p:spPr>
          <a:xfrm>
            <a:off x="1291847" y="4739628"/>
            <a:ext cx="3961921" cy="1077218"/>
          </a:xfrm>
          <a:prstGeom prst="rect">
            <a:avLst/>
          </a:prstGeom>
          <a:noFill/>
          <a:ln>
            <a:noFill/>
          </a:ln>
        </p:spPr>
        <p:txBody>
          <a:bodyPr wrap="square" lIns="91440" tIns="45720" rIns="91440" bIns="4572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600" dirty="0">
                <a:solidFill>
                  <a:srgbClr val="000000"/>
                </a:solidFill>
                <a:ea typeface="+mn-lt"/>
                <a:cs typeface="+mn-lt"/>
              </a:rPr>
              <a:t>・障害対応／トラブルシューティング</a:t>
            </a:r>
            <a:endParaRPr lang="en-US" altLang="ja-JP" sz="1600" dirty="0">
              <a:solidFill>
                <a:srgbClr val="000000"/>
              </a:solidFill>
              <a:ea typeface="+mn-lt"/>
              <a:cs typeface="+mn-lt"/>
            </a:endParaRPr>
          </a:p>
          <a:p>
            <a:r>
              <a:rPr lang="ja-JP" altLang="en-US" sz="1600" dirty="0">
                <a:solidFill>
                  <a:srgbClr val="000000"/>
                </a:solidFill>
                <a:ea typeface="+mn-lt"/>
                <a:cs typeface="+mn-lt"/>
              </a:rPr>
              <a:t>・ログ解析／原因切り分け</a:t>
            </a:r>
            <a:endParaRPr lang="en-US" altLang="ja-JP" sz="1600" dirty="0">
              <a:solidFill>
                <a:srgbClr val="000000"/>
              </a:solidFill>
              <a:ea typeface="+mn-lt"/>
              <a:cs typeface="+mn-lt"/>
            </a:endParaRPr>
          </a:p>
          <a:p>
            <a:r>
              <a:rPr lang="ja-JP" altLang="en-US" sz="1600" dirty="0">
                <a:solidFill>
                  <a:srgbClr val="000000"/>
                </a:solidFill>
                <a:ea typeface="+mn-lt"/>
                <a:cs typeface="+mn-lt"/>
              </a:rPr>
              <a:t>・顧客対応品質改善、ナレッジ整備</a:t>
            </a:r>
          </a:p>
          <a:p>
            <a:r>
              <a:rPr lang="ja-JP" altLang="en-US" sz="1600" dirty="0">
                <a:solidFill>
                  <a:srgbClr val="000000"/>
                </a:solidFill>
                <a:ea typeface="+mn-lt"/>
                <a:cs typeface="+mn-lt"/>
              </a:rPr>
              <a:t>・</a:t>
            </a:r>
            <a:r>
              <a:rPr lang="en-US" altLang="ja-JP" sz="1600" dirty="0">
                <a:solidFill>
                  <a:srgbClr val="000000"/>
                </a:solidFill>
                <a:ea typeface="+mn-lt"/>
                <a:cs typeface="+mn-lt"/>
              </a:rPr>
              <a:t>AWS</a:t>
            </a:r>
            <a:r>
              <a:rPr lang="ja-JP" altLang="en-US" sz="1600" dirty="0">
                <a:solidFill>
                  <a:srgbClr val="000000"/>
                </a:solidFill>
                <a:ea typeface="+mn-lt"/>
                <a:cs typeface="+mn-lt"/>
              </a:rPr>
              <a:t>法人向けテクニカルサポート</a:t>
            </a:r>
            <a:endParaRPr lang="en-US" altLang="ja-JP" sz="1600" dirty="0">
              <a:solidFill>
                <a:srgbClr val="000000"/>
              </a:solidFill>
              <a:ea typeface="+mn-lt"/>
              <a:cs typeface="+mn-lt"/>
            </a:endParaRPr>
          </a:p>
        </p:txBody>
      </p:sp>
      <p:sp>
        <p:nvSpPr>
          <p:cNvPr id="24" name="正方形/長方形 23">
            <a:extLst>
              <a:ext uri="{FF2B5EF4-FFF2-40B4-BE49-F238E27FC236}">
                <a16:creationId xmlns:a16="http://schemas.microsoft.com/office/drawing/2014/main" id="{716760E0-0DE4-BB34-4838-62A2B9A6BEED}"/>
              </a:ext>
            </a:extLst>
          </p:cNvPr>
          <p:cNvSpPr/>
          <p:nvPr/>
        </p:nvSpPr>
        <p:spPr>
          <a:xfrm>
            <a:off x="5527209" y="1145480"/>
            <a:ext cx="29238" cy="503755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ja-JP" altLang="en-US" dirty="0">
              <a:ea typeface="游ゴシック"/>
            </a:endParaRPr>
          </a:p>
        </p:txBody>
      </p:sp>
      <p:sp>
        <p:nvSpPr>
          <p:cNvPr id="25" name="テキスト ボックス 15">
            <a:extLst>
              <a:ext uri="{FF2B5EF4-FFF2-40B4-BE49-F238E27FC236}">
                <a16:creationId xmlns:a16="http://schemas.microsoft.com/office/drawing/2014/main" id="{A4CA2B8F-4950-1CE2-20AD-8B6959A113CD}"/>
              </a:ext>
            </a:extLst>
          </p:cNvPr>
          <p:cNvSpPr txBox="1"/>
          <p:nvPr/>
        </p:nvSpPr>
        <p:spPr>
          <a:xfrm>
            <a:off x="5740642" y="802194"/>
            <a:ext cx="6283190" cy="5478423"/>
          </a:xfrm>
          <a:prstGeom prst="rect">
            <a:avLst/>
          </a:prstGeom>
          <a:noFill/>
        </p:spPr>
        <p:txBody>
          <a:bodyPr wrap="square" lIns="91440" tIns="45720" rIns="91440" bIns="4572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dirty="0">
                <a:ea typeface="游ゴシック"/>
              </a:rPr>
              <a:t>AWS</a:t>
            </a:r>
            <a:r>
              <a:rPr lang="ja-JP" altLang="en-US" sz="1400" dirty="0">
                <a:ea typeface="游ゴシック"/>
              </a:rPr>
              <a:t>テクニカルサポートとしての実務経験を通じて、クラウドインフラの設計・構築・運用に関する知識と、実運用に即した対応力を身につけました。</a:t>
            </a:r>
            <a:endParaRPr lang="en-US" altLang="ja-JP" sz="1400" dirty="0">
              <a:ea typeface="游ゴシック"/>
            </a:endParaRPr>
          </a:p>
          <a:p>
            <a:endParaRPr lang="en-US" altLang="ja-JP" sz="1400" dirty="0">
              <a:ea typeface="游ゴシック"/>
            </a:endParaRPr>
          </a:p>
          <a:p>
            <a:r>
              <a:rPr lang="ja-JP" altLang="en-US" sz="1400" dirty="0">
                <a:ea typeface="游ゴシック"/>
              </a:rPr>
              <a:t>これまで </a:t>
            </a:r>
            <a:r>
              <a:rPr lang="en-US" altLang="ja-JP" sz="1400" dirty="0">
                <a:ea typeface="游ゴシック"/>
              </a:rPr>
              <a:t>EC2</a:t>
            </a:r>
            <a:r>
              <a:rPr lang="ja-JP" altLang="en-US" sz="1400" dirty="0">
                <a:ea typeface="游ゴシック"/>
              </a:rPr>
              <a:t>・</a:t>
            </a:r>
            <a:r>
              <a:rPr lang="en-US" altLang="ja-JP" sz="1400" dirty="0">
                <a:ea typeface="游ゴシック"/>
              </a:rPr>
              <a:t>VPC</a:t>
            </a:r>
            <a:r>
              <a:rPr lang="ja-JP" altLang="en-US" sz="1400" dirty="0">
                <a:ea typeface="游ゴシック"/>
              </a:rPr>
              <a:t>・</a:t>
            </a:r>
            <a:r>
              <a:rPr lang="en-US" altLang="ja-JP" sz="1400" dirty="0">
                <a:ea typeface="游ゴシック"/>
              </a:rPr>
              <a:t>S3</a:t>
            </a:r>
            <a:r>
              <a:rPr lang="ja-JP" altLang="en-US" sz="1400" dirty="0">
                <a:ea typeface="游ゴシック"/>
              </a:rPr>
              <a:t>・</a:t>
            </a:r>
            <a:r>
              <a:rPr lang="en-US" altLang="ja-JP" sz="1400" dirty="0">
                <a:ea typeface="游ゴシック"/>
              </a:rPr>
              <a:t>RDS </a:t>
            </a:r>
            <a:r>
              <a:rPr lang="ja-JP" altLang="en-US" sz="1400" dirty="0">
                <a:ea typeface="游ゴシック"/>
              </a:rPr>
              <a:t>など主要</a:t>
            </a:r>
            <a:r>
              <a:rPr lang="en-US" altLang="ja-JP" sz="1400" dirty="0">
                <a:ea typeface="游ゴシック"/>
              </a:rPr>
              <a:t>AWS</a:t>
            </a:r>
            <a:r>
              <a:rPr lang="ja-JP" altLang="en-US" sz="1400" dirty="0">
                <a:ea typeface="游ゴシック"/>
              </a:rPr>
              <a:t>サービスに関する問い合わせ対応を担当し、週あたり</a:t>
            </a:r>
            <a:r>
              <a:rPr lang="en-US" altLang="ja-JP" sz="1400" dirty="0">
                <a:ea typeface="游ゴシック"/>
              </a:rPr>
              <a:t>5〜15</a:t>
            </a:r>
            <a:r>
              <a:rPr lang="ja-JP" altLang="en-US" sz="1400" dirty="0">
                <a:ea typeface="游ゴシック"/>
              </a:rPr>
              <a:t>件、年間約</a:t>
            </a:r>
            <a:r>
              <a:rPr lang="en-US" altLang="ja-JP" sz="1400" dirty="0">
                <a:ea typeface="游ゴシック"/>
              </a:rPr>
              <a:t>500</a:t>
            </a:r>
            <a:r>
              <a:rPr lang="ja-JP" altLang="en-US" sz="1400" dirty="0">
                <a:ea typeface="游ゴシック"/>
              </a:rPr>
              <a:t>件規模の技術問い合わせに対応してきました。</a:t>
            </a:r>
          </a:p>
          <a:p>
            <a:r>
              <a:rPr lang="ja-JP" altLang="en-US" sz="1400" dirty="0">
                <a:ea typeface="游ゴシック"/>
              </a:rPr>
              <a:t>障害調査や仕様確認では、</a:t>
            </a:r>
            <a:r>
              <a:rPr lang="en-US" altLang="ja-JP" sz="1400" dirty="0">
                <a:ea typeface="游ゴシック"/>
              </a:rPr>
              <a:t>AWS</a:t>
            </a:r>
            <a:r>
              <a:rPr lang="ja-JP" altLang="en-US" sz="1400" dirty="0">
                <a:ea typeface="游ゴシック"/>
              </a:rPr>
              <a:t>公式ドキュメントやベストプラクティスを根拠とした切り分けを徹底し、迅速なケースクローズとお客様環境の安定稼働に貢献してきました。</a:t>
            </a:r>
          </a:p>
          <a:p>
            <a:r>
              <a:rPr lang="ja-JP" altLang="en-US" sz="1400" dirty="0">
                <a:ea typeface="游ゴシック"/>
              </a:rPr>
              <a:t>また、問い合わせ対応においては、平均解決</a:t>
            </a:r>
            <a:r>
              <a:rPr lang="ja-JP" altLang="en-US" sz="1400">
                <a:ea typeface="游ゴシック"/>
              </a:rPr>
              <a:t>日数（月平均 </a:t>
            </a:r>
            <a:r>
              <a:rPr lang="en-US" altLang="ja-JP" sz="1400" dirty="0">
                <a:ea typeface="游ゴシック"/>
              </a:rPr>
              <a:t>10.7</a:t>
            </a:r>
            <a:r>
              <a:rPr lang="ja-JP" altLang="en-US" sz="1400" dirty="0">
                <a:ea typeface="游ゴシック"/>
              </a:rPr>
              <a:t>日）および対応ターン数の短縮を実現し、チームとして</a:t>
            </a:r>
            <a:r>
              <a:rPr lang="en-US" altLang="ja-JP" sz="1400" dirty="0">
                <a:ea typeface="游ゴシック"/>
              </a:rPr>
              <a:t>AWS</a:t>
            </a:r>
            <a:r>
              <a:rPr lang="ja-JP" altLang="en-US" sz="1400" dirty="0">
                <a:ea typeface="游ゴシック"/>
              </a:rPr>
              <a:t>より品質面での評価をいただきました。</a:t>
            </a:r>
            <a:endParaRPr lang="en-US" altLang="ja-JP" sz="1400" dirty="0">
              <a:ea typeface="游ゴシック"/>
            </a:endParaRPr>
          </a:p>
          <a:p>
            <a:endParaRPr lang="en-US" altLang="ja-JP" sz="1400" dirty="0">
              <a:ea typeface="游ゴシック"/>
            </a:endParaRPr>
          </a:p>
          <a:p>
            <a:r>
              <a:rPr lang="ja-JP" altLang="en-US" sz="1400" dirty="0">
                <a:ea typeface="游ゴシック"/>
              </a:rPr>
              <a:t>上記の通り、少ないターン数での早期解決を常に意識しています。</a:t>
            </a:r>
          </a:p>
          <a:p>
            <a:r>
              <a:rPr lang="ja-JP" altLang="en-US" sz="1400" dirty="0">
                <a:ea typeface="游ゴシック"/>
              </a:rPr>
              <a:t>初期ヒアリングの段階で構成情報・再現条件・影響範囲を具体的に整理することで不要な往復確認を削減し、お客様の調査負担軽減と早期の意思決定を支援してきました。</a:t>
            </a:r>
          </a:p>
          <a:p>
            <a:r>
              <a:rPr lang="ja-JP" altLang="en-US" sz="1400" dirty="0">
                <a:ea typeface="游ゴシック"/>
              </a:rPr>
              <a:t>また、技術的な回答では背景や理由を噛み砕いて説明することを心がけ、お客様が安心して設計・運用判断を行える状態の実現に努めています。</a:t>
            </a:r>
            <a:endParaRPr lang="en-US" altLang="ja-JP" sz="1400" dirty="0">
              <a:ea typeface="游ゴシック"/>
            </a:endParaRPr>
          </a:p>
          <a:p>
            <a:endParaRPr lang="en-US" altLang="ja-JP" sz="1400" dirty="0">
              <a:ea typeface="游ゴシック"/>
            </a:endParaRPr>
          </a:p>
          <a:p>
            <a:r>
              <a:rPr lang="en-US" altLang="ja-JP" sz="1400" dirty="0"/>
              <a:t>CLF</a:t>
            </a:r>
            <a:r>
              <a:rPr lang="ja-JP" altLang="en-US" sz="1400" dirty="0"/>
              <a:t>・</a:t>
            </a:r>
            <a:r>
              <a:rPr lang="en-US" altLang="ja-JP" sz="1400" dirty="0"/>
              <a:t>SAA</a:t>
            </a:r>
            <a:r>
              <a:rPr lang="ja-JP" altLang="en-US" sz="1400" dirty="0"/>
              <a:t>資格で得た体系的な知識と、実案件対応で培った分析力・コミュニケーション力を活かし、技術的な課題に対して正確かつ丁寧な対応を心がけてきました。</a:t>
            </a:r>
            <a:br>
              <a:rPr lang="ja-JP" altLang="en-US" sz="1400" dirty="0"/>
            </a:br>
            <a:r>
              <a:rPr lang="ja-JP" altLang="en-US" sz="1400" dirty="0"/>
              <a:t>その結果、問い合わせ初期段階での認識齟齬防止や効率的な切り分けを実現し、不要な往復確認の削減とお客様の迅速な意思決定を支援しています。</a:t>
            </a:r>
            <a:endParaRPr lang="ja-JP" altLang="en-US" sz="1400" dirty="0">
              <a:ea typeface="游ゴシック"/>
            </a:endParaRPr>
          </a:p>
        </p:txBody>
      </p:sp>
      <p:sp>
        <p:nvSpPr>
          <p:cNvPr id="5" name="タイトル 1">
            <a:extLst>
              <a:ext uri="{FF2B5EF4-FFF2-40B4-BE49-F238E27FC236}">
                <a16:creationId xmlns:a16="http://schemas.microsoft.com/office/drawing/2014/main" id="{4A2C74B5-D3E2-8AD8-966B-559EDC1B4BB9}"/>
              </a:ext>
            </a:extLst>
          </p:cNvPr>
          <p:cNvSpPr txBox="1">
            <a:spLocks/>
          </p:cNvSpPr>
          <p:nvPr/>
        </p:nvSpPr>
        <p:spPr>
          <a:xfrm>
            <a:off x="5823937" y="116632"/>
            <a:ext cx="2786663" cy="468054"/>
          </a:xfrm>
          <a:prstGeom prst="rect">
            <a:avLst/>
          </a:prstGeom>
        </p:spPr>
        <p:txBody>
          <a:bodyPr vert="horz" lIns="0" tIns="0" rIns="0" bIns="0" rtlCol="0" anchor="ctr" anchorCtr="0">
            <a:normAutofit/>
          </a:bodyPr>
          <a:lstStyle>
            <a:lvl1pPr algn="l" defTabSz="914400" rtl="0" eaLnBrk="1" latinLnBrk="0" hangingPunct="1">
              <a:lnSpc>
                <a:spcPct val="90000"/>
              </a:lnSpc>
              <a:spcBef>
                <a:spcPct val="0"/>
              </a:spcBef>
              <a:buNone/>
              <a:defRPr kumimoji="1" sz="2000" b="1" kern="1200">
                <a:solidFill>
                  <a:srgbClr val="0A0045"/>
                </a:solidFill>
                <a:latin typeface="+mn-ea"/>
                <a:ea typeface="+mn-ea"/>
                <a:cs typeface="+mj-cs"/>
              </a:defRPr>
            </a:lvl1pPr>
          </a:lstStyle>
          <a:p>
            <a:r>
              <a:rPr lang="ja-JP" altLang="en-US" dirty="0">
                <a:latin typeface="游ゴシック"/>
                <a:ea typeface="游ゴシック"/>
              </a:rPr>
              <a:t>自己PR</a:t>
            </a:r>
          </a:p>
        </p:txBody>
      </p:sp>
    </p:spTree>
    <p:extLst>
      <p:ext uri="{BB962C8B-B14F-4D97-AF65-F5344CB8AC3E}">
        <p14:creationId xmlns:p14="http://schemas.microsoft.com/office/powerpoint/2010/main" val="1144013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CAB0A-330B-473F-E0BC-0D27E6B9970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75C8847-243F-1B67-63AB-12A7B674D9A5}"/>
              </a:ext>
            </a:extLst>
          </p:cNvPr>
          <p:cNvSpPr>
            <a:spLocks noGrp="1"/>
          </p:cNvSpPr>
          <p:nvPr>
            <p:ph type="title"/>
          </p:nvPr>
        </p:nvSpPr>
        <p:spPr/>
        <p:txBody>
          <a:bodyPr/>
          <a:lstStyle/>
          <a:p>
            <a:r>
              <a:rPr kumimoji="1" lang="ja-JP" altLang="en-US">
                <a:latin typeface="游ゴシック"/>
                <a:ea typeface="游ゴシック"/>
              </a:rPr>
              <a:t>スキルセット</a:t>
            </a:r>
          </a:p>
        </p:txBody>
      </p:sp>
      <p:sp>
        <p:nvSpPr>
          <p:cNvPr id="4" name="スライド番号プレースホルダー 3">
            <a:extLst>
              <a:ext uri="{FF2B5EF4-FFF2-40B4-BE49-F238E27FC236}">
                <a16:creationId xmlns:a16="http://schemas.microsoft.com/office/drawing/2014/main" id="{B4628920-5C77-F3EB-86C3-E328FABBA9A5}"/>
              </a:ext>
            </a:extLst>
          </p:cNvPr>
          <p:cNvSpPr>
            <a:spLocks noGrp="1"/>
          </p:cNvSpPr>
          <p:nvPr>
            <p:ph type="sldNum" sz="quarter" idx="12"/>
          </p:nvPr>
        </p:nvSpPr>
        <p:spPr/>
        <p:txBody>
          <a:bodyPr/>
          <a:lstStyle/>
          <a:p>
            <a:fld id="{42C06FF3-EDEF-40D9-844B-E8BDE887AEB1}" type="slidenum">
              <a:rPr lang="ja-JP" altLang="en-US" smtClean="0"/>
              <a:pPr/>
              <a:t>3</a:t>
            </a:fld>
            <a:endParaRPr lang="ja-JP" altLang="en-US"/>
          </a:p>
        </p:txBody>
      </p:sp>
      <p:sp>
        <p:nvSpPr>
          <p:cNvPr id="12" name="テキスト ボックス 13">
            <a:extLst>
              <a:ext uri="{FF2B5EF4-FFF2-40B4-BE49-F238E27FC236}">
                <a16:creationId xmlns:a16="http://schemas.microsoft.com/office/drawing/2014/main" id="{9EA77ECB-ED48-D94C-0B25-4FE9DD0743B5}"/>
              </a:ext>
            </a:extLst>
          </p:cNvPr>
          <p:cNvSpPr txBox="1"/>
          <p:nvPr/>
        </p:nvSpPr>
        <p:spPr>
          <a:xfrm>
            <a:off x="348619" y="953712"/>
            <a:ext cx="2303949" cy="461665"/>
          </a:xfrm>
          <a:prstGeom prst="rect">
            <a:avLst/>
          </a:prstGeom>
          <a:noFill/>
          <a:ln>
            <a:noFill/>
          </a:ln>
        </p:spPr>
        <p:txBody>
          <a:bodyPr wrap="square" lIns="91440" tIns="45720" rIns="91440" bIns="4572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spcAft>
                <a:spcPts val="0"/>
              </a:spcAft>
            </a:pPr>
            <a:r>
              <a:rPr lang="ja-JP" altLang="en-US" sz="2400" b="1">
                <a:solidFill>
                  <a:srgbClr val="0070C0"/>
                </a:solidFill>
                <a:ea typeface="游ゴシック"/>
              </a:rPr>
              <a:t>スキルセット</a:t>
            </a:r>
            <a:endParaRPr lang="en-US" altLang="ja-JP" sz="2400" b="1">
              <a:solidFill>
                <a:srgbClr val="0070C0"/>
              </a:solidFill>
              <a:ea typeface="游ゴシック"/>
            </a:endParaRPr>
          </a:p>
        </p:txBody>
      </p:sp>
      <p:sp>
        <p:nvSpPr>
          <p:cNvPr id="14" name="テキスト ボックス 13">
            <a:extLst>
              <a:ext uri="{FF2B5EF4-FFF2-40B4-BE49-F238E27FC236}">
                <a16:creationId xmlns:a16="http://schemas.microsoft.com/office/drawing/2014/main" id="{AD855525-CE44-56BC-FDAB-F3C31262A841}"/>
              </a:ext>
            </a:extLst>
          </p:cNvPr>
          <p:cNvSpPr txBox="1"/>
          <p:nvPr/>
        </p:nvSpPr>
        <p:spPr>
          <a:xfrm>
            <a:off x="343318" y="2027878"/>
            <a:ext cx="2091298" cy="1600438"/>
          </a:xfrm>
          <a:prstGeom prst="rect">
            <a:avLst/>
          </a:prstGeom>
          <a:noFill/>
          <a:ln>
            <a:noFill/>
          </a:ln>
        </p:spPr>
        <p:txBody>
          <a:bodyPr wrap="square" lIns="91440" tIns="45720" rIns="91440" bIns="4572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dirty="0">
                <a:solidFill>
                  <a:srgbClr val="000000"/>
                </a:solidFill>
                <a:ea typeface="+mn-lt"/>
                <a:cs typeface="+mn-lt"/>
              </a:rPr>
              <a:t>・EC2</a:t>
            </a:r>
          </a:p>
          <a:p>
            <a:r>
              <a:rPr lang="en-US" altLang="ja-JP" sz="1400" dirty="0">
                <a:solidFill>
                  <a:srgbClr val="000000"/>
                </a:solidFill>
                <a:ea typeface="+mn-lt"/>
                <a:cs typeface="+mn-lt"/>
              </a:rPr>
              <a:t>・S3</a:t>
            </a:r>
          </a:p>
          <a:p>
            <a:r>
              <a:rPr lang="en-US" altLang="ja-JP" sz="1400" dirty="0">
                <a:solidFill>
                  <a:srgbClr val="000000"/>
                </a:solidFill>
                <a:ea typeface="+mn-lt"/>
                <a:cs typeface="+mn-lt"/>
              </a:rPr>
              <a:t>・RDS</a:t>
            </a:r>
          </a:p>
          <a:p>
            <a:r>
              <a:rPr lang="en-US" altLang="ja-JP" sz="1400" dirty="0">
                <a:solidFill>
                  <a:srgbClr val="000000"/>
                </a:solidFill>
                <a:ea typeface="+mn-lt"/>
                <a:cs typeface="+mn-lt"/>
              </a:rPr>
              <a:t>・VPC</a:t>
            </a:r>
          </a:p>
          <a:p>
            <a:r>
              <a:rPr lang="en-US" altLang="ja-JP" sz="1400" dirty="0">
                <a:solidFill>
                  <a:srgbClr val="000000"/>
                </a:solidFill>
                <a:ea typeface="+mn-lt"/>
                <a:cs typeface="+mn-lt"/>
              </a:rPr>
              <a:t>・IAM</a:t>
            </a:r>
            <a:endParaRPr lang="ja-JP" altLang="en-US" sz="1400" dirty="0">
              <a:solidFill>
                <a:srgbClr val="000000"/>
              </a:solidFill>
              <a:ea typeface="+mn-lt"/>
              <a:cs typeface="+mn-lt"/>
            </a:endParaRPr>
          </a:p>
          <a:p>
            <a:r>
              <a:rPr lang="en-US" altLang="ja-JP" sz="1400" dirty="0">
                <a:solidFill>
                  <a:srgbClr val="000000"/>
                </a:solidFill>
                <a:ea typeface="+mn-lt"/>
                <a:cs typeface="+mn-lt"/>
              </a:rPr>
              <a:t>・Route 53</a:t>
            </a:r>
          </a:p>
          <a:p>
            <a:r>
              <a:rPr lang="en-US" sz="1400" dirty="0">
                <a:solidFill>
                  <a:srgbClr val="000000"/>
                </a:solidFill>
                <a:ea typeface="+mn-lt"/>
                <a:cs typeface="+mn-lt"/>
              </a:rPr>
              <a:t>・CloudFront</a:t>
            </a:r>
            <a:endParaRPr lang="en-US" dirty="0"/>
          </a:p>
        </p:txBody>
      </p:sp>
      <p:sp>
        <p:nvSpPr>
          <p:cNvPr id="15" name="テキスト ボックス 13">
            <a:extLst>
              <a:ext uri="{FF2B5EF4-FFF2-40B4-BE49-F238E27FC236}">
                <a16:creationId xmlns:a16="http://schemas.microsoft.com/office/drawing/2014/main" id="{5D3C15DD-630D-C8F8-9D78-C66C388FCA7C}"/>
              </a:ext>
            </a:extLst>
          </p:cNvPr>
          <p:cNvSpPr txBox="1"/>
          <p:nvPr/>
        </p:nvSpPr>
        <p:spPr>
          <a:xfrm>
            <a:off x="3173550" y="2043429"/>
            <a:ext cx="1922166" cy="307777"/>
          </a:xfrm>
          <a:prstGeom prst="rect">
            <a:avLst/>
          </a:prstGeom>
          <a:noFill/>
          <a:ln>
            <a:noFill/>
          </a:ln>
        </p:spPr>
        <p:txBody>
          <a:bodyPr wrap="square" lIns="91440" tIns="45720" rIns="91440" bIns="4572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rgbClr val="000000"/>
                </a:solidFill>
                <a:ea typeface="+mn-lt"/>
                <a:cs typeface="+mn-lt"/>
              </a:rPr>
              <a:t>Linux</a:t>
            </a:r>
            <a:r>
              <a:rPr lang="ja-JP" sz="1400" b="1">
                <a:solidFill>
                  <a:srgbClr val="000000"/>
                </a:solidFill>
                <a:ea typeface="+mn-lt"/>
                <a:cs typeface="+mn-lt"/>
              </a:rPr>
              <a:t>基本コマンド</a:t>
            </a:r>
            <a:endParaRPr lang="en-US" altLang="ja-JP" sz="1400" b="1">
              <a:solidFill>
                <a:srgbClr val="000000"/>
              </a:solidFill>
              <a:ea typeface="游ゴシック"/>
            </a:endParaRPr>
          </a:p>
        </p:txBody>
      </p:sp>
      <p:sp>
        <p:nvSpPr>
          <p:cNvPr id="16" name="テキスト ボックス 15">
            <a:extLst>
              <a:ext uri="{FF2B5EF4-FFF2-40B4-BE49-F238E27FC236}">
                <a16:creationId xmlns:a16="http://schemas.microsoft.com/office/drawing/2014/main" id="{1D774B2B-D813-84FB-44EB-88AF1D2FB506}"/>
              </a:ext>
            </a:extLst>
          </p:cNvPr>
          <p:cNvSpPr txBox="1"/>
          <p:nvPr/>
        </p:nvSpPr>
        <p:spPr>
          <a:xfrm>
            <a:off x="3192651" y="2342514"/>
            <a:ext cx="4806337" cy="307777"/>
          </a:xfrm>
          <a:prstGeom prst="rect">
            <a:avLst/>
          </a:prstGeom>
          <a:noFill/>
          <a:ln>
            <a:noFill/>
          </a:ln>
        </p:spPr>
        <p:txBody>
          <a:bodyPr wrap="square" lIns="91440" tIns="45720" rIns="91440" bIns="4572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400">
                <a:solidFill>
                  <a:srgbClr val="000000"/>
                </a:solidFill>
                <a:ea typeface="+mn-lt"/>
                <a:cs typeface="+mn-lt"/>
              </a:rPr>
              <a:t>ファイル操作</a:t>
            </a:r>
            <a:r>
              <a:rPr lang="ja-JP" sz="1400">
                <a:solidFill>
                  <a:srgbClr val="000000"/>
                </a:solidFill>
                <a:ea typeface="+mn-lt"/>
                <a:cs typeface="+mn-lt"/>
              </a:rPr>
              <a:t>、</a:t>
            </a:r>
            <a:r>
              <a:rPr lang="ja-JP" altLang="en-US" sz="1400">
                <a:solidFill>
                  <a:srgbClr val="000000"/>
                </a:solidFill>
                <a:ea typeface="+mn-lt"/>
                <a:cs typeface="+mn-lt"/>
              </a:rPr>
              <a:t>プロセス管理、ネットワーク設定など</a:t>
            </a:r>
            <a:endParaRPr lang="en-US" sz="1400">
              <a:solidFill>
                <a:srgbClr val="000000"/>
              </a:solidFill>
              <a:ea typeface="+mn-lt"/>
              <a:cs typeface="+mn-lt"/>
            </a:endParaRPr>
          </a:p>
        </p:txBody>
      </p:sp>
      <p:sp>
        <p:nvSpPr>
          <p:cNvPr id="19" name="テキスト ボックス 13">
            <a:extLst>
              <a:ext uri="{FF2B5EF4-FFF2-40B4-BE49-F238E27FC236}">
                <a16:creationId xmlns:a16="http://schemas.microsoft.com/office/drawing/2014/main" id="{5A8A208E-803E-D914-8E47-6E0592186A76}"/>
              </a:ext>
            </a:extLst>
          </p:cNvPr>
          <p:cNvSpPr txBox="1"/>
          <p:nvPr/>
        </p:nvSpPr>
        <p:spPr>
          <a:xfrm>
            <a:off x="7790929" y="2071153"/>
            <a:ext cx="2446198" cy="307777"/>
          </a:xfrm>
          <a:prstGeom prst="rect">
            <a:avLst/>
          </a:prstGeom>
          <a:noFill/>
          <a:ln>
            <a:noFill/>
          </a:ln>
        </p:spPr>
        <p:txBody>
          <a:bodyPr wrap="square" lIns="91440" tIns="45720" rIns="91440" bIns="4572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sz="1400" b="1" dirty="0">
                <a:solidFill>
                  <a:srgbClr val="000000"/>
                </a:solidFill>
                <a:ea typeface="+mn-lt"/>
                <a:cs typeface="+mn-lt"/>
              </a:rPr>
              <a:t>基本</a:t>
            </a:r>
            <a:r>
              <a:rPr lang="ja-JP" altLang="en-US" sz="1400" b="1" dirty="0">
                <a:solidFill>
                  <a:srgbClr val="000000"/>
                </a:solidFill>
                <a:ea typeface="+mn-lt"/>
                <a:cs typeface="+mn-lt"/>
              </a:rPr>
              <a:t>的なネットワーク知識</a:t>
            </a:r>
            <a:endParaRPr lang="ja-JP" altLang="en-US" sz="1400" b="1" dirty="0">
              <a:ea typeface="游ゴシック"/>
            </a:endParaRPr>
          </a:p>
        </p:txBody>
      </p:sp>
      <p:sp>
        <p:nvSpPr>
          <p:cNvPr id="20" name="テキスト ボックス 19">
            <a:extLst>
              <a:ext uri="{FF2B5EF4-FFF2-40B4-BE49-F238E27FC236}">
                <a16:creationId xmlns:a16="http://schemas.microsoft.com/office/drawing/2014/main" id="{9A9D5E80-DEC3-E0B3-317E-8969602CFF2C}"/>
              </a:ext>
            </a:extLst>
          </p:cNvPr>
          <p:cNvSpPr txBox="1"/>
          <p:nvPr/>
        </p:nvSpPr>
        <p:spPr>
          <a:xfrm>
            <a:off x="7803708" y="2365840"/>
            <a:ext cx="3815774" cy="523220"/>
          </a:xfrm>
          <a:prstGeom prst="rect">
            <a:avLst/>
          </a:prstGeom>
          <a:noFill/>
          <a:ln>
            <a:noFill/>
          </a:ln>
        </p:spPr>
        <p:txBody>
          <a:bodyPr wrap="square" lIns="91440" tIns="45720" rIns="91440" bIns="4572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dirty="0">
                <a:solidFill>
                  <a:srgbClr val="000000"/>
                </a:solidFill>
                <a:ea typeface="+mn-lt"/>
                <a:cs typeface="+mn-lt"/>
              </a:rPr>
              <a:t>TCP/IP</a:t>
            </a:r>
            <a:r>
              <a:rPr lang="ja-JP" sz="1400" dirty="0">
                <a:solidFill>
                  <a:srgbClr val="000000"/>
                </a:solidFill>
                <a:ea typeface="+mn-lt"/>
                <a:cs typeface="+mn-lt"/>
              </a:rPr>
              <a:t>、サブネット、ファイアウォール、</a:t>
            </a:r>
            <a:endParaRPr lang="ja-JP" altLang="en-US" sz="1400" dirty="0">
              <a:ea typeface="游ゴシック"/>
            </a:endParaRPr>
          </a:p>
          <a:p>
            <a:r>
              <a:rPr lang="ja-JP" sz="1400" dirty="0">
                <a:solidFill>
                  <a:srgbClr val="000000"/>
                </a:solidFill>
                <a:ea typeface="+mn-lt"/>
                <a:cs typeface="+mn-lt"/>
              </a:rPr>
              <a:t>ロードバランサーなど</a:t>
            </a:r>
            <a:endParaRPr lang="ja-JP" sz="1400" dirty="0"/>
          </a:p>
        </p:txBody>
      </p:sp>
      <p:sp>
        <p:nvSpPr>
          <p:cNvPr id="5" name="テキスト ボックス 13">
            <a:extLst>
              <a:ext uri="{FF2B5EF4-FFF2-40B4-BE49-F238E27FC236}">
                <a16:creationId xmlns:a16="http://schemas.microsoft.com/office/drawing/2014/main" id="{DE1A150F-9700-035A-A4E5-BDC1EAAA9350}"/>
              </a:ext>
            </a:extLst>
          </p:cNvPr>
          <p:cNvSpPr txBox="1"/>
          <p:nvPr/>
        </p:nvSpPr>
        <p:spPr>
          <a:xfrm>
            <a:off x="324992" y="3705260"/>
            <a:ext cx="2303949" cy="461665"/>
          </a:xfrm>
          <a:prstGeom prst="rect">
            <a:avLst/>
          </a:prstGeom>
          <a:noFill/>
          <a:ln>
            <a:noFill/>
          </a:ln>
        </p:spPr>
        <p:txBody>
          <a:bodyPr wrap="square" lIns="91440" tIns="45720" rIns="91440" bIns="4572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spcAft>
                <a:spcPts val="0"/>
              </a:spcAft>
            </a:pPr>
            <a:r>
              <a:rPr lang="ja-JP" altLang="en-US" sz="2400" b="1" dirty="0">
                <a:solidFill>
                  <a:srgbClr val="0070C0"/>
                </a:solidFill>
                <a:ea typeface="游ゴシック"/>
              </a:rPr>
              <a:t>保有資格</a:t>
            </a:r>
            <a:endParaRPr lang="en-US" altLang="ja-JP" sz="2400" b="1" dirty="0">
              <a:solidFill>
                <a:srgbClr val="0070C0"/>
              </a:solidFill>
              <a:ea typeface="游ゴシック"/>
            </a:endParaRPr>
          </a:p>
        </p:txBody>
      </p:sp>
      <p:sp>
        <p:nvSpPr>
          <p:cNvPr id="27" name="テキスト ボックス 13">
            <a:extLst>
              <a:ext uri="{FF2B5EF4-FFF2-40B4-BE49-F238E27FC236}">
                <a16:creationId xmlns:a16="http://schemas.microsoft.com/office/drawing/2014/main" id="{A3E4CE06-61DF-E598-8F09-F73564697468}"/>
              </a:ext>
            </a:extLst>
          </p:cNvPr>
          <p:cNvSpPr txBox="1"/>
          <p:nvPr/>
        </p:nvSpPr>
        <p:spPr>
          <a:xfrm>
            <a:off x="324992" y="4154855"/>
            <a:ext cx="827205" cy="338554"/>
          </a:xfrm>
          <a:prstGeom prst="rect">
            <a:avLst/>
          </a:prstGeom>
          <a:noFill/>
          <a:ln>
            <a:noFill/>
          </a:ln>
        </p:spPr>
        <p:txBody>
          <a:bodyPr wrap="square" lIns="91440" tIns="45720" rIns="91440" bIns="4572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sz="1600" b="1" dirty="0">
                <a:solidFill>
                  <a:srgbClr val="000000"/>
                </a:solidFill>
                <a:latin typeface="游ゴシック"/>
                <a:ea typeface="游ゴシック"/>
                <a:cs typeface="+mn-lt"/>
              </a:rPr>
              <a:t>資格名</a:t>
            </a:r>
            <a:endParaRPr lang="en-US" altLang="ja-JP" sz="1600" b="1" dirty="0">
              <a:solidFill>
                <a:srgbClr val="000000"/>
              </a:solidFill>
              <a:latin typeface="游ゴシック"/>
              <a:ea typeface="游ゴシック"/>
            </a:endParaRPr>
          </a:p>
        </p:txBody>
      </p:sp>
      <p:sp>
        <p:nvSpPr>
          <p:cNvPr id="28" name="テキスト ボックス 13">
            <a:extLst>
              <a:ext uri="{FF2B5EF4-FFF2-40B4-BE49-F238E27FC236}">
                <a16:creationId xmlns:a16="http://schemas.microsoft.com/office/drawing/2014/main" id="{0EF031F4-8711-0513-808F-60396F84C7A2}"/>
              </a:ext>
            </a:extLst>
          </p:cNvPr>
          <p:cNvSpPr txBox="1"/>
          <p:nvPr/>
        </p:nvSpPr>
        <p:spPr>
          <a:xfrm>
            <a:off x="1328578" y="4476202"/>
            <a:ext cx="3340683" cy="307777"/>
          </a:xfrm>
          <a:prstGeom prst="rect">
            <a:avLst/>
          </a:prstGeom>
          <a:noFill/>
          <a:ln>
            <a:noFill/>
          </a:ln>
        </p:spPr>
        <p:txBody>
          <a:bodyPr wrap="square" lIns="91440" tIns="45720" rIns="91440" bIns="4572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dirty="0">
                <a:solidFill>
                  <a:srgbClr val="000000"/>
                </a:solidFill>
                <a:latin typeface="游ゴシック"/>
                <a:ea typeface="游ゴシック"/>
                <a:cs typeface="+mn-lt"/>
              </a:rPr>
              <a:t>AWS Certified Cloud Practitioner</a:t>
            </a:r>
            <a:endParaRPr lang="ja-JP" sz="1400" dirty="0">
              <a:solidFill>
                <a:srgbClr val="000000"/>
              </a:solidFill>
              <a:latin typeface="游ゴシック"/>
              <a:ea typeface="游ゴシック"/>
              <a:cs typeface="+mn-lt"/>
            </a:endParaRPr>
          </a:p>
        </p:txBody>
      </p:sp>
      <p:sp>
        <p:nvSpPr>
          <p:cNvPr id="29" name="テキスト ボックス 13">
            <a:extLst>
              <a:ext uri="{FF2B5EF4-FFF2-40B4-BE49-F238E27FC236}">
                <a16:creationId xmlns:a16="http://schemas.microsoft.com/office/drawing/2014/main" id="{D5F39F43-73C8-6C88-C384-B932478D01B1}"/>
              </a:ext>
            </a:extLst>
          </p:cNvPr>
          <p:cNvSpPr txBox="1"/>
          <p:nvPr/>
        </p:nvSpPr>
        <p:spPr>
          <a:xfrm>
            <a:off x="324992" y="5577968"/>
            <a:ext cx="1008634" cy="338554"/>
          </a:xfrm>
          <a:prstGeom prst="rect">
            <a:avLst/>
          </a:prstGeom>
          <a:noFill/>
          <a:ln>
            <a:noFill/>
          </a:ln>
        </p:spPr>
        <p:txBody>
          <a:bodyPr wrap="square" lIns="91440" tIns="45720" rIns="91440" bIns="4572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sz="1600" b="1">
                <a:solidFill>
                  <a:srgbClr val="000000"/>
                </a:solidFill>
                <a:latin typeface="游ゴシック"/>
                <a:ea typeface="游ゴシック"/>
                <a:cs typeface="+mn-lt"/>
              </a:rPr>
              <a:t>学習内容</a:t>
            </a:r>
            <a:endParaRPr lang="en-US" altLang="ja-JP" sz="1600" b="1">
              <a:solidFill>
                <a:srgbClr val="000000"/>
              </a:solidFill>
              <a:latin typeface="游ゴシック"/>
              <a:ea typeface="游ゴシック"/>
            </a:endParaRPr>
          </a:p>
        </p:txBody>
      </p:sp>
      <p:sp>
        <p:nvSpPr>
          <p:cNvPr id="30" name="テキスト ボックス 13">
            <a:extLst>
              <a:ext uri="{FF2B5EF4-FFF2-40B4-BE49-F238E27FC236}">
                <a16:creationId xmlns:a16="http://schemas.microsoft.com/office/drawing/2014/main" id="{57817AD7-6D65-C1CA-5912-90EC0255CB08}"/>
              </a:ext>
            </a:extLst>
          </p:cNvPr>
          <p:cNvSpPr txBox="1"/>
          <p:nvPr/>
        </p:nvSpPr>
        <p:spPr>
          <a:xfrm>
            <a:off x="1328579" y="5577968"/>
            <a:ext cx="4293151" cy="954107"/>
          </a:xfrm>
          <a:prstGeom prst="rect">
            <a:avLst/>
          </a:prstGeom>
          <a:noFill/>
          <a:ln>
            <a:noFill/>
          </a:ln>
        </p:spPr>
        <p:txBody>
          <a:bodyPr wrap="square" lIns="91440" tIns="45720" rIns="91440" bIns="4572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dirty="0">
                <a:solidFill>
                  <a:srgbClr val="000000"/>
                </a:solidFill>
                <a:latin typeface="游ゴシック"/>
                <a:ea typeface="游ゴシック"/>
                <a:cs typeface="Arial"/>
              </a:rPr>
              <a:t>・AWS</a:t>
            </a:r>
            <a:r>
              <a:rPr lang="ja-JP" altLang="en-US" sz="1400" dirty="0">
                <a:solidFill>
                  <a:srgbClr val="000000"/>
                </a:solidFill>
                <a:latin typeface="游ゴシック"/>
                <a:ea typeface="游ゴシック"/>
                <a:cs typeface="Arial"/>
              </a:rPr>
              <a:t>公式</a:t>
            </a:r>
            <a:r>
              <a:rPr lang="ja-JP" sz="1400" dirty="0">
                <a:solidFill>
                  <a:srgbClr val="000000"/>
                </a:solidFill>
                <a:latin typeface="游ゴシック"/>
                <a:ea typeface="游ゴシック"/>
                <a:cs typeface="Arial"/>
              </a:rPr>
              <a:t>ド</a:t>
            </a:r>
            <a:r>
              <a:rPr lang="ja-JP" altLang="en-US" sz="1400" dirty="0">
                <a:solidFill>
                  <a:srgbClr val="000000"/>
                </a:solidFill>
                <a:latin typeface="游ゴシック"/>
                <a:ea typeface="游ゴシック"/>
                <a:cs typeface="Arial"/>
              </a:rPr>
              <a:t>キュメントの徹底的な学習</a:t>
            </a:r>
            <a:endParaRPr lang="en-US" altLang="ja-JP" sz="1400" dirty="0">
              <a:solidFill>
                <a:srgbClr val="000000"/>
              </a:solidFill>
              <a:latin typeface="游ゴシック"/>
              <a:ea typeface="游ゴシック"/>
              <a:cs typeface="Arial"/>
            </a:endParaRPr>
          </a:p>
          <a:p>
            <a:r>
              <a:rPr lang="en-US" altLang="ja-JP" sz="1400" dirty="0">
                <a:solidFill>
                  <a:srgbClr val="000000"/>
                </a:solidFill>
                <a:latin typeface="游ゴシック"/>
                <a:ea typeface="游ゴシック"/>
                <a:cs typeface="Arial"/>
              </a:rPr>
              <a:t>・Udemy</a:t>
            </a:r>
            <a:r>
              <a:rPr lang="ja-JP" altLang="en-US" sz="1400" dirty="0">
                <a:solidFill>
                  <a:srgbClr val="000000"/>
                </a:solidFill>
                <a:latin typeface="游ゴシック"/>
                <a:ea typeface="游ゴシック"/>
                <a:cs typeface="Arial"/>
              </a:rPr>
              <a:t>などのオ</a:t>
            </a:r>
            <a:r>
              <a:rPr lang="ja-JP" sz="1400" dirty="0">
                <a:solidFill>
                  <a:srgbClr val="000000"/>
                </a:solidFill>
                <a:latin typeface="游ゴシック"/>
                <a:ea typeface="游ゴシック"/>
                <a:cs typeface="Arial"/>
              </a:rPr>
              <a:t>ンラ</a:t>
            </a:r>
            <a:r>
              <a:rPr lang="ja-JP" altLang="en-US" sz="1400" dirty="0">
                <a:solidFill>
                  <a:srgbClr val="000000"/>
                </a:solidFill>
                <a:latin typeface="游ゴシック"/>
                <a:ea typeface="游ゴシック"/>
                <a:cs typeface="Arial"/>
              </a:rPr>
              <a:t>イ</a:t>
            </a:r>
            <a:r>
              <a:rPr lang="ja-JP" sz="1400" dirty="0">
                <a:solidFill>
                  <a:srgbClr val="000000"/>
                </a:solidFill>
                <a:latin typeface="游ゴシック"/>
                <a:ea typeface="游ゴシック"/>
                <a:cs typeface="Arial"/>
              </a:rPr>
              <a:t>ン</a:t>
            </a:r>
            <a:r>
              <a:rPr lang="ja-JP" altLang="en-US" sz="1400" dirty="0">
                <a:solidFill>
                  <a:srgbClr val="000000"/>
                </a:solidFill>
                <a:latin typeface="游ゴシック"/>
                <a:ea typeface="游ゴシック"/>
                <a:cs typeface="Arial"/>
              </a:rPr>
              <a:t>講座の受講</a:t>
            </a:r>
            <a:endParaRPr lang="en-US" sz="1400" dirty="0">
              <a:solidFill>
                <a:srgbClr val="000000"/>
              </a:solidFill>
              <a:latin typeface="游ゴシック"/>
              <a:ea typeface="游ゴシック"/>
              <a:cs typeface="Arial"/>
            </a:endParaRPr>
          </a:p>
          <a:p>
            <a:r>
              <a:rPr lang="ja-JP" altLang="en-US" sz="1400" dirty="0">
                <a:solidFill>
                  <a:srgbClr val="000000"/>
                </a:solidFill>
                <a:latin typeface="游ゴシック"/>
                <a:ea typeface="游ゴシック"/>
                <a:cs typeface="Arial"/>
              </a:rPr>
              <a:t>・模擬試験の繰り返</a:t>
            </a:r>
            <a:r>
              <a:rPr lang="ja-JP" sz="1400" dirty="0">
                <a:solidFill>
                  <a:srgbClr val="000000"/>
                </a:solidFill>
                <a:latin typeface="游ゴシック"/>
                <a:ea typeface="游ゴシック"/>
                <a:cs typeface="Arial"/>
              </a:rPr>
              <a:t>し</a:t>
            </a:r>
            <a:r>
              <a:rPr lang="ja-JP" altLang="en-US" sz="1400" dirty="0">
                <a:solidFill>
                  <a:srgbClr val="000000"/>
                </a:solidFill>
                <a:latin typeface="游ゴシック"/>
                <a:ea typeface="游ゴシック"/>
                <a:cs typeface="Arial"/>
              </a:rPr>
              <a:t>実施</a:t>
            </a:r>
            <a:endParaRPr lang="en-US" altLang="ja-JP" sz="1400" dirty="0">
              <a:solidFill>
                <a:srgbClr val="000000"/>
              </a:solidFill>
              <a:latin typeface="游ゴシック"/>
              <a:ea typeface="游ゴシック"/>
              <a:cs typeface="Arial"/>
            </a:endParaRPr>
          </a:p>
          <a:p>
            <a:r>
              <a:rPr lang="en-US" altLang="ja-JP" sz="1400" dirty="0">
                <a:solidFill>
                  <a:srgbClr val="000000"/>
                </a:solidFill>
                <a:latin typeface="游ゴシック"/>
                <a:ea typeface="游ゴシック"/>
                <a:cs typeface="Arial"/>
              </a:rPr>
              <a:t>・AWS</a:t>
            </a:r>
            <a:r>
              <a:rPr lang="ja-JP" altLang="en-US" sz="1400" dirty="0">
                <a:solidFill>
                  <a:srgbClr val="000000"/>
                </a:solidFill>
                <a:latin typeface="游ゴシック"/>
                <a:ea typeface="游ゴシック"/>
                <a:cs typeface="Arial"/>
              </a:rPr>
              <a:t>ハンズオンでの実践的な</a:t>
            </a:r>
            <a:r>
              <a:rPr lang="ja-JP" sz="1400" dirty="0">
                <a:solidFill>
                  <a:srgbClr val="000000"/>
                </a:solidFill>
                <a:latin typeface="游ゴシック"/>
                <a:ea typeface="游ゴシック"/>
                <a:cs typeface="Arial"/>
              </a:rPr>
              <a:t>ス</a:t>
            </a:r>
            <a:r>
              <a:rPr lang="ja-JP" altLang="en-US" sz="1400" dirty="0">
                <a:solidFill>
                  <a:srgbClr val="000000"/>
                </a:solidFill>
                <a:latin typeface="游ゴシック"/>
                <a:ea typeface="游ゴシック"/>
                <a:cs typeface="Arial"/>
              </a:rPr>
              <a:t>キル習得</a:t>
            </a:r>
            <a:endParaRPr lang="en-US" altLang="ja-JP" sz="1400" dirty="0">
              <a:solidFill>
                <a:srgbClr val="000000"/>
              </a:solidFill>
              <a:latin typeface="游ゴシック"/>
              <a:ea typeface="游ゴシック"/>
              <a:cs typeface="Arial"/>
            </a:endParaRPr>
          </a:p>
        </p:txBody>
      </p:sp>
      <p:sp>
        <p:nvSpPr>
          <p:cNvPr id="31" name="テキスト ボックス 13">
            <a:extLst>
              <a:ext uri="{FF2B5EF4-FFF2-40B4-BE49-F238E27FC236}">
                <a16:creationId xmlns:a16="http://schemas.microsoft.com/office/drawing/2014/main" id="{8FBE1C88-6AB8-5848-7B2A-1F3200A35490}"/>
              </a:ext>
            </a:extLst>
          </p:cNvPr>
          <p:cNvSpPr txBox="1"/>
          <p:nvPr/>
        </p:nvSpPr>
        <p:spPr>
          <a:xfrm>
            <a:off x="5404991" y="4565960"/>
            <a:ext cx="1033549" cy="338554"/>
          </a:xfrm>
          <a:prstGeom prst="rect">
            <a:avLst/>
          </a:prstGeom>
          <a:noFill/>
          <a:ln>
            <a:noFill/>
          </a:ln>
        </p:spPr>
        <p:txBody>
          <a:bodyPr wrap="square" lIns="91440" tIns="45720" rIns="91440" bIns="4572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600" b="1" dirty="0">
                <a:solidFill>
                  <a:srgbClr val="000000"/>
                </a:solidFill>
                <a:latin typeface="游ゴシック"/>
                <a:ea typeface="游ゴシック"/>
                <a:cs typeface="+mn-lt"/>
              </a:rPr>
              <a:t>実務活用</a:t>
            </a:r>
            <a:endParaRPr lang="ja-JP" altLang="en-US" sz="1600" b="1" dirty="0">
              <a:latin typeface="游ゴシック"/>
              <a:ea typeface="游ゴシック"/>
            </a:endParaRPr>
          </a:p>
        </p:txBody>
      </p:sp>
      <p:sp>
        <p:nvSpPr>
          <p:cNvPr id="32" name="テキスト ボックス 13">
            <a:extLst>
              <a:ext uri="{FF2B5EF4-FFF2-40B4-BE49-F238E27FC236}">
                <a16:creationId xmlns:a16="http://schemas.microsoft.com/office/drawing/2014/main" id="{19259CBE-B79B-7566-7B67-1119B3EE3A65}"/>
              </a:ext>
            </a:extLst>
          </p:cNvPr>
          <p:cNvSpPr txBox="1"/>
          <p:nvPr/>
        </p:nvSpPr>
        <p:spPr>
          <a:xfrm>
            <a:off x="6438540" y="4567635"/>
            <a:ext cx="5039601" cy="1600438"/>
          </a:xfrm>
          <a:prstGeom prst="rect">
            <a:avLst/>
          </a:prstGeom>
          <a:noFill/>
          <a:ln>
            <a:noFill/>
          </a:ln>
        </p:spPr>
        <p:txBody>
          <a:bodyPr wrap="square" lIns="91440" tIns="45720" rIns="91440" bIns="4572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sz="1400" dirty="0">
                <a:solidFill>
                  <a:srgbClr val="000000"/>
                </a:solidFill>
                <a:latin typeface="Arial"/>
                <a:ea typeface="游ゴシック"/>
                <a:cs typeface="Arial"/>
              </a:rPr>
              <a:t>・EC2</a:t>
            </a:r>
            <a:r>
              <a:rPr lang="ja-JP" sz="1400" dirty="0">
                <a:solidFill>
                  <a:srgbClr val="000000"/>
                </a:solidFill>
                <a:latin typeface="Arial"/>
                <a:ea typeface="游ゴシック"/>
                <a:cs typeface="Arial"/>
              </a:rPr>
              <a:t>、</a:t>
            </a:r>
            <a:r>
              <a:rPr lang="en-US" sz="1400" dirty="0">
                <a:solidFill>
                  <a:srgbClr val="000000"/>
                </a:solidFill>
                <a:latin typeface="Arial"/>
                <a:ea typeface="游ゴシック"/>
                <a:cs typeface="Arial"/>
              </a:rPr>
              <a:t>S3</a:t>
            </a:r>
            <a:r>
              <a:rPr lang="ja-JP" sz="1400" dirty="0">
                <a:solidFill>
                  <a:srgbClr val="000000"/>
                </a:solidFill>
                <a:latin typeface="Arial"/>
                <a:ea typeface="游ゴシック"/>
                <a:cs typeface="Arial"/>
              </a:rPr>
              <a:t>、</a:t>
            </a:r>
            <a:r>
              <a:rPr lang="en-US" sz="1400" dirty="0">
                <a:solidFill>
                  <a:srgbClr val="000000"/>
                </a:solidFill>
                <a:latin typeface="Arial"/>
                <a:ea typeface="游ゴシック"/>
                <a:cs typeface="Arial"/>
              </a:rPr>
              <a:t>RDS</a:t>
            </a:r>
            <a:r>
              <a:rPr lang="ja-JP" sz="1400" dirty="0">
                <a:solidFill>
                  <a:srgbClr val="000000"/>
                </a:solidFill>
                <a:latin typeface="Arial"/>
                <a:ea typeface="游ゴシック"/>
                <a:cs typeface="Arial"/>
              </a:rPr>
              <a:t>、</a:t>
            </a:r>
            <a:r>
              <a:rPr lang="en-US" sz="1400" dirty="0">
                <a:solidFill>
                  <a:srgbClr val="000000"/>
                </a:solidFill>
                <a:latin typeface="Arial"/>
                <a:ea typeface="游ゴシック"/>
                <a:cs typeface="Arial"/>
              </a:rPr>
              <a:t>VPC</a:t>
            </a:r>
            <a:r>
              <a:rPr lang="ja-JP" sz="1400" dirty="0">
                <a:solidFill>
                  <a:srgbClr val="000000"/>
                </a:solidFill>
                <a:latin typeface="Arial"/>
                <a:ea typeface="游ゴシック"/>
                <a:cs typeface="Arial"/>
              </a:rPr>
              <a:t>などの主要サービスの特徴と使用シーンを理解し、適切なサービス選択</a:t>
            </a:r>
            <a:r>
              <a:rPr lang="ja-JP" altLang="en-US" sz="1400" dirty="0">
                <a:solidFill>
                  <a:srgbClr val="000000"/>
                </a:solidFill>
                <a:latin typeface="Arial"/>
                <a:ea typeface="游ゴシック"/>
                <a:cs typeface="Arial"/>
              </a:rPr>
              <a:t>が</a:t>
            </a:r>
            <a:r>
              <a:rPr lang="ja-JP" sz="1400" dirty="0">
                <a:solidFill>
                  <a:srgbClr val="000000"/>
                </a:solidFill>
                <a:latin typeface="Arial"/>
                <a:ea typeface="游ゴシック"/>
                <a:cs typeface="Arial"/>
              </a:rPr>
              <a:t>できるようになりました</a:t>
            </a:r>
            <a:endParaRPr lang="en-US" sz="1400" dirty="0">
              <a:solidFill>
                <a:srgbClr val="000000"/>
              </a:solidFill>
              <a:latin typeface="Arial"/>
              <a:ea typeface="游ゴシック"/>
              <a:cs typeface="Arial"/>
            </a:endParaRPr>
          </a:p>
          <a:p>
            <a:r>
              <a:rPr lang="ja-JP" sz="1400" dirty="0">
                <a:solidFill>
                  <a:srgbClr val="000000"/>
                </a:solidFill>
                <a:latin typeface="Arial"/>
                <a:ea typeface="游ゴシック"/>
                <a:cs typeface="Arial"/>
              </a:rPr>
              <a:t>・クラウドベースのソリューションの基本的なアーキテクチャ設計ができるようになりました</a:t>
            </a:r>
            <a:endParaRPr lang="en-US" sz="1400" dirty="0">
              <a:solidFill>
                <a:srgbClr val="000000"/>
              </a:solidFill>
              <a:latin typeface="Arial"/>
              <a:ea typeface="游ゴシック"/>
              <a:cs typeface="Arial"/>
            </a:endParaRPr>
          </a:p>
          <a:p>
            <a:r>
              <a:rPr lang="en-US" sz="1400" dirty="0">
                <a:solidFill>
                  <a:srgbClr val="000000"/>
                </a:solidFill>
                <a:latin typeface="Arial"/>
                <a:ea typeface="游ゴシック"/>
                <a:cs typeface="Arial"/>
              </a:rPr>
              <a:t>・AWS</a:t>
            </a:r>
            <a:r>
              <a:rPr lang="ja-JP" sz="1400" dirty="0">
                <a:solidFill>
                  <a:srgbClr val="000000"/>
                </a:solidFill>
                <a:latin typeface="Arial"/>
                <a:ea typeface="游ゴシック"/>
                <a:cs typeface="Arial"/>
              </a:rPr>
              <a:t>の共有責任モデルを理解し、セキュアなクラウド環境の設計と運用に貢献できま</a:t>
            </a:r>
            <a:r>
              <a:rPr lang="ja-JP" altLang="en-US" sz="1400" dirty="0">
                <a:solidFill>
                  <a:srgbClr val="000000"/>
                </a:solidFill>
                <a:latin typeface="Arial"/>
                <a:ea typeface="游ゴシック"/>
                <a:cs typeface="Arial"/>
              </a:rPr>
              <a:t>す</a:t>
            </a:r>
            <a:endParaRPr lang="ja-JP" sz="1400" dirty="0">
              <a:solidFill>
                <a:srgbClr val="000000"/>
              </a:solidFill>
              <a:latin typeface="Arial"/>
              <a:ea typeface="游ゴシック"/>
              <a:cs typeface="Arial"/>
            </a:endParaRPr>
          </a:p>
        </p:txBody>
      </p:sp>
      <p:sp>
        <p:nvSpPr>
          <p:cNvPr id="6" name="正方形/長方形 5">
            <a:extLst>
              <a:ext uri="{FF2B5EF4-FFF2-40B4-BE49-F238E27FC236}">
                <a16:creationId xmlns:a16="http://schemas.microsoft.com/office/drawing/2014/main" id="{0FFAB83E-9142-65A2-D63B-55DF657B8D1D}"/>
              </a:ext>
            </a:extLst>
          </p:cNvPr>
          <p:cNvSpPr/>
          <p:nvPr/>
        </p:nvSpPr>
        <p:spPr>
          <a:xfrm>
            <a:off x="335360" y="3622588"/>
            <a:ext cx="11430917" cy="3605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ja-JP" altLang="en-US" dirty="0">
              <a:ea typeface="游ゴシック"/>
            </a:endParaRPr>
          </a:p>
        </p:txBody>
      </p:sp>
      <p:sp>
        <p:nvSpPr>
          <p:cNvPr id="3" name="テキスト ボックス 13">
            <a:extLst>
              <a:ext uri="{FF2B5EF4-FFF2-40B4-BE49-F238E27FC236}">
                <a16:creationId xmlns:a16="http://schemas.microsoft.com/office/drawing/2014/main" id="{CF8E95CF-D293-0A47-46C6-10E8B69B45EC}"/>
              </a:ext>
            </a:extLst>
          </p:cNvPr>
          <p:cNvSpPr txBox="1"/>
          <p:nvPr/>
        </p:nvSpPr>
        <p:spPr>
          <a:xfrm>
            <a:off x="348568" y="1578312"/>
            <a:ext cx="2303949" cy="369332"/>
          </a:xfrm>
          <a:prstGeom prst="rect">
            <a:avLst/>
          </a:prstGeom>
          <a:noFill/>
          <a:ln>
            <a:noFill/>
          </a:ln>
        </p:spPr>
        <p:txBody>
          <a:bodyPr wrap="square" lIns="91440" tIns="45720" rIns="91440" bIns="4572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spcAft>
                <a:spcPts val="0"/>
              </a:spcAft>
            </a:pPr>
            <a:r>
              <a:rPr lang="ja-JP" altLang="en-US" b="1">
                <a:solidFill>
                  <a:srgbClr val="000000"/>
                </a:solidFill>
                <a:ea typeface="游ゴシック"/>
              </a:rPr>
              <a:t>AWS関連のスキル</a:t>
            </a:r>
            <a:endParaRPr lang="en-US" altLang="ja-JP" b="1">
              <a:solidFill>
                <a:srgbClr val="000000"/>
              </a:solidFill>
              <a:ea typeface="游ゴシック"/>
            </a:endParaRPr>
          </a:p>
        </p:txBody>
      </p:sp>
      <p:sp>
        <p:nvSpPr>
          <p:cNvPr id="7" name="テキスト ボックス 13">
            <a:extLst>
              <a:ext uri="{FF2B5EF4-FFF2-40B4-BE49-F238E27FC236}">
                <a16:creationId xmlns:a16="http://schemas.microsoft.com/office/drawing/2014/main" id="{5D3C15DD-630D-C8F8-9D78-C66C388FCA7C}"/>
              </a:ext>
            </a:extLst>
          </p:cNvPr>
          <p:cNvSpPr txBox="1"/>
          <p:nvPr/>
        </p:nvSpPr>
        <p:spPr>
          <a:xfrm>
            <a:off x="3157999" y="1575720"/>
            <a:ext cx="2588358" cy="369332"/>
          </a:xfrm>
          <a:prstGeom prst="rect">
            <a:avLst/>
          </a:prstGeom>
          <a:noFill/>
          <a:ln>
            <a:noFill/>
          </a:ln>
        </p:spPr>
        <p:txBody>
          <a:bodyPr wrap="square" lIns="91440" tIns="45720" rIns="91440" bIns="4572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spcAft>
                <a:spcPts val="0"/>
              </a:spcAft>
            </a:pPr>
            <a:r>
              <a:rPr lang="ja-JP" b="1">
                <a:solidFill>
                  <a:srgbClr val="000000"/>
                </a:solidFill>
                <a:ea typeface="+mn-lt"/>
                <a:cs typeface="+mn-lt"/>
              </a:rPr>
              <a:t>その他</a:t>
            </a:r>
            <a:r>
              <a:rPr lang="ja-JP" altLang="en-US" b="1">
                <a:solidFill>
                  <a:srgbClr val="000000"/>
                </a:solidFill>
                <a:ea typeface="+mn-lt"/>
                <a:cs typeface="+mn-lt"/>
              </a:rPr>
              <a:t>スキル</a:t>
            </a:r>
            <a:endParaRPr lang="ja-JP" altLang="en-US" b="1">
              <a:solidFill>
                <a:srgbClr val="000000"/>
              </a:solidFill>
              <a:ea typeface="游ゴシック"/>
            </a:endParaRPr>
          </a:p>
        </p:txBody>
      </p:sp>
      <p:sp>
        <p:nvSpPr>
          <p:cNvPr id="8" name="テキスト ボックス 13">
            <a:extLst>
              <a:ext uri="{FF2B5EF4-FFF2-40B4-BE49-F238E27FC236}">
                <a16:creationId xmlns:a16="http://schemas.microsoft.com/office/drawing/2014/main" id="{3746E2E6-59B2-D19E-96FC-4131DAC1479C}"/>
              </a:ext>
            </a:extLst>
          </p:cNvPr>
          <p:cNvSpPr txBox="1"/>
          <p:nvPr/>
        </p:nvSpPr>
        <p:spPr>
          <a:xfrm>
            <a:off x="1328578" y="4777399"/>
            <a:ext cx="3960170" cy="307777"/>
          </a:xfrm>
          <a:prstGeom prst="rect">
            <a:avLst/>
          </a:prstGeom>
          <a:noFill/>
          <a:ln>
            <a:noFill/>
          </a:ln>
        </p:spPr>
        <p:txBody>
          <a:bodyPr wrap="square" lIns="91440" tIns="45720" rIns="91440" bIns="4572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dirty="0">
                <a:solidFill>
                  <a:srgbClr val="000000"/>
                </a:solidFill>
                <a:latin typeface="游ゴシック"/>
                <a:ea typeface="游ゴシック"/>
                <a:cs typeface="+mn-lt"/>
              </a:rPr>
              <a:t>AWS Certified Solutions Architect - Associate</a:t>
            </a:r>
            <a:endParaRPr lang="ja-JP" sz="1400" dirty="0">
              <a:solidFill>
                <a:srgbClr val="000000"/>
              </a:solidFill>
              <a:latin typeface="游ゴシック"/>
              <a:ea typeface="游ゴシック"/>
              <a:cs typeface="+mn-lt"/>
            </a:endParaRPr>
          </a:p>
        </p:txBody>
      </p:sp>
      <p:sp>
        <p:nvSpPr>
          <p:cNvPr id="9" name="テキスト ボックス 13">
            <a:extLst>
              <a:ext uri="{FF2B5EF4-FFF2-40B4-BE49-F238E27FC236}">
                <a16:creationId xmlns:a16="http://schemas.microsoft.com/office/drawing/2014/main" id="{FEF6B030-42E8-2073-1147-637DE4817AAD}"/>
              </a:ext>
            </a:extLst>
          </p:cNvPr>
          <p:cNvSpPr txBox="1"/>
          <p:nvPr/>
        </p:nvSpPr>
        <p:spPr>
          <a:xfrm>
            <a:off x="1328579" y="4176278"/>
            <a:ext cx="3340683" cy="307777"/>
          </a:xfrm>
          <a:prstGeom prst="rect">
            <a:avLst/>
          </a:prstGeom>
          <a:noFill/>
          <a:ln>
            <a:noFill/>
          </a:ln>
        </p:spPr>
        <p:txBody>
          <a:bodyPr wrap="square" lIns="91440" tIns="45720" rIns="91440" bIns="4572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dirty="0" err="1">
                <a:solidFill>
                  <a:srgbClr val="000000"/>
                </a:solidFill>
                <a:latin typeface="游ゴシック"/>
                <a:ea typeface="游ゴシック"/>
                <a:cs typeface="+mn-lt"/>
              </a:rPr>
              <a:t>LinuC</a:t>
            </a:r>
            <a:r>
              <a:rPr lang="en-US" altLang="ja-JP" sz="1400" dirty="0">
                <a:solidFill>
                  <a:srgbClr val="000000"/>
                </a:solidFill>
                <a:latin typeface="游ゴシック"/>
                <a:ea typeface="游ゴシック"/>
                <a:cs typeface="+mn-lt"/>
              </a:rPr>
              <a:t> Level-1</a:t>
            </a:r>
            <a:endParaRPr lang="ja-JP" sz="1400" dirty="0">
              <a:solidFill>
                <a:srgbClr val="000000"/>
              </a:solidFill>
              <a:latin typeface="游ゴシック"/>
              <a:ea typeface="游ゴシック"/>
              <a:cs typeface="+mn-lt"/>
            </a:endParaRPr>
          </a:p>
        </p:txBody>
      </p:sp>
      <p:sp>
        <p:nvSpPr>
          <p:cNvPr id="10" name="テキスト ボックス 13">
            <a:extLst>
              <a:ext uri="{FF2B5EF4-FFF2-40B4-BE49-F238E27FC236}">
                <a16:creationId xmlns:a16="http://schemas.microsoft.com/office/drawing/2014/main" id="{AF4DD8B2-71F4-8DCB-EE9D-2094E3622756}"/>
              </a:ext>
            </a:extLst>
          </p:cNvPr>
          <p:cNvSpPr txBox="1"/>
          <p:nvPr/>
        </p:nvSpPr>
        <p:spPr>
          <a:xfrm>
            <a:off x="1328578" y="5063050"/>
            <a:ext cx="4076412" cy="307777"/>
          </a:xfrm>
          <a:prstGeom prst="rect">
            <a:avLst/>
          </a:prstGeom>
          <a:noFill/>
          <a:ln>
            <a:noFill/>
          </a:ln>
        </p:spPr>
        <p:txBody>
          <a:bodyPr wrap="square" lIns="91440" tIns="45720" rIns="91440" bIns="4572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dirty="0">
                <a:solidFill>
                  <a:srgbClr val="000000"/>
                </a:solidFill>
                <a:ea typeface="游ゴシック"/>
                <a:cs typeface="+mn-lt"/>
              </a:rPr>
              <a:t>AWS Certified Solutions Architect - Associate</a:t>
            </a:r>
            <a:endParaRPr lang="ja-JP" sz="1400" dirty="0">
              <a:solidFill>
                <a:srgbClr val="000000"/>
              </a:solidFill>
              <a:latin typeface="游ゴシック"/>
              <a:ea typeface="游ゴシック"/>
              <a:cs typeface="+mn-lt"/>
            </a:endParaRPr>
          </a:p>
        </p:txBody>
      </p:sp>
    </p:spTree>
    <p:extLst>
      <p:ext uri="{BB962C8B-B14F-4D97-AF65-F5344CB8AC3E}">
        <p14:creationId xmlns:p14="http://schemas.microsoft.com/office/powerpoint/2010/main" val="3325407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277DD-8C69-67BC-874A-2E709F5C645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E4290DC-46D0-9A48-4BAF-C95C574E1F0C}"/>
              </a:ext>
            </a:extLst>
          </p:cNvPr>
          <p:cNvSpPr>
            <a:spLocks noGrp="1"/>
          </p:cNvSpPr>
          <p:nvPr>
            <p:ph type="title"/>
          </p:nvPr>
        </p:nvSpPr>
        <p:spPr>
          <a:xfrm>
            <a:off x="335360" y="116632"/>
            <a:ext cx="8382944" cy="468054"/>
          </a:xfrm>
        </p:spPr>
        <p:txBody>
          <a:bodyPr>
            <a:normAutofit/>
          </a:bodyPr>
          <a:lstStyle/>
          <a:p>
            <a:r>
              <a:rPr lang="ja-JP" altLang="en-US" dirty="0"/>
              <a:t>対応ケース①：</a:t>
            </a:r>
            <a:r>
              <a:rPr lang="en-US" altLang="ja-JP" dirty="0"/>
              <a:t>S3 </a:t>
            </a:r>
            <a:r>
              <a:rPr lang="ja-JP" altLang="en-US" dirty="0"/>
              <a:t>アップロード制御に関する </a:t>
            </a:r>
            <a:r>
              <a:rPr lang="en-US" altLang="ja-JP" dirty="0"/>
              <a:t>IAM </a:t>
            </a:r>
            <a:r>
              <a:rPr lang="ja-JP" altLang="en-US" dirty="0"/>
              <a:t>設計</a:t>
            </a:r>
            <a:endParaRPr kumimoji="1" lang="ja-JP" altLang="en-US" dirty="0">
              <a:latin typeface="游ゴシック"/>
              <a:ea typeface="游ゴシック"/>
            </a:endParaRPr>
          </a:p>
        </p:txBody>
      </p:sp>
      <p:sp>
        <p:nvSpPr>
          <p:cNvPr id="4" name="スライド番号プレースホルダー 3">
            <a:extLst>
              <a:ext uri="{FF2B5EF4-FFF2-40B4-BE49-F238E27FC236}">
                <a16:creationId xmlns:a16="http://schemas.microsoft.com/office/drawing/2014/main" id="{9CF9EFE2-1610-C9A4-28A5-4DEC429AA494}"/>
              </a:ext>
            </a:extLst>
          </p:cNvPr>
          <p:cNvSpPr>
            <a:spLocks noGrp="1"/>
          </p:cNvSpPr>
          <p:nvPr>
            <p:ph type="sldNum" sz="quarter" idx="12"/>
          </p:nvPr>
        </p:nvSpPr>
        <p:spPr>
          <a:xfrm>
            <a:off x="8113409" y="6573744"/>
            <a:ext cx="3245164" cy="174885"/>
          </a:xfrm>
        </p:spPr>
        <p:txBody>
          <a:bodyPr/>
          <a:lstStyle/>
          <a:p>
            <a:fld id="{42C06FF3-EDEF-40D9-844B-E8BDE887AEB1}" type="slidenum">
              <a:rPr lang="ja-JP" altLang="en-US" smtClean="0"/>
              <a:pPr/>
              <a:t>4</a:t>
            </a:fld>
            <a:endParaRPr lang="ja-JP" altLang="en-US"/>
          </a:p>
        </p:txBody>
      </p:sp>
      <p:sp>
        <p:nvSpPr>
          <p:cNvPr id="11" name="コンテンツ プレースホルダー 10">
            <a:extLst>
              <a:ext uri="{FF2B5EF4-FFF2-40B4-BE49-F238E27FC236}">
                <a16:creationId xmlns:a16="http://schemas.microsoft.com/office/drawing/2014/main" id="{17A6A31E-96C1-3CDD-BEBD-02B43BA902FA}"/>
              </a:ext>
            </a:extLst>
          </p:cNvPr>
          <p:cNvSpPr>
            <a:spLocks noGrp="1"/>
          </p:cNvSpPr>
          <p:nvPr>
            <p:ph idx="1"/>
          </p:nvPr>
        </p:nvSpPr>
        <p:spPr>
          <a:xfrm>
            <a:off x="165029" y="720218"/>
            <a:ext cx="6110264" cy="977954"/>
          </a:xfrm>
        </p:spPr>
        <p:txBody>
          <a:bodyPr/>
          <a:lstStyle/>
          <a:p>
            <a:pPr>
              <a:lnSpc>
                <a:spcPct val="100000"/>
              </a:lnSpc>
              <a:spcAft>
                <a:spcPts val="0"/>
              </a:spcAft>
            </a:pPr>
            <a:r>
              <a:rPr lang="ja-JP" altLang="en-US" sz="1400" dirty="0"/>
              <a:t>■ 問い合わせ内容</a:t>
            </a:r>
            <a:endParaRPr lang="en-US" altLang="ja-JP" sz="1400" dirty="0"/>
          </a:p>
          <a:p>
            <a:pPr>
              <a:lnSpc>
                <a:spcPct val="100000"/>
              </a:lnSpc>
              <a:spcAft>
                <a:spcPts val="0"/>
              </a:spcAft>
            </a:pPr>
            <a:endParaRPr lang="en-US" altLang="ja-JP" sz="900" dirty="0"/>
          </a:p>
          <a:p>
            <a:pPr>
              <a:lnSpc>
                <a:spcPct val="100000"/>
              </a:lnSpc>
              <a:spcAft>
                <a:spcPts val="0"/>
              </a:spcAft>
            </a:pPr>
            <a:r>
              <a:rPr lang="en-US" altLang="ja-JP" sz="1100" dirty="0"/>
              <a:t>- </a:t>
            </a:r>
            <a:r>
              <a:rPr lang="ja-JP" altLang="en-US" sz="1100" dirty="0"/>
              <a:t>検証環境で </a:t>
            </a:r>
            <a:r>
              <a:rPr lang="en-US" altLang="ja-JP" sz="1100" dirty="0"/>
              <a:t>S3 </a:t>
            </a:r>
            <a:r>
              <a:rPr lang="ja-JP" altLang="en-US" sz="1100" dirty="0"/>
              <a:t>アップロードを禁止したい</a:t>
            </a:r>
          </a:p>
          <a:p>
            <a:pPr>
              <a:lnSpc>
                <a:spcPct val="100000"/>
              </a:lnSpc>
              <a:spcAft>
                <a:spcPts val="0"/>
              </a:spcAft>
            </a:pPr>
            <a:r>
              <a:rPr lang="en-US" altLang="ja-JP" sz="1100" dirty="0"/>
              <a:t>- </a:t>
            </a:r>
            <a:r>
              <a:rPr lang="en-US" altLang="ja-JP" sz="1100" dirty="0" err="1"/>
              <a:t>ReadOnlyAccess</a:t>
            </a:r>
            <a:r>
              <a:rPr lang="en-US" altLang="ja-JP" sz="1100" dirty="0"/>
              <a:t> </a:t>
            </a:r>
            <a:r>
              <a:rPr lang="ja-JP" altLang="en-US" sz="1100" dirty="0"/>
              <a:t>や </a:t>
            </a:r>
            <a:r>
              <a:rPr lang="en-US" altLang="ja-JP" sz="1100" dirty="0" err="1"/>
              <a:t>AdministratorAccess</a:t>
            </a:r>
            <a:r>
              <a:rPr lang="en-US" altLang="ja-JP" sz="1100" dirty="0"/>
              <a:t> + S3ReadOnlyAccess </a:t>
            </a:r>
            <a:r>
              <a:rPr lang="ja-JP" altLang="en-US" sz="1100" dirty="0"/>
              <a:t>の挙動確認</a:t>
            </a:r>
          </a:p>
          <a:p>
            <a:pPr>
              <a:lnSpc>
                <a:spcPct val="100000"/>
              </a:lnSpc>
              <a:spcAft>
                <a:spcPts val="0"/>
              </a:spcAft>
            </a:pPr>
            <a:r>
              <a:rPr lang="en-US" altLang="ja-JP" sz="1100" dirty="0"/>
              <a:t>- </a:t>
            </a:r>
            <a:r>
              <a:rPr lang="en-US" altLang="ja-JP" sz="1100" dirty="0" err="1"/>
              <a:t>AdministratorAccess</a:t>
            </a:r>
            <a:r>
              <a:rPr lang="ja-JP" altLang="en-US" sz="1100" dirty="0"/>
              <a:t>＋</a:t>
            </a:r>
            <a:r>
              <a:rPr lang="en-US" altLang="ja-JP" sz="1100" dirty="0"/>
              <a:t>S3ReadOnlyAccess </a:t>
            </a:r>
            <a:r>
              <a:rPr lang="ja-JP" altLang="en-US" sz="1100" dirty="0"/>
              <a:t>の組み合わせの可否を確認したい</a:t>
            </a:r>
          </a:p>
        </p:txBody>
      </p:sp>
      <p:sp>
        <p:nvSpPr>
          <p:cNvPr id="19" name="コンテンツ プレースホルダー 10">
            <a:extLst>
              <a:ext uri="{FF2B5EF4-FFF2-40B4-BE49-F238E27FC236}">
                <a16:creationId xmlns:a16="http://schemas.microsoft.com/office/drawing/2014/main" id="{C9AE140D-EA00-DF4A-CDF3-B3F0EBAF0F9B}"/>
              </a:ext>
            </a:extLst>
          </p:cNvPr>
          <p:cNvSpPr txBox="1">
            <a:spLocks/>
          </p:cNvSpPr>
          <p:nvPr/>
        </p:nvSpPr>
        <p:spPr>
          <a:xfrm>
            <a:off x="165029" y="2204125"/>
            <a:ext cx="5760642" cy="4279023"/>
          </a:xfrm>
          <a:prstGeom prst="rect">
            <a:avLst/>
          </a:prstGeom>
        </p:spPr>
        <p:txBody>
          <a:bodyPr vert="horz" lIns="0" tIns="0" rIns="0" bIns="0" rtlCol="0">
            <a:noAutofit/>
          </a:bodyPr>
          <a:lstStyle>
            <a:lvl1pPr marL="0" indent="0" algn="l" defTabSz="914400" rtl="0" eaLnBrk="1" latinLnBrk="0" hangingPunct="1">
              <a:lnSpc>
                <a:spcPts val="3200"/>
              </a:lnSpc>
              <a:spcBef>
                <a:spcPts val="0"/>
              </a:spcBef>
              <a:spcAft>
                <a:spcPts val="800"/>
              </a:spcAft>
              <a:buFont typeface="Arial" panose="020B0604020202020204" pitchFamily="34" charset="0"/>
              <a:buNone/>
              <a:defRPr kumimoji="1" sz="3200" b="1" kern="1200">
                <a:solidFill>
                  <a:schemeClr val="tx1"/>
                </a:solidFill>
                <a:latin typeface="+mn-ea"/>
                <a:ea typeface="+mn-ea"/>
                <a:cs typeface="+mn-cs"/>
              </a:defRPr>
            </a:lvl1pPr>
            <a:lvl2pPr marL="685800" indent="-228600" algn="l" defTabSz="914400" rtl="0" eaLnBrk="1" latinLnBrk="0" hangingPunct="1">
              <a:lnSpc>
                <a:spcPts val="2800"/>
              </a:lnSpc>
              <a:spcBef>
                <a:spcPts val="0"/>
              </a:spcBef>
              <a:spcAft>
                <a:spcPts val="0"/>
              </a:spcAft>
              <a:buFont typeface="Arial" panose="020B0604020202020204" pitchFamily="34" charset="0"/>
              <a:buChar char="•"/>
              <a:defRPr kumimoji="1" sz="2000" b="1" kern="1200">
                <a:solidFill>
                  <a:schemeClr val="tx1"/>
                </a:solidFill>
                <a:latin typeface="+mn-ea"/>
                <a:ea typeface="+mn-ea"/>
                <a:cs typeface="+mn-cs"/>
              </a:defRPr>
            </a:lvl2pPr>
            <a:lvl3pPr marL="1143000" indent="-228600" algn="l" defTabSz="914400" rtl="0" eaLnBrk="1" latinLnBrk="0" hangingPunct="1">
              <a:lnSpc>
                <a:spcPts val="2400"/>
              </a:lnSpc>
              <a:spcBef>
                <a:spcPts val="0"/>
              </a:spcBef>
              <a:spcAft>
                <a:spcPts val="0"/>
              </a:spcAft>
              <a:buFont typeface="Arial" panose="020B0604020202020204" pitchFamily="34" charset="0"/>
              <a:buChar char="•"/>
              <a:defRPr kumimoji="1" sz="1800" kern="1200">
                <a:solidFill>
                  <a:schemeClr val="tx1"/>
                </a:solidFill>
                <a:latin typeface="+mn-ea"/>
                <a:ea typeface="+mn-ea"/>
                <a:cs typeface="+mn-cs"/>
              </a:defRPr>
            </a:lvl3pPr>
            <a:lvl4pPr marL="1600200" indent="-228600" algn="l" defTabSz="914400" rtl="0" eaLnBrk="1" latinLnBrk="0" hangingPunct="1">
              <a:lnSpc>
                <a:spcPts val="2400"/>
              </a:lnSpc>
              <a:spcBef>
                <a:spcPts val="0"/>
              </a:spcBef>
              <a:buFont typeface="Arial" panose="020B0604020202020204" pitchFamily="34" charset="0"/>
              <a:buChar char="•"/>
              <a:defRPr kumimoji="1" sz="1600" kern="1200">
                <a:solidFill>
                  <a:schemeClr val="tx1"/>
                </a:solidFill>
                <a:latin typeface="+mn-ea"/>
                <a:ea typeface="+mn-ea"/>
                <a:cs typeface="+mn-cs"/>
              </a:defRPr>
            </a:lvl4pPr>
            <a:lvl5pPr marL="2057400" indent="-228600" algn="l" defTabSz="914400" rtl="0" eaLnBrk="1" latinLnBrk="0" hangingPunct="1">
              <a:lnSpc>
                <a:spcPts val="2000"/>
              </a:lnSpc>
              <a:spcBef>
                <a:spcPts val="0"/>
              </a:spcBef>
              <a:buFont typeface="Arial" panose="020B0604020202020204" pitchFamily="34" charset="0"/>
              <a:buChar char="•"/>
              <a:defRPr kumimoji="1"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spcAft>
                <a:spcPts val="0"/>
              </a:spcAft>
            </a:pPr>
            <a:r>
              <a:rPr lang="ja-JP" altLang="en-US" sz="1400" dirty="0"/>
              <a:t>■ 調査結果及び回答（公式ドキュメント準拠）</a:t>
            </a:r>
            <a:endParaRPr lang="en-US" altLang="ja-JP" sz="1400" dirty="0"/>
          </a:p>
          <a:p>
            <a:pPr>
              <a:lnSpc>
                <a:spcPct val="100000"/>
              </a:lnSpc>
              <a:spcAft>
                <a:spcPts val="0"/>
              </a:spcAft>
            </a:pPr>
            <a:endParaRPr lang="en-US" altLang="ja-JP" sz="900" dirty="0"/>
          </a:p>
          <a:p>
            <a:pPr>
              <a:lnSpc>
                <a:spcPct val="100000"/>
              </a:lnSpc>
              <a:spcAft>
                <a:spcPts val="0"/>
              </a:spcAft>
            </a:pPr>
            <a:r>
              <a:rPr lang="ja-JP" altLang="en-US" sz="1100" dirty="0"/>
              <a:t>① </a:t>
            </a:r>
            <a:r>
              <a:rPr lang="en-US" altLang="ja-JP" sz="1100" dirty="0" err="1"/>
              <a:t>ReadOnlyAccess</a:t>
            </a:r>
            <a:r>
              <a:rPr lang="en-US" altLang="ja-JP" sz="1100" dirty="0"/>
              <a:t> </a:t>
            </a:r>
            <a:r>
              <a:rPr lang="ja-JP" altLang="en-US" sz="1100" dirty="0"/>
              <a:t>＋ </a:t>
            </a:r>
            <a:r>
              <a:rPr lang="en-US" altLang="ja-JP" sz="1100" dirty="0"/>
              <a:t>IAM </a:t>
            </a:r>
            <a:r>
              <a:rPr lang="ja-JP" altLang="en-US" sz="1100" dirty="0"/>
              <a:t>制限ポリシー</a:t>
            </a:r>
          </a:p>
          <a:p>
            <a:pPr>
              <a:lnSpc>
                <a:spcPct val="100000"/>
              </a:lnSpc>
              <a:spcAft>
                <a:spcPts val="0"/>
              </a:spcAft>
            </a:pPr>
            <a:r>
              <a:rPr lang="en-US" altLang="ja-JP" sz="1100" dirty="0"/>
              <a:t>AWS</a:t>
            </a:r>
            <a:r>
              <a:rPr lang="ja-JP" altLang="en-US" sz="1100" dirty="0"/>
              <a:t>公式のポリシー評価ロジック</a:t>
            </a:r>
          </a:p>
          <a:p>
            <a:pPr>
              <a:lnSpc>
                <a:spcPct val="100000"/>
              </a:lnSpc>
              <a:spcAft>
                <a:spcPts val="0"/>
              </a:spcAft>
            </a:pPr>
            <a:r>
              <a:rPr lang="ja-JP" altLang="en-US" sz="1100" dirty="0"/>
              <a:t>「明示的 </a:t>
            </a:r>
            <a:r>
              <a:rPr lang="en-US" altLang="ja-JP" sz="1100" dirty="0"/>
              <a:t>Deny </a:t>
            </a:r>
            <a:r>
              <a:rPr lang="ja-JP" altLang="en-US" sz="1100" dirty="0"/>
              <a:t>＞ </a:t>
            </a:r>
            <a:r>
              <a:rPr lang="en-US" altLang="ja-JP" sz="1100" dirty="0"/>
              <a:t>Allow </a:t>
            </a:r>
            <a:r>
              <a:rPr lang="ja-JP" altLang="en-US" sz="1100" dirty="0"/>
              <a:t>＞ 暗黙的 </a:t>
            </a:r>
            <a:r>
              <a:rPr lang="en-US" altLang="ja-JP" sz="1100" dirty="0"/>
              <a:t>Deny</a:t>
            </a:r>
            <a:r>
              <a:rPr lang="ja-JP" altLang="en-US" sz="1100" dirty="0"/>
              <a:t>」</a:t>
            </a:r>
          </a:p>
          <a:p>
            <a:pPr>
              <a:lnSpc>
                <a:spcPct val="100000"/>
              </a:lnSpc>
              <a:spcAft>
                <a:spcPts val="0"/>
              </a:spcAft>
            </a:pPr>
            <a:r>
              <a:rPr lang="ja-JP" altLang="en-US" sz="1100" dirty="0"/>
              <a:t>に基づき回答。</a:t>
            </a:r>
          </a:p>
          <a:p>
            <a:pPr>
              <a:lnSpc>
                <a:spcPct val="100000"/>
              </a:lnSpc>
              <a:spcAft>
                <a:spcPts val="0"/>
              </a:spcAft>
            </a:pPr>
            <a:endParaRPr lang="ja-JP" altLang="en-US" sz="1100" dirty="0"/>
          </a:p>
          <a:p>
            <a:pPr>
              <a:lnSpc>
                <a:spcPct val="100000"/>
              </a:lnSpc>
              <a:spcAft>
                <a:spcPts val="0"/>
              </a:spcAft>
            </a:pPr>
            <a:r>
              <a:rPr lang="en-US" altLang="ja-JP" sz="1100" dirty="0" err="1"/>
              <a:t>ReadOnlyAccess</a:t>
            </a:r>
            <a:r>
              <a:rPr lang="en-US" altLang="ja-JP" sz="1100" dirty="0"/>
              <a:t> </a:t>
            </a:r>
            <a:r>
              <a:rPr lang="ja-JP" altLang="en-US" sz="1100" dirty="0"/>
              <a:t>と </a:t>
            </a:r>
            <a:r>
              <a:rPr lang="en-US" altLang="ja-JP" sz="1100" dirty="0"/>
              <a:t>IAM </a:t>
            </a:r>
            <a:r>
              <a:rPr lang="ja-JP" altLang="en-US" sz="1100" dirty="0"/>
              <a:t>制限ポリシーでは</a:t>
            </a:r>
          </a:p>
          <a:p>
            <a:pPr>
              <a:lnSpc>
                <a:spcPct val="100000"/>
              </a:lnSpc>
              <a:spcAft>
                <a:spcPts val="0"/>
              </a:spcAft>
            </a:pPr>
            <a:r>
              <a:rPr lang="en-US" altLang="ja-JP" sz="1100" dirty="0"/>
              <a:t>S3 </a:t>
            </a:r>
            <a:r>
              <a:rPr lang="ja-JP" altLang="en-US" sz="1100" dirty="0"/>
              <a:t>アップロードは暗黙的 </a:t>
            </a:r>
            <a:r>
              <a:rPr lang="en-US" altLang="ja-JP" sz="1100" dirty="0"/>
              <a:t>Deny → </a:t>
            </a:r>
            <a:r>
              <a:rPr lang="ja-JP" altLang="en-US" sz="1100" dirty="0"/>
              <a:t>アップロード不可</a:t>
            </a:r>
          </a:p>
          <a:p>
            <a:pPr>
              <a:lnSpc>
                <a:spcPct val="100000"/>
              </a:lnSpc>
              <a:spcAft>
                <a:spcPts val="0"/>
              </a:spcAft>
            </a:pPr>
            <a:r>
              <a:rPr lang="ja-JP" altLang="en-US" sz="1100" dirty="0"/>
              <a:t>お客様の認識は正しいと確認</a:t>
            </a:r>
          </a:p>
          <a:p>
            <a:pPr>
              <a:lnSpc>
                <a:spcPct val="100000"/>
              </a:lnSpc>
              <a:spcAft>
                <a:spcPts val="0"/>
              </a:spcAft>
            </a:pPr>
            <a:endParaRPr lang="en-US" altLang="ja-JP" sz="1100" dirty="0"/>
          </a:p>
          <a:p>
            <a:pPr>
              <a:lnSpc>
                <a:spcPct val="100000"/>
              </a:lnSpc>
              <a:spcAft>
                <a:spcPts val="0"/>
              </a:spcAft>
            </a:pPr>
            <a:r>
              <a:rPr lang="ja-JP" altLang="en-US" sz="1100" dirty="0"/>
              <a:t>② </a:t>
            </a:r>
            <a:r>
              <a:rPr lang="en-US" altLang="ja-JP" sz="1100" dirty="0" err="1"/>
              <a:t>AdministratorAccess</a:t>
            </a:r>
            <a:r>
              <a:rPr lang="en-US" altLang="ja-JP" sz="1100" dirty="0"/>
              <a:t> </a:t>
            </a:r>
            <a:r>
              <a:rPr lang="ja-JP" altLang="en-US" sz="1100" dirty="0"/>
              <a:t>＋ </a:t>
            </a:r>
            <a:r>
              <a:rPr lang="en-US" altLang="ja-JP" sz="1100" dirty="0"/>
              <a:t>S3ReadOnlyAccess</a:t>
            </a:r>
          </a:p>
          <a:p>
            <a:pPr>
              <a:lnSpc>
                <a:spcPct val="100000"/>
              </a:lnSpc>
              <a:spcAft>
                <a:spcPts val="0"/>
              </a:spcAft>
            </a:pPr>
            <a:r>
              <a:rPr lang="en-US" altLang="ja-JP" sz="1100" dirty="0" err="1"/>
              <a:t>AdministratorAccess</a:t>
            </a:r>
            <a:r>
              <a:rPr lang="en-US" altLang="ja-JP" sz="1100" dirty="0"/>
              <a:t> </a:t>
            </a:r>
            <a:r>
              <a:rPr lang="ja-JP" altLang="en-US" sz="1100" dirty="0"/>
              <a:t>に 明示的 </a:t>
            </a:r>
            <a:r>
              <a:rPr lang="en-US" altLang="ja-JP" sz="1100" dirty="0"/>
              <a:t>Deny </a:t>
            </a:r>
            <a:r>
              <a:rPr lang="ja-JP" altLang="en-US" sz="1100" dirty="0"/>
              <a:t>が無い場合、アップロードは許可される</a:t>
            </a:r>
          </a:p>
          <a:p>
            <a:pPr>
              <a:lnSpc>
                <a:spcPct val="100000"/>
              </a:lnSpc>
              <a:spcAft>
                <a:spcPts val="0"/>
              </a:spcAft>
            </a:pPr>
            <a:r>
              <a:rPr lang="en-US" altLang="ja-JP" sz="1100" dirty="0"/>
              <a:t>S3ReadOnlyAccess </a:t>
            </a:r>
            <a:r>
              <a:rPr lang="ja-JP" altLang="en-US" sz="1100" dirty="0"/>
              <a:t>は「追加の許可を増やす」だけで</a:t>
            </a:r>
          </a:p>
          <a:p>
            <a:pPr>
              <a:lnSpc>
                <a:spcPct val="100000"/>
              </a:lnSpc>
              <a:spcAft>
                <a:spcPts val="0"/>
              </a:spcAft>
            </a:pPr>
            <a:r>
              <a:rPr lang="en-US" altLang="ja-JP" sz="1100" dirty="0"/>
              <a:t>Admin </a:t>
            </a:r>
            <a:r>
              <a:rPr lang="ja-JP" altLang="en-US" sz="1100" dirty="0"/>
              <a:t>の権限を制限するものではない</a:t>
            </a:r>
          </a:p>
          <a:p>
            <a:pPr>
              <a:lnSpc>
                <a:spcPct val="100000"/>
              </a:lnSpc>
              <a:spcAft>
                <a:spcPts val="0"/>
              </a:spcAft>
            </a:pPr>
            <a:endParaRPr lang="en-US" altLang="ja-JP" sz="1100" dirty="0"/>
          </a:p>
          <a:p>
            <a:pPr>
              <a:lnSpc>
                <a:spcPct val="100000"/>
              </a:lnSpc>
              <a:spcAft>
                <a:spcPts val="0"/>
              </a:spcAft>
            </a:pPr>
            <a:r>
              <a:rPr lang="ja-JP" altLang="en-US" sz="1100" dirty="0"/>
              <a:t>③ </a:t>
            </a:r>
            <a:r>
              <a:rPr lang="en-US" altLang="ja-JP" sz="1100" dirty="0"/>
              <a:t>S3 </a:t>
            </a:r>
            <a:r>
              <a:rPr lang="ja-JP" altLang="en-US" sz="1100" dirty="0"/>
              <a:t>アップロード禁止を確実に行う方法</a:t>
            </a:r>
          </a:p>
          <a:p>
            <a:pPr>
              <a:lnSpc>
                <a:spcPct val="100000"/>
              </a:lnSpc>
              <a:spcAft>
                <a:spcPts val="0"/>
              </a:spcAft>
            </a:pPr>
            <a:r>
              <a:rPr lang="ja-JP" altLang="en-US" sz="1100" dirty="0"/>
              <a:t>推奨構成：</a:t>
            </a:r>
          </a:p>
          <a:p>
            <a:pPr>
              <a:lnSpc>
                <a:spcPct val="100000"/>
              </a:lnSpc>
              <a:spcAft>
                <a:spcPts val="0"/>
              </a:spcAft>
            </a:pPr>
            <a:endParaRPr lang="ja-JP" altLang="en-US" sz="1100" dirty="0"/>
          </a:p>
          <a:p>
            <a:pPr>
              <a:lnSpc>
                <a:spcPct val="100000"/>
              </a:lnSpc>
              <a:spcAft>
                <a:spcPts val="0"/>
              </a:spcAft>
            </a:pPr>
            <a:r>
              <a:rPr lang="en-US" altLang="ja-JP" sz="1100" dirty="0" err="1"/>
              <a:t>AdministratorAccess</a:t>
            </a:r>
            <a:r>
              <a:rPr lang="en-US" altLang="ja-JP" sz="1100" dirty="0"/>
              <a:t> </a:t>
            </a:r>
            <a:r>
              <a:rPr lang="ja-JP" altLang="en-US" sz="1100" dirty="0"/>
              <a:t>または </a:t>
            </a:r>
            <a:r>
              <a:rPr lang="en-US" altLang="ja-JP" sz="1100" dirty="0" err="1"/>
              <a:t>PowerUserAccess</a:t>
            </a:r>
            <a:endParaRPr lang="en-US" altLang="ja-JP" sz="1100" dirty="0"/>
          </a:p>
          <a:p>
            <a:pPr>
              <a:lnSpc>
                <a:spcPct val="100000"/>
              </a:lnSpc>
              <a:spcAft>
                <a:spcPts val="0"/>
              </a:spcAft>
            </a:pPr>
            <a:r>
              <a:rPr lang="ja-JP" altLang="en-US" sz="1100" dirty="0"/>
              <a:t>＋ アップロード操作（</a:t>
            </a:r>
            <a:r>
              <a:rPr lang="en-US" altLang="ja-JP" sz="1100" dirty="0"/>
              <a:t>s3:PutObject </a:t>
            </a:r>
            <a:r>
              <a:rPr lang="ja-JP" altLang="en-US" sz="1100" dirty="0"/>
              <a:t>など）を 明示的 </a:t>
            </a:r>
            <a:r>
              <a:rPr lang="en-US" altLang="ja-JP" sz="1100" dirty="0"/>
              <a:t>Deny </a:t>
            </a:r>
            <a:r>
              <a:rPr lang="ja-JP" altLang="en-US" sz="1100" dirty="0"/>
              <a:t>するカスタムポリシー</a:t>
            </a:r>
          </a:p>
          <a:p>
            <a:pPr>
              <a:lnSpc>
                <a:spcPct val="100000"/>
              </a:lnSpc>
              <a:spcAft>
                <a:spcPts val="0"/>
              </a:spcAft>
            </a:pPr>
            <a:r>
              <a:rPr lang="ja-JP" altLang="en-US" sz="1100" dirty="0"/>
              <a:t>→ 明示的 </a:t>
            </a:r>
            <a:r>
              <a:rPr lang="en-US" altLang="ja-JP" sz="1100" dirty="0"/>
              <a:t>Deny </a:t>
            </a:r>
            <a:r>
              <a:rPr lang="ja-JP" altLang="en-US" sz="1100" dirty="0"/>
              <a:t>が最優先で評価されるため、アップロード禁止が確実。</a:t>
            </a:r>
          </a:p>
          <a:p>
            <a:pPr>
              <a:lnSpc>
                <a:spcPct val="100000"/>
              </a:lnSpc>
              <a:spcAft>
                <a:spcPts val="0"/>
              </a:spcAft>
            </a:pPr>
            <a:endParaRPr lang="ja-JP" altLang="en-US" sz="1600" dirty="0"/>
          </a:p>
        </p:txBody>
      </p:sp>
      <p:sp>
        <p:nvSpPr>
          <p:cNvPr id="20" name="コンテンツ プレースホルダー 10">
            <a:extLst>
              <a:ext uri="{FF2B5EF4-FFF2-40B4-BE49-F238E27FC236}">
                <a16:creationId xmlns:a16="http://schemas.microsoft.com/office/drawing/2014/main" id="{44F025D2-B710-5A2A-2006-C6236A2E66A9}"/>
              </a:ext>
            </a:extLst>
          </p:cNvPr>
          <p:cNvSpPr txBox="1">
            <a:spLocks/>
          </p:cNvSpPr>
          <p:nvPr/>
        </p:nvSpPr>
        <p:spPr>
          <a:xfrm>
            <a:off x="5834885" y="5513476"/>
            <a:ext cx="6110264" cy="858642"/>
          </a:xfrm>
          <a:prstGeom prst="rect">
            <a:avLst/>
          </a:prstGeom>
        </p:spPr>
        <p:txBody>
          <a:bodyPr vert="horz" lIns="0" tIns="0" rIns="0" bIns="0" rtlCol="0">
            <a:noAutofit/>
          </a:bodyPr>
          <a:lstStyle>
            <a:lvl1pPr marL="0" indent="0" algn="l" defTabSz="914400" rtl="0" eaLnBrk="1" latinLnBrk="0" hangingPunct="1">
              <a:lnSpc>
                <a:spcPts val="3200"/>
              </a:lnSpc>
              <a:spcBef>
                <a:spcPts val="0"/>
              </a:spcBef>
              <a:spcAft>
                <a:spcPts val="800"/>
              </a:spcAft>
              <a:buFont typeface="Arial" panose="020B0604020202020204" pitchFamily="34" charset="0"/>
              <a:buNone/>
              <a:defRPr kumimoji="1" sz="3200" b="1" kern="1200">
                <a:solidFill>
                  <a:schemeClr val="tx1"/>
                </a:solidFill>
                <a:latin typeface="+mn-ea"/>
                <a:ea typeface="+mn-ea"/>
                <a:cs typeface="+mn-cs"/>
              </a:defRPr>
            </a:lvl1pPr>
            <a:lvl2pPr marL="685800" indent="-228600" algn="l" defTabSz="914400" rtl="0" eaLnBrk="1" latinLnBrk="0" hangingPunct="1">
              <a:lnSpc>
                <a:spcPts val="2800"/>
              </a:lnSpc>
              <a:spcBef>
                <a:spcPts val="0"/>
              </a:spcBef>
              <a:spcAft>
                <a:spcPts val="0"/>
              </a:spcAft>
              <a:buFont typeface="Arial" panose="020B0604020202020204" pitchFamily="34" charset="0"/>
              <a:buChar char="•"/>
              <a:defRPr kumimoji="1" sz="2000" b="1" kern="1200">
                <a:solidFill>
                  <a:schemeClr val="tx1"/>
                </a:solidFill>
                <a:latin typeface="+mn-ea"/>
                <a:ea typeface="+mn-ea"/>
                <a:cs typeface="+mn-cs"/>
              </a:defRPr>
            </a:lvl2pPr>
            <a:lvl3pPr marL="1143000" indent="-228600" algn="l" defTabSz="914400" rtl="0" eaLnBrk="1" latinLnBrk="0" hangingPunct="1">
              <a:lnSpc>
                <a:spcPts val="2400"/>
              </a:lnSpc>
              <a:spcBef>
                <a:spcPts val="0"/>
              </a:spcBef>
              <a:spcAft>
                <a:spcPts val="0"/>
              </a:spcAft>
              <a:buFont typeface="Arial" panose="020B0604020202020204" pitchFamily="34" charset="0"/>
              <a:buChar char="•"/>
              <a:defRPr kumimoji="1" sz="1800" kern="1200">
                <a:solidFill>
                  <a:schemeClr val="tx1"/>
                </a:solidFill>
                <a:latin typeface="+mn-ea"/>
                <a:ea typeface="+mn-ea"/>
                <a:cs typeface="+mn-cs"/>
              </a:defRPr>
            </a:lvl3pPr>
            <a:lvl4pPr marL="1600200" indent="-228600" algn="l" defTabSz="914400" rtl="0" eaLnBrk="1" latinLnBrk="0" hangingPunct="1">
              <a:lnSpc>
                <a:spcPts val="2400"/>
              </a:lnSpc>
              <a:spcBef>
                <a:spcPts val="0"/>
              </a:spcBef>
              <a:buFont typeface="Arial" panose="020B0604020202020204" pitchFamily="34" charset="0"/>
              <a:buChar char="•"/>
              <a:defRPr kumimoji="1" sz="1600" kern="1200">
                <a:solidFill>
                  <a:schemeClr val="tx1"/>
                </a:solidFill>
                <a:latin typeface="+mn-ea"/>
                <a:ea typeface="+mn-ea"/>
                <a:cs typeface="+mn-cs"/>
              </a:defRPr>
            </a:lvl4pPr>
            <a:lvl5pPr marL="2057400" indent="-228600" algn="l" defTabSz="914400" rtl="0" eaLnBrk="1" latinLnBrk="0" hangingPunct="1">
              <a:lnSpc>
                <a:spcPts val="2000"/>
              </a:lnSpc>
              <a:spcBef>
                <a:spcPts val="0"/>
              </a:spcBef>
              <a:buFont typeface="Arial" panose="020B0604020202020204" pitchFamily="34" charset="0"/>
              <a:buChar char="•"/>
              <a:defRPr kumimoji="1"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spcAft>
                <a:spcPts val="0"/>
              </a:spcAft>
            </a:pPr>
            <a:r>
              <a:rPr lang="ja-JP" altLang="en-US" sz="1400" dirty="0"/>
              <a:t>■最終結論（お客様側）</a:t>
            </a:r>
            <a:endParaRPr lang="en-US" altLang="ja-JP" sz="1400" dirty="0"/>
          </a:p>
          <a:p>
            <a:pPr>
              <a:lnSpc>
                <a:spcPct val="100000"/>
              </a:lnSpc>
              <a:spcAft>
                <a:spcPts val="0"/>
              </a:spcAft>
            </a:pPr>
            <a:endParaRPr lang="ja-JP" altLang="en-US" sz="900" dirty="0"/>
          </a:p>
          <a:p>
            <a:pPr>
              <a:lnSpc>
                <a:spcPct val="100000"/>
              </a:lnSpc>
              <a:spcAft>
                <a:spcPts val="0"/>
              </a:spcAft>
            </a:pPr>
            <a:r>
              <a:rPr lang="ja-JP" altLang="en-US" sz="1100" dirty="0"/>
              <a:t>「</a:t>
            </a:r>
            <a:r>
              <a:rPr lang="en-US" altLang="ja-JP" sz="1100" dirty="0" err="1"/>
              <a:t>PowerUserAccess</a:t>
            </a:r>
            <a:r>
              <a:rPr lang="ja-JP" altLang="en-US" sz="1100" dirty="0"/>
              <a:t>＋</a:t>
            </a:r>
            <a:r>
              <a:rPr lang="en-US" altLang="ja-JP" sz="1100" dirty="0"/>
              <a:t>S3</a:t>
            </a:r>
            <a:r>
              <a:rPr lang="ja-JP" altLang="en-US" sz="1100" dirty="0"/>
              <a:t>アップロード禁止のカスタムポリシー」で対応する方針とするとのことで問い合わせクローズ。</a:t>
            </a:r>
          </a:p>
        </p:txBody>
      </p:sp>
      <p:sp>
        <p:nvSpPr>
          <p:cNvPr id="3" name="コンテンツ プレースホルダー 10">
            <a:extLst>
              <a:ext uri="{FF2B5EF4-FFF2-40B4-BE49-F238E27FC236}">
                <a16:creationId xmlns:a16="http://schemas.microsoft.com/office/drawing/2014/main" id="{317204A3-4EB7-9F90-0EB9-552DD1E1EF91}"/>
              </a:ext>
            </a:extLst>
          </p:cNvPr>
          <p:cNvSpPr txBox="1">
            <a:spLocks/>
          </p:cNvSpPr>
          <p:nvPr/>
        </p:nvSpPr>
        <p:spPr>
          <a:xfrm>
            <a:off x="5808754" y="695474"/>
            <a:ext cx="6110264" cy="3650541"/>
          </a:xfrm>
          <a:prstGeom prst="rect">
            <a:avLst/>
          </a:prstGeom>
        </p:spPr>
        <p:txBody>
          <a:bodyPr vert="horz" lIns="0" tIns="0" rIns="0" bIns="0" rtlCol="0">
            <a:noAutofit/>
          </a:bodyPr>
          <a:lstStyle>
            <a:lvl1pPr marL="0" indent="0" algn="l" defTabSz="914400" rtl="0" eaLnBrk="1" latinLnBrk="0" hangingPunct="1">
              <a:lnSpc>
                <a:spcPts val="3200"/>
              </a:lnSpc>
              <a:spcBef>
                <a:spcPts val="0"/>
              </a:spcBef>
              <a:spcAft>
                <a:spcPts val="800"/>
              </a:spcAft>
              <a:buFont typeface="Arial" panose="020B0604020202020204" pitchFamily="34" charset="0"/>
              <a:buNone/>
              <a:defRPr kumimoji="1" sz="3200" b="1" kern="1200">
                <a:solidFill>
                  <a:schemeClr val="tx1"/>
                </a:solidFill>
                <a:latin typeface="+mn-ea"/>
                <a:ea typeface="+mn-ea"/>
                <a:cs typeface="+mn-cs"/>
              </a:defRPr>
            </a:lvl1pPr>
            <a:lvl2pPr marL="685800" indent="-228600" algn="l" defTabSz="914400" rtl="0" eaLnBrk="1" latinLnBrk="0" hangingPunct="1">
              <a:lnSpc>
                <a:spcPts val="2800"/>
              </a:lnSpc>
              <a:spcBef>
                <a:spcPts val="0"/>
              </a:spcBef>
              <a:spcAft>
                <a:spcPts val="0"/>
              </a:spcAft>
              <a:buFont typeface="Arial" panose="020B0604020202020204" pitchFamily="34" charset="0"/>
              <a:buChar char="•"/>
              <a:defRPr kumimoji="1" sz="2000" b="1" kern="1200">
                <a:solidFill>
                  <a:schemeClr val="tx1"/>
                </a:solidFill>
                <a:latin typeface="+mn-ea"/>
                <a:ea typeface="+mn-ea"/>
                <a:cs typeface="+mn-cs"/>
              </a:defRPr>
            </a:lvl2pPr>
            <a:lvl3pPr marL="1143000" indent="-228600" algn="l" defTabSz="914400" rtl="0" eaLnBrk="1" latinLnBrk="0" hangingPunct="1">
              <a:lnSpc>
                <a:spcPts val="2400"/>
              </a:lnSpc>
              <a:spcBef>
                <a:spcPts val="0"/>
              </a:spcBef>
              <a:spcAft>
                <a:spcPts val="0"/>
              </a:spcAft>
              <a:buFont typeface="Arial" panose="020B0604020202020204" pitchFamily="34" charset="0"/>
              <a:buChar char="•"/>
              <a:defRPr kumimoji="1" sz="1800" kern="1200">
                <a:solidFill>
                  <a:schemeClr val="tx1"/>
                </a:solidFill>
                <a:latin typeface="+mn-ea"/>
                <a:ea typeface="+mn-ea"/>
                <a:cs typeface="+mn-cs"/>
              </a:defRPr>
            </a:lvl3pPr>
            <a:lvl4pPr marL="1600200" indent="-228600" algn="l" defTabSz="914400" rtl="0" eaLnBrk="1" latinLnBrk="0" hangingPunct="1">
              <a:lnSpc>
                <a:spcPts val="2400"/>
              </a:lnSpc>
              <a:spcBef>
                <a:spcPts val="0"/>
              </a:spcBef>
              <a:buFont typeface="Arial" panose="020B0604020202020204" pitchFamily="34" charset="0"/>
              <a:buChar char="•"/>
              <a:defRPr kumimoji="1" sz="1600" kern="1200">
                <a:solidFill>
                  <a:schemeClr val="tx1"/>
                </a:solidFill>
                <a:latin typeface="+mn-ea"/>
                <a:ea typeface="+mn-ea"/>
                <a:cs typeface="+mn-cs"/>
              </a:defRPr>
            </a:lvl4pPr>
            <a:lvl5pPr marL="2057400" indent="-228600" algn="l" defTabSz="914400" rtl="0" eaLnBrk="1" latinLnBrk="0" hangingPunct="1">
              <a:lnSpc>
                <a:spcPts val="2000"/>
              </a:lnSpc>
              <a:spcBef>
                <a:spcPts val="0"/>
              </a:spcBef>
              <a:buFont typeface="Arial" panose="020B0604020202020204" pitchFamily="34" charset="0"/>
              <a:buChar char="•"/>
              <a:defRPr kumimoji="1"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spcAft>
                <a:spcPts val="0"/>
              </a:spcAft>
            </a:pPr>
            <a:r>
              <a:rPr lang="ja-JP" altLang="en-US" sz="1400" dirty="0"/>
              <a:t>■対応時に意識した点・工夫</a:t>
            </a:r>
            <a:endParaRPr lang="en-US" altLang="ja-JP" sz="1400" dirty="0"/>
          </a:p>
          <a:p>
            <a:pPr>
              <a:lnSpc>
                <a:spcPct val="100000"/>
              </a:lnSpc>
              <a:spcAft>
                <a:spcPts val="0"/>
              </a:spcAft>
            </a:pPr>
            <a:endParaRPr lang="ja-JP" altLang="en-US" sz="900" dirty="0"/>
          </a:p>
          <a:p>
            <a:pPr>
              <a:lnSpc>
                <a:spcPct val="100000"/>
              </a:lnSpc>
              <a:spcAft>
                <a:spcPts val="0"/>
              </a:spcAft>
            </a:pPr>
            <a:r>
              <a:rPr lang="ja-JP" altLang="en-US" sz="1100" dirty="0"/>
              <a:t>① 初回ヒアリングの整理</a:t>
            </a:r>
            <a:endParaRPr lang="en-US" altLang="ja-JP" sz="1100" dirty="0"/>
          </a:p>
          <a:p>
            <a:pPr>
              <a:lnSpc>
                <a:spcPct val="100000"/>
              </a:lnSpc>
              <a:spcAft>
                <a:spcPts val="0"/>
              </a:spcAft>
            </a:pPr>
            <a:r>
              <a:rPr lang="ja-JP" altLang="en-US" sz="1100" dirty="0"/>
              <a:t>　初回回答時に以下を整理して確認：</a:t>
            </a:r>
            <a:endParaRPr lang="en-US" altLang="ja-JP" sz="1100" dirty="0"/>
          </a:p>
          <a:p>
            <a:pPr>
              <a:lnSpc>
                <a:spcPct val="100000"/>
              </a:lnSpc>
              <a:spcAft>
                <a:spcPts val="0"/>
              </a:spcAft>
            </a:pPr>
            <a:r>
              <a:rPr lang="ja-JP" altLang="en-US" sz="1100" dirty="0"/>
              <a:t>・対象</a:t>
            </a:r>
            <a:r>
              <a:rPr lang="en-US" altLang="ja-JP" sz="1100" dirty="0"/>
              <a:t>IAM</a:t>
            </a:r>
            <a:r>
              <a:rPr lang="ja-JP" altLang="en-US" sz="1100" dirty="0"/>
              <a:t>エンティティ（</a:t>
            </a:r>
            <a:r>
              <a:rPr lang="en-US" altLang="ja-JP" sz="1100" dirty="0"/>
              <a:t>User / Role</a:t>
            </a:r>
            <a:r>
              <a:rPr lang="ja-JP" altLang="en-US" sz="1100" dirty="0"/>
              <a:t>）</a:t>
            </a:r>
            <a:endParaRPr lang="en-US" altLang="ja-JP" sz="1100" dirty="0"/>
          </a:p>
          <a:p>
            <a:pPr>
              <a:lnSpc>
                <a:spcPct val="100000"/>
              </a:lnSpc>
              <a:spcAft>
                <a:spcPts val="0"/>
              </a:spcAft>
            </a:pPr>
            <a:r>
              <a:rPr lang="ja-JP" altLang="en-US" sz="1100" dirty="0"/>
              <a:t>・想定操作（</a:t>
            </a:r>
            <a:r>
              <a:rPr lang="en-US" altLang="ja-JP" sz="1100" dirty="0"/>
              <a:t>Console / CLI</a:t>
            </a:r>
            <a:r>
              <a:rPr lang="ja-JP" altLang="en-US" sz="1100" dirty="0"/>
              <a:t>）</a:t>
            </a:r>
            <a:endParaRPr lang="en-US" altLang="ja-JP" sz="1100" dirty="0"/>
          </a:p>
          <a:p>
            <a:pPr>
              <a:lnSpc>
                <a:spcPct val="100000"/>
              </a:lnSpc>
              <a:spcAft>
                <a:spcPts val="0"/>
              </a:spcAft>
            </a:pPr>
            <a:r>
              <a:rPr lang="ja-JP" altLang="en-US" sz="1100" dirty="0"/>
              <a:t>・現在アタッチされているポリシー構成</a:t>
            </a:r>
            <a:endParaRPr lang="en-US" altLang="ja-JP" sz="1100" dirty="0"/>
          </a:p>
          <a:p>
            <a:pPr>
              <a:lnSpc>
                <a:spcPct val="100000"/>
              </a:lnSpc>
              <a:spcAft>
                <a:spcPts val="0"/>
              </a:spcAft>
            </a:pPr>
            <a:r>
              <a:rPr lang="ja-JP" altLang="en-US" sz="1100" dirty="0"/>
              <a:t>・禁止レベル（完全禁止か、条件付きか）</a:t>
            </a:r>
            <a:endParaRPr lang="en-US" altLang="ja-JP" sz="1100" dirty="0"/>
          </a:p>
          <a:p>
            <a:pPr>
              <a:lnSpc>
                <a:spcPct val="100000"/>
              </a:lnSpc>
              <a:spcAft>
                <a:spcPts val="0"/>
              </a:spcAft>
            </a:pPr>
            <a:r>
              <a:rPr lang="ja-JP" altLang="en-US" sz="1100" dirty="0"/>
              <a:t>→ 追加ヒアリングの往復を削減。</a:t>
            </a:r>
            <a:endParaRPr lang="en-US" altLang="ja-JP" sz="1100" dirty="0"/>
          </a:p>
          <a:p>
            <a:pPr>
              <a:lnSpc>
                <a:spcPct val="100000"/>
              </a:lnSpc>
              <a:spcAft>
                <a:spcPts val="0"/>
              </a:spcAft>
            </a:pPr>
            <a:endParaRPr lang="en-US" altLang="ja-JP" sz="1100" dirty="0"/>
          </a:p>
          <a:p>
            <a:pPr>
              <a:lnSpc>
                <a:spcPct val="100000"/>
              </a:lnSpc>
              <a:spcAft>
                <a:spcPts val="0"/>
              </a:spcAft>
            </a:pPr>
            <a:r>
              <a:rPr lang="ja-JP" altLang="en-US" sz="1100" dirty="0"/>
              <a:t>② 評価ロジックに基づく即時切り分け</a:t>
            </a:r>
            <a:endParaRPr lang="en-US" altLang="ja-JP" sz="1100" dirty="0"/>
          </a:p>
          <a:p>
            <a:pPr>
              <a:lnSpc>
                <a:spcPct val="100000"/>
              </a:lnSpc>
              <a:spcAft>
                <a:spcPts val="0"/>
              </a:spcAft>
            </a:pPr>
            <a:r>
              <a:rPr lang="ja-JP" altLang="en-US" sz="1100" dirty="0"/>
              <a:t>・明示的 </a:t>
            </a:r>
            <a:r>
              <a:rPr lang="en-US" altLang="ja-JP" sz="1100" dirty="0"/>
              <a:t>Deny </a:t>
            </a:r>
            <a:r>
              <a:rPr lang="ja-JP" altLang="en-US" sz="1100" dirty="0"/>
              <a:t>の有無を最優先で確認。</a:t>
            </a:r>
            <a:endParaRPr lang="en-US" altLang="ja-JP" sz="1100" dirty="0"/>
          </a:p>
          <a:p>
            <a:pPr>
              <a:lnSpc>
                <a:spcPct val="100000"/>
              </a:lnSpc>
              <a:spcAft>
                <a:spcPts val="0"/>
              </a:spcAft>
            </a:pPr>
            <a:r>
              <a:rPr lang="ja-JP" altLang="en-US" sz="1100" dirty="0"/>
              <a:t>・</a:t>
            </a:r>
            <a:r>
              <a:rPr lang="en-US" altLang="ja-JP" sz="1100" dirty="0" err="1"/>
              <a:t>AdministratorAccess</a:t>
            </a:r>
            <a:r>
              <a:rPr lang="en-US" altLang="ja-JP" sz="1100" dirty="0"/>
              <a:t> </a:t>
            </a:r>
            <a:r>
              <a:rPr lang="ja-JP" altLang="en-US" sz="1100" dirty="0"/>
              <a:t>の仕様を即断。</a:t>
            </a:r>
            <a:endParaRPr lang="en-US" altLang="ja-JP" sz="1100" dirty="0"/>
          </a:p>
          <a:p>
            <a:pPr>
              <a:lnSpc>
                <a:spcPct val="100000"/>
              </a:lnSpc>
              <a:spcAft>
                <a:spcPts val="0"/>
              </a:spcAft>
            </a:pPr>
            <a:r>
              <a:rPr lang="ja-JP" altLang="en-US" sz="1100" dirty="0"/>
              <a:t>→ よくある誤認（</a:t>
            </a:r>
            <a:r>
              <a:rPr lang="en-US" altLang="ja-JP" sz="1100" dirty="0" err="1"/>
              <a:t>ReadOnly</a:t>
            </a:r>
            <a:r>
              <a:rPr lang="ja-JP" altLang="en-US" sz="1100" dirty="0"/>
              <a:t>で制限できるという誤解）を初回回答で解消。</a:t>
            </a:r>
            <a:endParaRPr lang="en-US" altLang="ja-JP" sz="1100" dirty="0"/>
          </a:p>
          <a:p>
            <a:pPr>
              <a:lnSpc>
                <a:spcPct val="100000"/>
              </a:lnSpc>
              <a:spcAft>
                <a:spcPts val="0"/>
              </a:spcAft>
            </a:pPr>
            <a:endParaRPr lang="en-US" altLang="ja-JP" sz="1100" dirty="0"/>
          </a:p>
          <a:p>
            <a:pPr>
              <a:lnSpc>
                <a:spcPct val="100000"/>
              </a:lnSpc>
              <a:spcAft>
                <a:spcPts val="0"/>
              </a:spcAft>
            </a:pPr>
            <a:r>
              <a:rPr lang="ja-JP" altLang="en-US" sz="1100" dirty="0"/>
              <a:t>③ 類似</a:t>
            </a:r>
            <a:r>
              <a:rPr lang="en-US" altLang="ja-JP" sz="1100" dirty="0"/>
              <a:t>QA</a:t>
            </a:r>
            <a:r>
              <a:rPr lang="ja-JP" altLang="en-US" sz="1100" dirty="0"/>
              <a:t>の事前整理</a:t>
            </a:r>
            <a:r>
              <a:rPr lang="en-US" altLang="ja-JP" sz="1100" dirty="0"/>
              <a:t>S3</a:t>
            </a:r>
            <a:r>
              <a:rPr lang="ja-JP" altLang="en-US" sz="1100" dirty="0"/>
              <a:t>アップロード制限は頻出問い合わせのため、</a:t>
            </a:r>
            <a:endParaRPr lang="en-US" altLang="ja-JP" sz="1100" dirty="0"/>
          </a:p>
          <a:p>
            <a:pPr>
              <a:lnSpc>
                <a:spcPct val="100000"/>
              </a:lnSpc>
              <a:spcAft>
                <a:spcPts val="0"/>
              </a:spcAft>
            </a:pPr>
            <a:r>
              <a:rPr lang="ja-JP" altLang="en-US" sz="1100" dirty="0"/>
              <a:t>・よくある誤認パターン</a:t>
            </a:r>
            <a:endParaRPr lang="en-US" altLang="ja-JP" sz="1100" dirty="0"/>
          </a:p>
          <a:p>
            <a:pPr>
              <a:lnSpc>
                <a:spcPct val="100000"/>
              </a:lnSpc>
              <a:spcAft>
                <a:spcPts val="0"/>
              </a:spcAft>
            </a:pPr>
            <a:r>
              <a:rPr lang="ja-JP" altLang="en-US" sz="1100" dirty="0"/>
              <a:t>・推奨構成テンプレート</a:t>
            </a:r>
            <a:endParaRPr lang="en-US" altLang="ja-JP" sz="1100" dirty="0"/>
          </a:p>
          <a:p>
            <a:pPr>
              <a:lnSpc>
                <a:spcPct val="100000"/>
              </a:lnSpc>
              <a:spcAft>
                <a:spcPts val="0"/>
              </a:spcAft>
            </a:pPr>
            <a:r>
              <a:rPr lang="ja-JP" altLang="en-US" sz="1100" dirty="0"/>
              <a:t>・公式ドキュメント</a:t>
            </a:r>
            <a:r>
              <a:rPr lang="en-US" altLang="ja-JP" sz="1100" dirty="0"/>
              <a:t>URL</a:t>
            </a:r>
          </a:p>
          <a:p>
            <a:pPr>
              <a:lnSpc>
                <a:spcPct val="100000"/>
              </a:lnSpc>
              <a:spcAft>
                <a:spcPts val="0"/>
              </a:spcAft>
            </a:pPr>
            <a:r>
              <a:rPr lang="ja-JP" altLang="en-US" sz="1100" dirty="0"/>
              <a:t>　を事前整理。</a:t>
            </a:r>
            <a:endParaRPr lang="en-US" altLang="ja-JP" sz="1100" dirty="0"/>
          </a:p>
          <a:p>
            <a:pPr>
              <a:lnSpc>
                <a:spcPct val="100000"/>
              </a:lnSpc>
              <a:spcAft>
                <a:spcPts val="0"/>
              </a:spcAft>
            </a:pPr>
            <a:r>
              <a:rPr lang="ja-JP" altLang="en-US" sz="1100" dirty="0"/>
              <a:t>　→ 少ないターン数で具体的な対策提示が可能。</a:t>
            </a:r>
            <a:endParaRPr lang="en-US" altLang="ja-JP" sz="1100" dirty="0"/>
          </a:p>
          <a:p>
            <a:pPr>
              <a:lnSpc>
                <a:spcPct val="100000"/>
              </a:lnSpc>
              <a:spcAft>
                <a:spcPts val="0"/>
              </a:spcAft>
            </a:pPr>
            <a:endParaRPr lang="en-US" altLang="ja-JP" sz="1100" dirty="0"/>
          </a:p>
        </p:txBody>
      </p:sp>
      <p:sp>
        <p:nvSpPr>
          <p:cNvPr id="5" name="コンテンツ プレースホルダー 10">
            <a:extLst>
              <a:ext uri="{FF2B5EF4-FFF2-40B4-BE49-F238E27FC236}">
                <a16:creationId xmlns:a16="http://schemas.microsoft.com/office/drawing/2014/main" id="{48611DC3-90D6-2B0D-B9F9-7B1250324495}"/>
              </a:ext>
            </a:extLst>
          </p:cNvPr>
          <p:cNvSpPr txBox="1">
            <a:spLocks/>
          </p:cNvSpPr>
          <p:nvPr/>
        </p:nvSpPr>
        <p:spPr>
          <a:xfrm>
            <a:off x="5840764" y="4417858"/>
            <a:ext cx="6110264" cy="937913"/>
          </a:xfrm>
          <a:prstGeom prst="rect">
            <a:avLst/>
          </a:prstGeom>
        </p:spPr>
        <p:txBody>
          <a:bodyPr vert="horz" lIns="0" tIns="0" rIns="0" bIns="0" rtlCol="0">
            <a:noAutofit/>
          </a:bodyPr>
          <a:lstStyle>
            <a:lvl1pPr marL="0" indent="0" algn="l" defTabSz="914400" rtl="0" eaLnBrk="1" latinLnBrk="0" hangingPunct="1">
              <a:lnSpc>
                <a:spcPts val="3200"/>
              </a:lnSpc>
              <a:spcBef>
                <a:spcPts val="0"/>
              </a:spcBef>
              <a:spcAft>
                <a:spcPts val="800"/>
              </a:spcAft>
              <a:buFont typeface="Arial" panose="020B0604020202020204" pitchFamily="34" charset="0"/>
              <a:buNone/>
              <a:defRPr kumimoji="1" sz="3200" b="1" kern="1200">
                <a:solidFill>
                  <a:schemeClr val="tx1"/>
                </a:solidFill>
                <a:latin typeface="+mn-ea"/>
                <a:ea typeface="+mn-ea"/>
                <a:cs typeface="+mn-cs"/>
              </a:defRPr>
            </a:lvl1pPr>
            <a:lvl2pPr marL="685800" indent="-228600" algn="l" defTabSz="914400" rtl="0" eaLnBrk="1" latinLnBrk="0" hangingPunct="1">
              <a:lnSpc>
                <a:spcPts val="2800"/>
              </a:lnSpc>
              <a:spcBef>
                <a:spcPts val="0"/>
              </a:spcBef>
              <a:spcAft>
                <a:spcPts val="0"/>
              </a:spcAft>
              <a:buFont typeface="Arial" panose="020B0604020202020204" pitchFamily="34" charset="0"/>
              <a:buChar char="•"/>
              <a:defRPr kumimoji="1" sz="2000" b="1" kern="1200">
                <a:solidFill>
                  <a:schemeClr val="tx1"/>
                </a:solidFill>
                <a:latin typeface="+mn-ea"/>
                <a:ea typeface="+mn-ea"/>
                <a:cs typeface="+mn-cs"/>
              </a:defRPr>
            </a:lvl2pPr>
            <a:lvl3pPr marL="1143000" indent="-228600" algn="l" defTabSz="914400" rtl="0" eaLnBrk="1" latinLnBrk="0" hangingPunct="1">
              <a:lnSpc>
                <a:spcPts val="2400"/>
              </a:lnSpc>
              <a:spcBef>
                <a:spcPts val="0"/>
              </a:spcBef>
              <a:spcAft>
                <a:spcPts val="0"/>
              </a:spcAft>
              <a:buFont typeface="Arial" panose="020B0604020202020204" pitchFamily="34" charset="0"/>
              <a:buChar char="•"/>
              <a:defRPr kumimoji="1" sz="1800" kern="1200">
                <a:solidFill>
                  <a:schemeClr val="tx1"/>
                </a:solidFill>
                <a:latin typeface="+mn-ea"/>
                <a:ea typeface="+mn-ea"/>
                <a:cs typeface="+mn-cs"/>
              </a:defRPr>
            </a:lvl3pPr>
            <a:lvl4pPr marL="1600200" indent="-228600" algn="l" defTabSz="914400" rtl="0" eaLnBrk="1" latinLnBrk="0" hangingPunct="1">
              <a:lnSpc>
                <a:spcPts val="2400"/>
              </a:lnSpc>
              <a:spcBef>
                <a:spcPts val="0"/>
              </a:spcBef>
              <a:buFont typeface="Arial" panose="020B0604020202020204" pitchFamily="34" charset="0"/>
              <a:buChar char="•"/>
              <a:defRPr kumimoji="1" sz="1600" kern="1200">
                <a:solidFill>
                  <a:schemeClr val="tx1"/>
                </a:solidFill>
                <a:latin typeface="+mn-ea"/>
                <a:ea typeface="+mn-ea"/>
                <a:cs typeface="+mn-cs"/>
              </a:defRPr>
            </a:lvl4pPr>
            <a:lvl5pPr marL="2057400" indent="-228600" algn="l" defTabSz="914400" rtl="0" eaLnBrk="1" latinLnBrk="0" hangingPunct="1">
              <a:lnSpc>
                <a:spcPts val="2000"/>
              </a:lnSpc>
              <a:spcBef>
                <a:spcPts val="0"/>
              </a:spcBef>
              <a:buFont typeface="Arial" panose="020B0604020202020204" pitchFamily="34" charset="0"/>
              <a:buChar char="•"/>
              <a:defRPr kumimoji="1"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spcAft>
                <a:spcPts val="0"/>
              </a:spcAft>
            </a:pPr>
            <a:r>
              <a:rPr lang="ja-JP" altLang="en-US" sz="1400" dirty="0"/>
              <a:t>■本対応による成果</a:t>
            </a:r>
            <a:endParaRPr lang="en-US" altLang="ja-JP" sz="1400" dirty="0"/>
          </a:p>
          <a:p>
            <a:pPr>
              <a:lnSpc>
                <a:spcPct val="100000"/>
              </a:lnSpc>
              <a:spcAft>
                <a:spcPts val="0"/>
              </a:spcAft>
            </a:pPr>
            <a:endParaRPr lang="en-US" altLang="ja-JP" sz="900" dirty="0"/>
          </a:p>
          <a:p>
            <a:pPr>
              <a:lnSpc>
                <a:spcPct val="100000"/>
              </a:lnSpc>
              <a:spcAft>
                <a:spcPts val="0"/>
              </a:spcAft>
            </a:pPr>
            <a:r>
              <a:rPr lang="ja-JP" altLang="en-US" sz="1100" dirty="0"/>
              <a:t>・追加ヒアリング往復を削減（通常</a:t>
            </a:r>
            <a:r>
              <a:rPr lang="en-US" altLang="ja-JP" sz="1100" dirty="0"/>
              <a:t>3〜4</a:t>
            </a:r>
            <a:r>
              <a:rPr lang="ja-JP" altLang="en-US" sz="1100" dirty="0"/>
              <a:t>往復 → </a:t>
            </a:r>
            <a:r>
              <a:rPr lang="en-US" altLang="ja-JP" sz="1100" dirty="0"/>
              <a:t>1〜2</a:t>
            </a:r>
            <a:r>
              <a:rPr lang="ja-JP" altLang="en-US" sz="1100" dirty="0"/>
              <a:t>往復）</a:t>
            </a:r>
            <a:endParaRPr lang="en-US" altLang="ja-JP" sz="1100" dirty="0"/>
          </a:p>
          <a:p>
            <a:pPr>
              <a:lnSpc>
                <a:spcPct val="100000"/>
              </a:lnSpc>
              <a:spcAft>
                <a:spcPts val="0"/>
              </a:spcAft>
            </a:pPr>
            <a:r>
              <a:rPr lang="ja-JP" altLang="en-US" sz="1100" dirty="0"/>
              <a:t>・初回回答で設計方針の可否を明確化</a:t>
            </a:r>
            <a:endParaRPr lang="en-US" altLang="ja-JP" sz="1100" dirty="0"/>
          </a:p>
          <a:p>
            <a:pPr>
              <a:lnSpc>
                <a:spcPct val="100000"/>
              </a:lnSpc>
              <a:spcAft>
                <a:spcPts val="0"/>
              </a:spcAft>
            </a:pPr>
            <a:r>
              <a:rPr lang="ja-JP" altLang="en-US" sz="1100" dirty="0"/>
              <a:t>・再発防止観点の</a:t>
            </a:r>
            <a:r>
              <a:rPr lang="en-US" altLang="ja-JP" sz="1100" dirty="0"/>
              <a:t>IAM</a:t>
            </a:r>
            <a:r>
              <a:rPr lang="ja-JP" altLang="en-US" sz="1100" dirty="0"/>
              <a:t>設計指針も提示</a:t>
            </a:r>
            <a:endParaRPr lang="ja-JP" altLang="en-US" sz="1600" dirty="0"/>
          </a:p>
        </p:txBody>
      </p:sp>
    </p:spTree>
    <p:extLst>
      <p:ext uri="{BB962C8B-B14F-4D97-AF65-F5344CB8AC3E}">
        <p14:creationId xmlns:p14="http://schemas.microsoft.com/office/powerpoint/2010/main" val="4099036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DE4AA-0102-2D0C-DDA7-20BB4485726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B336A76-8A42-B5C6-118F-E95E3DE711D1}"/>
              </a:ext>
            </a:extLst>
          </p:cNvPr>
          <p:cNvSpPr>
            <a:spLocks noGrp="1"/>
          </p:cNvSpPr>
          <p:nvPr>
            <p:ph type="title"/>
          </p:nvPr>
        </p:nvSpPr>
        <p:spPr/>
        <p:txBody>
          <a:bodyPr>
            <a:normAutofit/>
          </a:bodyPr>
          <a:lstStyle/>
          <a:p>
            <a:r>
              <a:rPr lang="ja-JP" altLang="en-US" b="1">
                <a:latin typeface="游ゴシック"/>
                <a:ea typeface="游ゴシック"/>
              </a:rPr>
              <a:t>今後の目標</a:t>
            </a:r>
            <a:endParaRPr lang="en-US" altLang="ja-JP">
              <a:latin typeface="游ゴシック"/>
              <a:ea typeface="游ゴシック"/>
            </a:endParaRPr>
          </a:p>
        </p:txBody>
      </p:sp>
      <p:sp>
        <p:nvSpPr>
          <p:cNvPr id="4" name="スライド番号プレースホルダー 3">
            <a:extLst>
              <a:ext uri="{FF2B5EF4-FFF2-40B4-BE49-F238E27FC236}">
                <a16:creationId xmlns:a16="http://schemas.microsoft.com/office/drawing/2014/main" id="{638EB832-9266-EA83-4822-87AD21D8A3A8}"/>
              </a:ext>
            </a:extLst>
          </p:cNvPr>
          <p:cNvSpPr>
            <a:spLocks noGrp="1"/>
          </p:cNvSpPr>
          <p:nvPr>
            <p:ph type="sldNum" sz="quarter" idx="12"/>
          </p:nvPr>
        </p:nvSpPr>
        <p:spPr/>
        <p:txBody>
          <a:bodyPr/>
          <a:lstStyle/>
          <a:p>
            <a:fld id="{42C06FF3-EDEF-40D9-844B-E8BDE887AEB1}" type="slidenum">
              <a:rPr lang="ja-JP" altLang="en-US" smtClean="0"/>
              <a:pPr/>
              <a:t>5</a:t>
            </a:fld>
            <a:endParaRPr lang="ja-JP" altLang="en-US"/>
          </a:p>
        </p:txBody>
      </p:sp>
      <p:sp>
        <p:nvSpPr>
          <p:cNvPr id="14" name="テキスト ボックス 13">
            <a:extLst>
              <a:ext uri="{FF2B5EF4-FFF2-40B4-BE49-F238E27FC236}">
                <a16:creationId xmlns:a16="http://schemas.microsoft.com/office/drawing/2014/main" id="{481C62F9-7937-D5C8-704B-B8D648BC6379}"/>
              </a:ext>
            </a:extLst>
          </p:cNvPr>
          <p:cNvSpPr txBox="1"/>
          <p:nvPr/>
        </p:nvSpPr>
        <p:spPr>
          <a:xfrm>
            <a:off x="335360" y="896775"/>
            <a:ext cx="8906611" cy="2031325"/>
          </a:xfrm>
          <a:prstGeom prst="rect">
            <a:avLst/>
          </a:prstGeom>
          <a:noFill/>
        </p:spPr>
        <p:txBody>
          <a:bodyPr wrap="square" lIns="91440" tIns="45720" rIns="91440" bIns="45720" anchor="t">
            <a:spAutoFit/>
          </a:bodyPr>
          <a:lstStyle/>
          <a:p>
            <a:r>
              <a:rPr lang="ja-JP" altLang="en-US" dirty="0">
                <a:ea typeface="游ゴシック"/>
              </a:rPr>
              <a:t>・</a:t>
            </a:r>
            <a:r>
              <a:rPr lang="en-US" altLang="ja-JP" dirty="0">
                <a:ea typeface="游ゴシック"/>
              </a:rPr>
              <a:t>AWS Certified Solutions Architect – Professional </a:t>
            </a:r>
            <a:r>
              <a:rPr lang="ja-JP" altLang="en-US" dirty="0">
                <a:ea typeface="游ゴシック"/>
              </a:rPr>
              <a:t>を含む各種</a:t>
            </a:r>
            <a:r>
              <a:rPr lang="en-US" altLang="ja-JP" dirty="0">
                <a:ea typeface="游ゴシック"/>
              </a:rPr>
              <a:t>AWS</a:t>
            </a:r>
            <a:r>
              <a:rPr lang="ja-JP" altLang="en-US" dirty="0">
                <a:ea typeface="游ゴシック"/>
              </a:rPr>
              <a:t>認定資格の取得</a:t>
            </a:r>
            <a:endParaRPr lang="en-US" altLang="ja-JP" dirty="0">
              <a:ea typeface="游ゴシック"/>
            </a:endParaRPr>
          </a:p>
          <a:p>
            <a:r>
              <a:rPr lang="ja-JP" altLang="en-US" dirty="0">
                <a:ea typeface="游ゴシック"/>
              </a:rPr>
              <a:t>　└ 大規模・高可用性構成の設計理解を深めるため</a:t>
            </a:r>
            <a:endParaRPr lang="en-US" altLang="ja-JP" dirty="0">
              <a:ea typeface="游ゴシック"/>
            </a:endParaRPr>
          </a:p>
          <a:p>
            <a:endParaRPr lang="en-US" altLang="ja-JP" dirty="0">
              <a:ea typeface="游ゴシック"/>
            </a:endParaRPr>
          </a:p>
          <a:p>
            <a:r>
              <a:rPr lang="ja-JP" altLang="en-US" dirty="0">
                <a:ea typeface="游ゴシック"/>
              </a:rPr>
              <a:t>・テクニカルサポート業務におけるナレッジ整備・標準化の推進</a:t>
            </a:r>
            <a:endParaRPr lang="en-US" altLang="ja-JP" dirty="0">
              <a:ea typeface="游ゴシック"/>
            </a:endParaRPr>
          </a:p>
          <a:p>
            <a:r>
              <a:rPr lang="ja-JP" altLang="en-US" dirty="0">
                <a:ea typeface="游ゴシック"/>
              </a:rPr>
              <a:t>　└ 問い合わせ対応の品質向上およびチーム全体の解決スピード向上に貢献</a:t>
            </a:r>
            <a:endParaRPr lang="en-US" altLang="ja-JP" dirty="0">
              <a:ea typeface="游ゴシック"/>
            </a:endParaRPr>
          </a:p>
          <a:p>
            <a:endParaRPr lang="en-US" altLang="ja-JP" dirty="0">
              <a:ea typeface="游ゴシック"/>
            </a:endParaRPr>
          </a:p>
          <a:p>
            <a:r>
              <a:rPr lang="ja-JP" altLang="en-US" dirty="0">
                <a:ea typeface="游ゴシック"/>
              </a:rPr>
              <a:t>・将来的にはクラウドアーキテクトとして、顧客の課題解決に上流工程から関与</a:t>
            </a:r>
            <a:endParaRPr lang="en-US" altLang="ja-JP" dirty="0">
              <a:ea typeface="游ゴシック"/>
            </a:endParaRPr>
          </a:p>
        </p:txBody>
      </p:sp>
    </p:spTree>
    <p:extLst>
      <p:ext uri="{BB962C8B-B14F-4D97-AF65-F5344CB8AC3E}">
        <p14:creationId xmlns:p14="http://schemas.microsoft.com/office/powerpoint/2010/main" val="2485355997"/>
      </p:ext>
    </p:extLst>
  </p:cSld>
  <p:clrMapOvr>
    <a:masterClrMapping/>
  </p:clrMapOvr>
</p:sld>
</file>

<file path=ppt/theme/theme1.xml><?xml version="1.0" encoding="utf-8"?>
<a:theme xmlns:a="http://schemas.openxmlformats.org/drawingml/2006/main" name="GTTマスター本文">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ovtTech東京-スライド雛形_Ver2(ロゴ位置修正)" id="{7BE5E356-91DF-4359-AE8A-3236070EF249}" vid="{340CFE97-167C-4A9F-8A1D-C22867A4EBD4}"/>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d5e86c2-1981-49c0-a4c5-18f5e325411d">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50778A40BB97904D942255E2E155F7D0" ma:contentTypeVersion="14" ma:contentTypeDescription="新しいドキュメントを作成します。" ma:contentTypeScope="" ma:versionID="69a6922dbfd1ab1826ad37d50c30c63c">
  <xsd:schema xmlns:xsd="http://www.w3.org/2001/XMLSchema" xmlns:xs="http://www.w3.org/2001/XMLSchema" xmlns:p="http://schemas.microsoft.com/office/2006/metadata/properties" xmlns:ns2="5d5e86c2-1981-49c0-a4c5-18f5e325411d" xmlns:ns3="3f560f56-3566-4265-8616-bf2c1da3872b" targetNamespace="http://schemas.microsoft.com/office/2006/metadata/properties" ma:root="true" ma:fieldsID="3fe0b2f1430f4c41453b7d9b1b5c55c1" ns2:_="" ns3:_="">
    <xsd:import namespace="5d5e86c2-1981-49c0-a4c5-18f5e325411d"/>
    <xsd:import namespace="3f560f56-3566-4265-8616-bf2c1da3872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d5e86c2-1981-49c0-a4c5-18f5e32541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画像タグ" ma:readOnly="false" ma:fieldId="{5cf76f15-5ced-4ddc-b409-7134ff3c332f}" ma:taxonomyMulti="true" ma:sspId="811cc47a-0e71-4495-8d9a-154145a130fc"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3f560f56-3566-4265-8616-bf2c1da3872b" elementFormDefault="qualified">
    <xsd:import namespace="http://schemas.microsoft.com/office/2006/documentManagement/types"/>
    <xsd:import namespace="http://schemas.microsoft.com/office/infopath/2007/PartnerControls"/>
    <xsd:element name="SharedWithUsers" ma:index="12"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6C0FC12-A96B-4033-90DC-496C404C70D1}">
  <ds:schemaRefs>
    <ds:schemaRef ds:uri="http://schemas.microsoft.com/office/2006/metadata/properties"/>
    <ds:schemaRef ds:uri="http://schemas.microsoft.com/office/infopath/2007/PartnerControls"/>
    <ds:schemaRef ds:uri="5d5e86c2-1981-49c0-a4c5-18f5e325411d"/>
  </ds:schemaRefs>
</ds:datastoreItem>
</file>

<file path=customXml/itemProps2.xml><?xml version="1.0" encoding="utf-8"?>
<ds:datastoreItem xmlns:ds="http://schemas.openxmlformats.org/officeDocument/2006/customXml" ds:itemID="{3185AFE0-2C0D-480C-9101-310C580611B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d5e86c2-1981-49c0-a4c5-18f5e325411d"/>
    <ds:schemaRef ds:uri="3f560f56-3566-4265-8616-bf2c1da3872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C315674-D7B8-47E2-BC37-5670892D319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GovtTech東京-スライド雛形_Ver2(ロゴ位置修正)</Template>
  <TotalTime>0</TotalTime>
  <Words>1092</Words>
  <Application>Microsoft Office PowerPoint</Application>
  <PresentationFormat>ワイド画面</PresentationFormat>
  <Paragraphs>133</Paragraphs>
  <Slides>5</Slides>
  <Notes>2</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5</vt:i4>
      </vt:variant>
    </vt:vector>
  </HeadingPairs>
  <TitlesOfParts>
    <vt:vector size="8" baseType="lpstr">
      <vt:lpstr>游ゴシック</vt:lpstr>
      <vt:lpstr>Arial</vt:lpstr>
      <vt:lpstr>GTTマスター本文</vt:lpstr>
      <vt:lpstr>PowerPoint プレゼンテーション</vt:lpstr>
      <vt:lpstr>プロフィール</vt:lpstr>
      <vt:lpstr>スキルセット</vt:lpstr>
      <vt:lpstr>対応ケース①：S3 アップロード制御に関する IAM 設計</vt:lpstr>
      <vt:lpstr>今後の目標</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2025-09-12T08:55:12Z</dcterms:created>
  <dcterms:modified xsi:type="dcterms:W3CDTF">2026-10-09T14:34:09Z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434c97d-8ab1-48ff-a40e-6511b83ece5b_Enabled">
    <vt:lpwstr>true</vt:lpwstr>
  </property>
  <property fmtid="{D5CDD505-2E9C-101B-9397-08002B2CF9AE}" pid="3" name="MSIP_Label_4434c97d-8ab1-48ff-a40e-6511b83ece5b_SetDate">
    <vt:lpwstr>2025-09-12T08:55:22Z</vt:lpwstr>
  </property>
  <property fmtid="{D5CDD505-2E9C-101B-9397-08002B2CF9AE}" pid="4" name="MSIP_Label_4434c97d-8ab1-48ff-a40e-6511b83ece5b_Method">
    <vt:lpwstr>Standard</vt:lpwstr>
  </property>
  <property fmtid="{D5CDD505-2E9C-101B-9397-08002B2CF9AE}" pid="5" name="MSIP_Label_4434c97d-8ab1-48ff-a40e-6511b83ece5b_Name">
    <vt:lpwstr>GTT Public</vt:lpwstr>
  </property>
  <property fmtid="{D5CDD505-2E9C-101B-9397-08002B2CF9AE}" pid="6" name="MSIP_Label_4434c97d-8ab1-48ff-a40e-6511b83ece5b_SiteId">
    <vt:lpwstr>9d3e2e69-df2b-4c53-bac1-dd09f0728a7d</vt:lpwstr>
  </property>
  <property fmtid="{D5CDD505-2E9C-101B-9397-08002B2CF9AE}" pid="7" name="MSIP_Label_4434c97d-8ab1-48ff-a40e-6511b83ece5b_ActionId">
    <vt:lpwstr>5279e295-d89a-4122-8387-c013e94f090d</vt:lpwstr>
  </property>
  <property fmtid="{D5CDD505-2E9C-101B-9397-08002B2CF9AE}" pid="8" name="MSIP_Label_4434c97d-8ab1-48ff-a40e-6511b83ece5b_ContentBits">
    <vt:lpwstr>0</vt:lpwstr>
  </property>
  <property fmtid="{D5CDD505-2E9C-101B-9397-08002B2CF9AE}" pid="9" name="MSIP_Label_4434c97d-8ab1-48ff-a40e-6511b83ece5b_Tag">
    <vt:lpwstr>10, 3, 0, 1</vt:lpwstr>
  </property>
  <property fmtid="{D5CDD505-2E9C-101B-9397-08002B2CF9AE}" pid="10" name="MediaServiceImageTags">
    <vt:lpwstr/>
  </property>
  <property fmtid="{D5CDD505-2E9C-101B-9397-08002B2CF9AE}" pid="11" name="xd_ProgID">
    <vt:lpwstr/>
  </property>
  <property fmtid="{D5CDD505-2E9C-101B-9397-08002B2CF9AE}" pid="12" name="ContentTypeId">
    <vt:lpwstr>0x01010050778A40BB97904D942255E2E155F7D0</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xd_Signature">
    <vt:bool>false</vt:bool>
  </property>
</Properties>
</file>