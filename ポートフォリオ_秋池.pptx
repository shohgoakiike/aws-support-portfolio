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10"/>
  </p:notesMasterIdLst>
  <p:sldIdLst>
    <p:sldId id="461" r:id="rId5"/>
    <p:sldId id="462" r:id="rId6"/>
    <p:sldId id="463" r:id="rId7"/>
    <p:sldId id="460" r:id="rId8"/>
    <p:sldId id="449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  <a:srgbClr val="A974FB"/>
    <a:srgbClr val="DEEBF7"/>
    <a:srgbClr val="09CD86"/>
    <a:srgbClr val="0A0045"/>
    <a:srgbClr val="128C75"/>
    <a:srgbClr val="7F7F7F"/>
    <a:srgbClr val="018838"/>
    <a:srgbClr val="E2F0D9"/>
    <a:srgbClr val="D1EB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7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BB8152-7813-4DD7-8C30-6943339385CA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57476-B337-4A58-AD00-3B086E867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99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757476-B337-4A58-AD00-3B086E86739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73644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757476-B337-4A58-AD00-3B086E86739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2313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東京都GTT連盟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F28BF40-0C44-45B2-1858-3068C934FEB5}"/>
              </a:ext>
            </a:extLst>
          </p:cNvPr>
          <p:cNvSpPr/>
          <p:nvPr userDrawn="1"/>
        </p:nvSpPr>
        <p:spPr>
          <a:xfrm>
            <a:off x="0" y="-10160"/>
            <a:ext cx="12192000" cy="6648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534E2D3-8122-4E07-5DED-FD5CE17EB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A0045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EF5EE7-1386-DA2F-141B-273E2C609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 sz="3200" b="1">
                <a:latin typeface="+mn-ea"/>
                <a:ea typeface="+mn-ea"/>
              </a:defRPr>
            </a:lvl1pPr>
            <a:lvl2pPr>
              <a:defRPr>
                <a:latin typeface="+mn-ea"/>
                <a:ea typeface="+mn-ea"/>
              </a:defRPr>
            </a:lvl2pPr>
            <a:lvl3pPr>
              <a:spcBef>
                <a:spcPts val="0"/>
              </a:spcBef>
              <a:spcAft>
                <a:spcPts val="0"/>
              </a:spcAft>
              <a:defRPr>
                <a:latin typeface="+mn-ea"/>
                <a:ea typeface="+mn-ea"/>
              </a:defRPr>
            </a:lvl3pPr>
            <a:lvl4pPr>
              <a:lnSpc>
                <a:spcPts val="2400"/>
              </a:lnSpc>
              <a:defRPr>
                <a:latin typeface="+mn-ea"/>
                <a:ea typeface="+mn-ea"/>
              </a:defRPr>
            </a:lvl4pPr>
            <a:lvl5pPr>
              <a:defRPr sz="1400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E37901-2F67-E8F2-32B1-6E60AB3A6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2A55-22D5-47DA-B376-12D74840BD06}" type="datetime1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BC9E01-9A0F-E1DE-67C1-524F7E4C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A0045"/>
                </a:solidFill>
              </a:defRPr>
            </a:lvl1pPr>
          </a:lstStyle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43970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表紙_GTT東京都連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A7C13D4-85B1-45AC-1216-B18A6FBC0C6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BDDB0-0B3B-1F99-215B-4A73194E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436" y="1988840"/>
            <a:ext cx="10117124" cy="576064"/>
          </a:xfrm>
        </p:spPr>
        <p:txBody>
          <a:bodyPr>
            <a:normAutofit/>
          </a:bodyPr>
          <a:lstStyle>
            <a:lvl1pPr>
              <a:defRPr sz="3600">
                <a:solidFill>
                  <a:srgbClr val="0A0045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00EB93-ADD2-7A50-3075-35EC3321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47F1A-3080-4AE7-9245-F405EDE1DDF3}" type="datetime1">
              <a:rPr lang="ja-JP" altLang="en-US" smtClean="0"/>
              <a:t>2025/11/26</a:t>
            </a:fld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CE3CD43-DC4B-6753-A084-9BE3623A7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D773ABD-511A-6C5F-D7E9-C0DA732386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19436" y="2708920"/>
            <a:ext cx="10117124" cy="5762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1">
                <a:solidFill>
                  <a:srgbClr val="0A0045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1601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54C745-1914-B58C-DB7A-3CBD3A0A7CD5}"/>
              </a:ext>
            </a:extLst>
          </p:cNvPr>
          <p:cNvSpPr/>
          <p:nvPr userDrawn="1"/>
        </p:nvSpPr>
        <p:spPr>
          <a:xfrm>
            <a:off x="0" y="653872"/>
            <a:ext cx="12187147" cy="577791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295E26-55C6-A9DF-E00D-4D28E817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16632"/>
            <a:ext cx="7956008" cy="468054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665390-A383-723E-0251-6CC5CE3B4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360" y="918445"/>
            <a:ext cx="11521280" cy="5390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EEE95A-4113-AE11-D7CA-5E8DAC22E0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6236" y="6562935"/>
            <a:ext cx="3246040" cy="178433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rgbClr val="008000"/>
                </a:solidFill>
                <a:latin typeface="+mn-ea"/>
                <a:ea typeface="+mn-ea"/>
              </a:defRPr>
            </a:lvl1pPr>
          </a:lstStyle>
          <a:p>
            <a:fld id="{F1FA71E0-FC87-437A-9C14-FB30BE460721}" type="datetime1">
              <a:rPr lang="ja-JP" altLang="en-US" smtClean="0"/>
              <a:t>2025/11/26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720EC7-3D48-3BC9-8382-F71D33A17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55675"/>
            <a:ext cx="4114800" cy="178433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ctr">
              <a:defRPr sz="1000">
                <a:solidFill>
                  <a:srgbClr val="008000"/>
                </a:solidFill>
                <a:latin typeface="+mn-lt"/>
                <a:ea typeface="Noto Sans JP Medium" panose="020B02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FB723E-30B7-488E-7E05-9456155FB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62935"/>
            <a:ext cx="3245164" cy="174885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rgbClr val="008000"/>
                </a:solidFill>
                <a:latin typeface="+mn-ea"/>
                <a:ea typeface="+mn-ea"/>
              </a:defRPr>
            </a:lvl1pPr>
          </a:lstStyle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1777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000" b="1" kern="1200">
          <a:solidFill>
            <a:schemeClr val="bg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32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3200" b="1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8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2000" b="1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400"/>
        </a:lnSpc>
        <a:spcBef>
          <a:spcPts val="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400"/>
        </a:lnSpc>
        <a:spcBef>
          <a:spcPts val="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000"/>
        </a:lnSpc>
        <a:spcBef>
          <a:spcPts val="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16DC48-FE98-10EF-29FC-ADF16CFF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1</a:t>
            </a:fld>
            <a:endParaRPr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F1AAABE-7C18-C5EF-F462-5E7EED252C75}"/>
              </a:ext>
            </a:extLst>
          </p:cNvPr>
          <p:cNvGrpSpPr/>
          <p:nvPr/>
        </p:nvGrpSpPr>
        <p:grpSpPr>
          <a:xfrm>
            <a:off x="1020519" y="2343140"/>
            <a:ext cx="10117124" cy="2178644"/>
            <a:chOff x="1020519" y="2497375"/>
            <a:chExt cx="10117124" cy="2178644"/>
          </a:xfrm>
        </p:grpSpPr>
        <p:sp>
          <p:nvSpPr>
            <p:cNvPr id="8" name="タイトル 9">
              <a:extLst>
                <a:ext uri="{FF2B5EF4-FFF2-40B4-BE49-F238E27FC236}">
                  <a16:creationId xmlns:a16="http://schemas.microsoft.com/office/drawing/2014/main" id="{1AF61D2E-9CC4-8C1B-B9BD-0DBFBA0011B5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3456522"/>
              <a:ext cx="10117124" cy="576064"/>
            </a:xfrm>
            <a:prstGeom prst="rect">
              <a:avLst/>
            </a:prstGeom>
          </p:spPr>
          <p:txBody>
            <a:bodyPr vert="horz" lIns="0" tIns="0" rIns="0" bIns="0" rtlCol="0" anchor="ctr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j-cs"/>
                </a:defRPr>
              </a:lvl1pPr>
            </a:lstStyle>
            <a:p>
              <a:r>
                <a:rPr lang="ja-JP" altLang="en-US" sz="2800" dirty="0">
                  <a:latin typeface="游ゴシック"/>
                  <a:ea typeface="游ゴシック"/>
                </a:rPr>
                <a:t>秋池 翔悟</a:t>
              </a:r>
              <a:r>
                <a:rPr lang="ja-JP" altLang="en-US" dirty="0">
                  <a:latin typeface="游ゴシック"/>
                  <a:ea typeface="游ゴシック"/>
                </a:rPr>
                <a:t>（</a:t>
              </a:r>
              <a:r>
                <a:rPr lang="en-US" altLang="ja-JP" dirty="0" err="1">
                  <a:latin typeface="游ゴシック"/>
                  <a:ea typeface="游ゴシック"/>
                </a:rPr>
                <a:t>Shohgo</a:t>
              </a:r>
              <a:r>
                <a:rPr lang="ja-JP" altLang="en-US" dirty="0">
                  <a:latin typeface="游ゴシック"/>
                  <a:ea typeface="游ゴシック"/>
                  <a:cs typeface="+mn-ea"/>
                </a:rPr>
                <a:t> </a:t>
              </a:r>
              <a:r>
                <a:rPr lang="en-US" altLang="ja-JP" dirty="0" err="1">
                  <a:latin typeface="游ゴシック"/>
                  <a:ea typeface="游ゴシック"/>
                  <a:cs typeface="+mn-ea"/>
                </a:rPr>
                <a:t>Akiike</a:t>
              </a:r>
              <a:r>
                <a:rPr lang="ja-JP" altLang="en-US" dirty="0">
                  <a:latin typeface="游ゴシック"/>
                  <a:ea typeface="游ゴシック"/>
                  <a:cs typeface="+mn-ea"/>
                </a:rPr>
                <a:t>）</a:t>
              </a:r>
              <a:endParaRPr lang="ja-JP" altLang="en-US" dirty="0">
                <a:latin typeface="游ゴシック"/>
                <a:ea typeface="游ゴシック"/>
              </a:endParaRPr>
            </a:p>
          </p:txBody>
        </p:sp>
        <p:sp>
          <p:nvSpPr>
            <p:cNvPr id="9" name="テキスト プレースホルダー 6">
              <a:extLst>
                <a:ext uri="{FF2B5EF4-FFF2-40B4-BE49-F238E27FC236}">
                  <a16:creationId xmlns:a16="http://schemas.microsoft.com/office/drawing/2014/main" id="{923BA4D6-6C9A-574C-A76F-63A1484D7C6A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2497375"/>
              <a:ext cx="10117124" cy="576262"/>
            </a:xfrm>
            <a:prstGeom prst="rect">
              <a:avLst/>
            </a:prstGeom>
          </p:spPr>
          <p:txBody>
            <a:bodyPr vert="horz" lIns="0" tIns="0" rIns="0" bIns="0" rtlCol="0" anchor="t">
              <a:noAutofit/>
            </a:bodyPr>
            <a:lstStyle>
              <a:lvl1pPr marL="0" indent="0" algn="ctr" defTabSz="914400" rtl="0" eaLnBrk="1" latinLnBrk="0" hangingPunct="1">
                <a:lnSpc>
                  <a:spcPts val="3200"/>
                </a:lnSpc>
                <a:spcBef>
                  <a:spcPts val="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6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ts val="2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4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4600">
                  <a:latin typeface="游ゴシック"/>
                  <a:ea typeface="游ゴシック"/>
                </a:rPr>
                <a:t>ポートフォリオ</a:t>
              </a:r>
              <a:endParaRPr lang="en-US" altLang="ja-JP" sz="4600">
                <a:latin typeface="游ゴシック"/>
                <a:ea typeface="游ゴシック"/>
              </a:endParaRPr>
            </a:p>
          </p:txBody>
        </p:sp>
        <p:sp>
          <p:nvSpPr>
            <p:cNvPr id="11" name="テキスト プレースホルダー 6">
              <a:extLst>
                <a:ext uri="{FF2B5EF4-FFF2-40B4-BE49-F238E27FC236}">
                  <a16:creationId xmlns:a16="http://schemas.microsoft.com/office/drawing/2014/main" id="{0AAE7572-DB68-9ECE-7036-CF29FA32C945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4099757"/>
              <a:ext cx="10117124" cy="576262"/>
            </a:xfrm>
            <a:prstGeom prst="rect">
              <a:avLst/>
            </a:prstGeom>
          </p:spPr>
          <p:txBody>
            <a:bodyPr vert="horz" lIns="0" tIns="0" rIns="0" bIns="0" rtlCol="0" anchor="t">
              <a:noAutofit/>
            </a:bodyPr>
            <a:lstStyle>
              <a:lvl1pPr marL="0" indent="0" algn="ctr" defTabSz="914400" rtl="0" eaLnBrk="1" latinLnBrk="0" hangingPunct="1">
                <a:lnSpc>
                  <a:spcPts val="3200"/>
                </a:lnSpc>
                <a:spcBef>
                  <a:spcPts val="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6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ts val="2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4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800" b="0" dirty="0">
                  <a:latin typeface="游ゴシック"/>
                  <a:ea typeface="游ゴシック"/>
                </a:rPr>
                <a:t>202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5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.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11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.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26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更新</a:t>
              </a:r>
              <a:endParaRPr lang="en-US" altLang="ja-JP" sz="1800" b="0" dirty="0">
                <a:latin typeface="游ゴシック"/>
                <a:ea typeface="游ゴシック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1536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CAB0A-330B-473F-E0BC-0D27E6B99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5C8847-243F-1B67-63AB-12A7B674D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游ゴシック"/>
                <a:ea typeface="游ゴシック"/>
              </a:rPr>
              <a:t>プロフィール・</a:t>
            </a:r>
            <a:r>
              <a:rPr lang="ja-JP" altLang="en-US">
                <a:latin typeface="游ゴシック"/>
                <a:ea typeface="游ゴシック"/>
              </a:rPr>
              <a:t>自己PR</a:t>
            </a:r>
            <a:endParaRPr kumimoji="1" lang="ja-JP" altLang="en-US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628920-5C77-F3EB-86C3-E328FABBA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7" name="テキスト ボックス 13">
            <a:extLst>
              <a:ext uri="{FF2B5EF4-FFF2-40B4-BE49-F238E27FC236}">
                <a16:creationId xmlns:a16="http://schemas.microsoft.com/office/drawing/2014/main" id="{64247452-4B08-381A-009F-5C08D02A287D}"/>
              </a:ext>
            </a:extLst>
          </p:cNvPr>
          <p:cNvSpPr txBox="1"/>
          <p:nvPr/>
        </p:nvSpPr>
        <p:spPr>
          <a:xfrm>
            <a:off x="562974" y="3474000"/>
            <a:ext cx="827205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氏名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9" name="テキスト ボックス 13">
            <a:extLst>
              <a:ext uri="{FF2B5EF4-FFF2-40B4-BE49-F238E27FC236}">
                <a16:creationId xmlns:a16="http://schemas.microsoft.com/office/drawing/2014/main" id="{7E715298-0112-8304-2913-92DB3FD0BC5B}"/>
              </a:ext>
            </a:extLst>
          </p:cNvPr>
          <p:cNvSpPr txBox="1"/>
          <p:nvPr/>
        </p:nvSpPr>
        <p:spPr>
          <a:xfrm>
            <a:off x="1786466" y="3474000"/>
            <a:ext cx="2303949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>
                <a:solidFill>
                  <a:srgbClr val="000000"/>
                </a:solidFill>
                <a:ea typeface="游ゴシック"/>
              </a:rPr>
              <a:t>秋池 翔悟</a:t>
            </a:r>
            <a:endParaRPr lang="en-US" altLang="ja-JP" dirty="0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0" name="テキスト ボックス 13">
            <a:extLst>
              <a:ext uri="{FF2B5EF4-FFF2-40B4-BE49-F238E27FC236}">
                <a16:creationId xmlns:a16="http://schemas.microsoft.com/office/drawing/2014/main" id="{7C47C81F-40FE-C5CA-BEA4-95F967558AF6}"/>
              </a:ext>
            </a:extLst>
          </p:cNvPr>
          <p:cNvSpPr txBox="1"/>
          <p:nvPr/>
        </p:nvSpPr>
        <p:spPr>
          <a:xfrm>
            <a:off x="562974" y="4134798"/>
            <a:ext cx="827205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略歴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1" name="テキスト ボックス 13">
            <a:extLst>
              <a:ext uri="{FF2B5EF4-FFF2-40B4-BE49-F238E27FC236}">
                <a16:creationId xmlns:a16="http://schemas.microsoft.com/office/drawing/2014/main" id="{62C69AEA-A2AD-E044-E1F7-4048BA74168D}"/>
              </a:ext>
            </a:extLst>
          </p:cNvPr>
          <p:cNvSpPr txBox="1"/>
          <p:nvPr/>
        </p:nvSpPr>
        <p:spPr>
          <a:xfrm>
            <a:off x="1756932" y="4140704"/>
            <a:ext cx="356213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dirty="0">
                <a:solidFill>
                  <a:srgbClr val="000000"/>
                </a:solidFill>
                <a:ea typeface="+mn-lt"/>
                <a:cs typeface="+mn-lt"/>
              </a:rPr>
              <a:t>クラウドインフラエンジニア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dirty="0">
                <a:solidFill>
                  <a:srgbClr val="000000"/>
                </a:solidFill>
                <a:ea typeface="+mn-lt"/>
                <a:cs typeface="+mn-lt"/>
              </a:rPr>
              <a:t>としてキャリアをスタート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89D4676-136F-1972-F2AE-3A241BEE7C90}"/>
              </a:ext>
            </a:extLst>
          </p:cNvPr>
          <p:cNvSpPr/>
          <p:nvPr/>
        </p:nvSpPr>
        <p:spPr>
          <a:xfrm>
            <a:off x="490039" y="876152"/>
            <a:ext cx="1837068" cy="181344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プロフィール</a:t>
            </a:r>
          </a:p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写真や</a:t>
            </a:r>
          </a:p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アイコン</a:t>
            </a:r>
          </a:p>
        </p:txBody>
      </p:sp>
      <p:sp>
        <p:nvSpPr>
          <p:cNvPr id="3" name="テキスト ボックス 13">
            <a:extLst>
              <a:ext uri="{FF2B5EF4-FFF2-40B4-BE49-F238E27FC236}">
                <a16:creationId xmlns:a16="http://schemas.microsoft.com/office/drawing/2014/main" id="{4B6D8C18-2F74-82DF-BD93-D618567B874B}"/>
              </a:ext>
            </a:extLst>
          </p:cNvPr>
          <p:cNvSpPr txBox="1"/>
          <p:nvPr/>
        </p:nvSpPr>
        <p:spPr>
          <a:xfrm>
            <a:off x="562974" y="5074588"/>
            <a:ext cx="1156864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強み/</a:t>
            </a:r>
            <a:endParaRPr lang="ja-JP"/>
          </a:p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専門分野</a:t>
            </a:r>
            <a:endParaRPr lang="ja-JP"/>
          </a:p>
        </p:txBody>
      </p:sp>
      <p:sp>
        <p:nvSpPr>
          <p:cNvPr id="8" name="テキスト ボックス 13">
            <a:extLst>
              <a:ext uri="{FF2B5EF4-FFF2-40B4-BE49-F238E27FC236}">
                <a16:creationId xmlns:a16="http://schemas.microsoft.com/office/drawing/2014/main" id="{B28F8744-7D09-722B-C87C-B9C5D9EC6BB9}"/>
              </a:ext>
            </a:extLst>
          </p:cNvPr>
          <p:cNvSpPr txBox="1"/>
          <p:nvPr/>
        </p:nvSpPr>
        <p:spPr>
          <a:xfrm>
            <a:off x="1731923" y="5104122"/>
            <a:ext cx="3961921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solidFill>
                  <a:srgbClr val="000000"/>
                </a:solidFill>
                <a:ea typeface="+mn-lt"/>
                <a:cs typeface="+mn-lt"/>
              </a:rPr>
              <a:t>AWS</a:t>
            </a:r>
            <a:r>
              <a:rPr lang="ja-JP" altLang="en-US" dirty="0">
                <a:solidFill>
                  <a:srgbClr val="000000"/>
                </a:solidFill>
                <a:ea typeface="+mn-lt"/>
                <a:cs typeface="+mn-lt"/>
              </a:rPr>
              <a:t>に関する技術サポートとトラブルシューティング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16760E0-0DE4-BB34-4838-62A2B9A6BEED}"/>
              </a:ext>
            </a:extLst>
          </p:cNvPr>
          <p:cNvSpPr/>
          <p:nvPr/>
        </p:nvSpPr>
        <p:spPr>
          <a:xfrm>
            <a:off x="6077505" y="1173341"/>
            <a:ext cx="29238" cy="50375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ja-JP" altLang="en-US" dirty="0">
              <a:ea typeface="游ゴシック"/>
            </a:endParaRPr>
          </a:p>
        </p:txBody>
      </p:sp>
      <p:sp>
        <p:nvSpPr>
          <p:cNvPr id="25" name="テキスト ボックス 15">
            <a:extLst>
              <a:ext uri="{FF2B5EF4-FFF2-40B4-BE49-F238E27FC236}">
                <a16:creationId xmlns:a16="http://schemas.microsoft.com/office/drawing/2014/main" id="{A4CA2B8F-4950-1CE2-20AD-8B6959A113CD}"/>
              </a:ext>
            </a:extLst>
          </p:cNvPr>
          <p:cNvSpPr txBox="1"/>
          <p:nvPr/>
        </p:nvSpPr>
        <p:spPr>
          <a:xfrm>
            <a:off x="6407163" y="2277197"/>
            <a:ext cx="536349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テクニカルサポートとしての実務経験を通じて、クラウドインフラの設計・構築・運用に関する確かな知識と対応力を身につけました。</a:t>
            </a:r>
            <a:endParaRPr lang="en-US" altLang="ja-JP" dirty="0">
              <a:ea typeface="游ゴシック"/>
            </a:endParaRPr>
          </a:p>
          <a:p>
            <a:endParaRPr lang="en-US" altLang="ja-JP" dirty="0">
              <a:ea typeface="游ゴシック"/>
            </a:endParaRPr>
          </a:p>
          <a:p>
            <a:r>
              <a:rPr lang="ja-JP" altLang="en-US" dirty="0">
                <a:ea typeface="游ゴシック"/>
              </a:rPr>
              <a:t>特に、主要</a:t>
            </a:r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サービスのトラブルシューティングや課題解決を得意としており、お客様環境の安定稼働に貢献してきました。</a:t>
            </a:r>
            <a:endParaRPr lang="en-US" altLang="ja-JP" dirty="0">
              <a:ea typeface="游ゴシック"/>
            </a:endParaRPr>
          </a:p>
          <a:p>
            <a:endParaRPr lang="en-US" altLang="ja-JP" dirty="0">
              <a:ea typeface="游ゴシック"/>
            </a:endParaRPr>
          </a:p>
          <a:p>
            <a:r>
              <a:rPr lang="en-US" altLang="ja-JP" dirty="0">
                <a:ea typeface="游ゴシック"/>
              </a:rPr>
              <a:t>CLF</a:t>
            </a:r>
            <a:r>
              <a:rPr lang="ja-JP" altLang="en-US" dirty="0">
                <a:ea typeface="游ゴシック"/>
              </a:rPr>
              <a:t>・</a:t>
            </a:r>
            <a:r>
              <a:rPr lang="en-US" altLang="ja-JP" dirty="0">
                <a:ea typeface="游ゴシック"/>
              </a:rPr>
              <a:t>SAA</a:t>
            </a:r>
            <a:r>
              <a:rPr lang="ja-JP" altLang="en-US" dirty="0">
                <a:ea typeface="游ゴシック"/>
              </a:rPr>
              <a:t>資格に基づく体系的な知識と、日々の問い合わせ対応で培った分析力・コミュニケーション力を活かし、技術的な問題を迅速かつ丁寧に解決できることが強みです。</a:t>
            </a:r>
          </a:p>
        </p:txBody>
      </p:sp>
      <p:sp>
        <p:nvSpPr>
          <p:cNvPr id="26" name="テキスト ボックス 13">
            <a:extLst>
              <a:ext uri="{FF2B5EF4-FFF2-40B4-BE49-F238E27FC236}">
                <a16:creationId xmlns:a16="http://schemas.microsoft.com/office/drawing/2014/main" id="{268F7B78-021D-A448-508A-9A150C7A4123}"/>
              </a:ext>
            </a:extLst>
          </p:cNvPr>
          <p:cNvSpPr txBox="1"/>
          <p:nvPr/>
        </p:nvSpPr>
        <p:spPr>
          <a:xfrm>
            <a:off x="6525854" y="1535797"/>
            <a:ext cx="310377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自己PR</a:t>
            </a:r>
          </a:p>
        </p:txBody>
      </p:sp>
    </p:spTree>
    <p:extLst>
      <p:ext uri="{BB962C8B-B14F-4D97-AF65-F5344CB8AC3E}">
        <p14:creationId xmlns:p14="http://schemas.microsoft.com/office/powerpoint/2010/main" val="114401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CAB0A-330B-473F-E0BC-0D27E6B99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5C8847-243F-1B67-63AB-12A7B674D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游ゴシック"/>
                <a:ea typeface="游ゴシック"/>
              </a:rPr>
              <a:t>スキルセット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628920-5C77-F3EB-86C3-E328FABBA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12" name="テキスト ボックス 13">
            <a:extLst>
              <a:ext uri="{FF2B5EF4-FFF2-40B4-BE49-F238E27FC236}">
                <a16:creationId xmlns:a16="http://schemas.microsoft.com/office/drawing/2014/main" id="{9EA77ECB-ED48-D94C-0B25-4FE9DD0743B5}"/>
              </a:ext>
            </a:extLst>
          </p:cNvPr>
          <p:cNvSpPr txBox="1"/>
          <p:nvPr/>
        </p:nvSpPr>
        <p:spPr>
          <a:xfrm>
            <a:off x="348619" y="953712"/>
            <a:ext cx="2303949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400" b="1">
                <a:solidFill>
                  <a:srgbClr val="0070C0"/>
                </a:solidFill>
                <a:ea typeface="游ゴシック"/>
              </a:rPr>
              <a:t>スキルセット</a:t>
            </a:r>
            <a:endParaRPr lang="en-US" altLang="ja-JP" sz="2400" b="1">
              <a:solidFill>
                <a:srgbClr val="0070C0"/>
              </a:solidFill>
              <a:ea typeface="游ゴシック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D855525-CE44-56BC-FDAB-F3C31262A841}"/>
              </a:ext>
            </a:extLst>
          </p:cNvPr>
          <p:cNvSpPr txBox="1"/>
          <p:nvPr/>
        </p:nvSpPr>
        <p:spPr>
          <a:xfrm>
            <a:off x="343318" y="2027878"/>
            <a:ext cx="2091298" cy="160043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・EC2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・S3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・RDS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・VPC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・IAM</a:t>
            </a:r>
            <a:endParaRPr lang="ja-JP" altLang="en-US" sz="1400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・Route 53</a:t>
            </a:r>
          </a:p>
          <a:p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・CloudFront</a:t>
            </a:r>
            <a:endParaRPr lang="en-US" dirty="0"/>
          </a:p>
        </p:txBody>
      </p:sp>
      <p:sp>
        <p:nvSpPr>
          <p:cNvPr id="15" name="テキスト ボックス 13">
            <a:extLst>
              <a:ext uri="{FF2B5EF4-FFF2-40B4-BE49-F238E27FC236}">
                <a16:creationId xmlns:a16="http://schemas.microsoft.com/office/drawing/2014/main" id="{5D3C15DD-630D-C8F8-9D78-C66C388FCA7C}"/>
              </a:ext>
            </a:extLst>
          </p:cNvPr>
          <p:cNvSpPr txBox="1"/>
          <p:nvPr/>
        </p:nvSpPr>
        <p:spPr>
          <a:xfrm>
            <a:off x="3173550" y="2043429"/>
            <a:ext cx="1922166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b="1" dirty="0">
                <a:solidFill>
                  <a:srgbClr val="000000"/>
                </a:solidFill>
                <a:ea typeface="+mn-lt"/>
                <a:cs typeface="+mn-lt"/>
              </a:rPr>
              <a:t>Linux</a:t>
            </a:r>
            <a:r>
              <a:rPr lang="ja-JP" sz="1400" b="1">
                <a:solidFill>
                  <a:srgbClr val="000000"/>
                </a:solidFill>
                <a:ea typeface="+mn-lt"/>
                <a:cs typeface="+mn-lt"/>
              </a:rPr>
              <a:t>基本コマンド</a:t>
            </a:r>
            <a:endParaRPr lang="en-US" altLang="ja-JP" sz="14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D774B2B-D813-84FB-44EB-88AF1D2FB506}"/>
              </a:ext>
            </a:extLst>
          </p:cNvPr>
          <p:cNvSpPr txBox="1"/>
          <p:nvPr/>
        </p:nvSpPr>
        <p:spPr>
          <a:xfrm>
            <a:off x="3192651" y="2342514"/>
            <a:ext cx="4806337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ファイル操作</a:t>
            </a:r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プロセス管理、ネットワーク設定など</a:t>
            </a:r>
            <a:endParaRPr lang="en-US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9" name="テキスト ボックス 13">
            <a:extLst>
              <a:ext uri="{FF2B5EF4-FFF2-40B4-BE49-F238E27FC236}">
                <a16:creationId xmlns:a16="http://schemas.microsoft.com/office/drawing/2014/main" id="{5A8A208E-803E-D914-8E47-6E0592186A76}"/>
              </a:ext>
            </a:extLst>
          </p:cNvPr>
          <p:cNvSpPr txBox="1"/>
          <p:nvPr/>
        </p:nvSpPr>
        <p:spPr>
          <a:xfrm>
            <a:off x="7790929" y="2071153"/>
            <a:ext cx="2446198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400" b="1" dirty="0">
                <a:solidFill>
                  <a:srgbClr val="000000"/>
                </a:solidFill>
                <a:ea typeface="+mn-lt"/>
                <a:cs typeface="+mn-lt"/>
              </a:rPr>
              <a:t>基本</a:t>
            </a:r>
            <a:r>
              <a:rPr lang="ja-JP" altLang="en-US" sz="1400" b="1" dirty="0">
                <a:solidFill>
                  <a:srgbClr val="000000"/>
                </a:solidFill>
                <a:ea typeface="+mn-lt"/>
                <a:cs typeface="+mn-lt"/>
              </a:rPr>
              <a:t>的なネットワーク知識</a:t>
            </a:r>
            <a:endParaRPr lang="ja-JP" altLang="en-US" sz="1400" b="1" dirty="0">
              <a:ea typeface="游ゴシック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A9D5E80-DEC3-E0B3-317E-8969602CFF2C}"/>
              </a:ext>
            </a:extLst>
          </p:cNvPr>
          <p:cNvSpPr txBox="1"/>
          <p:nvPr/>
        </p:nvSpPr>
        <p:spPr>
          <a:xfrm>
            <a:off x="7803708" y="2365840"/>
            <a:ext cx="3815774" cy="523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TCP/IP</a:t>
            </a:r>
            <a:r>
              <a:rPr lang="ja-JP" sz="1400" dirty="0">
                <a:solidFill>
                  <a:srgbClr val="000000"/>
                </a:solidFill>
                <a:ea typeface="+mn-lt"/>
                <a:cs typeface="+mn-lt"/>
              </a:rPr>
              <a:t>、サブネット、ファイアウォール、</a:t>
            </a:r>
            <a:endParaRPr lang="ja-JP" altLang="en-US" sz="1400" dirty="0">
              <a:ea typeface="游ゴシック"/>
            </a:endParaRPr>
          </a:p>
          <a:p>
            <a:r>
              <a:rPr lang="ja-JP" sz="1400" dirty="0">
                <a:solidFill>
                  <a:srgbClr val="000000"/>
                </a:solidFill>
                <a:ea typeface="+mn-lt"/>
                <a:cs typeface="+mn-lt"/>
              </a:rPr>
              <a:t>ロードバランサーなど</a:t>
            </a:r>
            <a:endParaRPr lang="ja-JP" sz="1400" dirty="0"/>
          </a:p>
        </p:txBody>
      </p:sp>
      <p:sp>
        <p:nvSpPr>
          <p:cNvPr id="5" name="テキスト ボックス 13">
            <a:extLst>
              <a:ext uri="{FF2B5EF4-FFF2-40B4-BE49-F238E27FC236}">
                <a16:creationId xmlns:a16="http://schemas.microsoft.com/office/drawing/2014/main" id="{DE1A150F-9700-035A-A4E5-BDC1EAAA9350}"/>
              </a:ext>
            </a:extLst>
          </p:cNvPr>
          <p:cNvSpPr txBox="1"/>
          <p:nvPr/>
        </p:nvSpPr>
        <p:spPr>
          <a:xfrm>
            <a:off x="314625" y="4107949"/>
            <a:ext cx="2303949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400" b="1" dirty="0">
                <a:solidFill>
                  <a:srgbClr val="0070C0"/>
                </a:solidFill>
                <a:ea typeface="游ゴシック"/>
              </a:rPr>
              <a:t>保有資格</a:t>
            </a:r>
            <a:endParaRPr lang="en-US" altLang="ja-JP" sz="2400" b="1" dirty="0">
              <a:solidFill>
                <a:srgbClr val="0070C0"/>
              </a:solidFill>
              <a:ea typeface="游ゴシック"/>
            </a:endParaRPr>
          </a:p>
        </p:txBody>
      </p:sp>
      <p:sp>
        <p:nvSpPr>
          <p:cNvPr id="27" name="テキスト ボックス 13">
            <a:extLst>
              <a:ext uri="{FF2B5EF4-FFF2-40B4-BE49-F238E27FC236}">
                <a16:creationId xmlns:a16="http://schemas.microsoft.com/office/drawing/2014/main" id="{A3E4CE06-61DF-E598-8F09-F73564697468}"/>
              </a:ext>
            </a:extLst>
          </p:cNvPr>
          <p:cNvSpPr txBox="1"/>
          <p:nvPr/>
        </p:nvSpPr>
        <p:spPr>
          <a:xfrm>
            <a:off x="324992" y="4600570"/>
            <a:ext cx="827205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600" b="1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資格名</a:t>
            </a:r>
            <a:endParaRPr lang="en-US" altLang="ja-JP" sz="1600" b="1" dirty="0">
              <a:solidFill>
                <a:srgbClr val="000000"/>
              </a:solidFill>
              <a:latin typeface="游ゴシック"/>
              <a:ea typeface="游ゴシック"/>
            </a:endParaRPr>
          </a:p>
        </p:txBody>
      </p:sp>
      <p:sp>
        <p:nvSpPr>
          <p:cNvPr id="28" name="テキスト ボックス 13">
            <a:extLst>
              <a:ext uri="{FF2B5EF4-FFF2-40B4-BE49-F238E27FC236}">
                <a16:creationId xmlns:a16="http://schemas.microsoft.com/office/drawing/2014/main" id="{0EF031F4-8711-0513-808F-60396F84C7A2}"/>
              </a:ext>
            </a:extLst>
          </p:cNvPr>
          <p:cNvSpPr txBox="1"/>
          <p:nvPr/>
        </p:nvSpPr>
        <p:spPr>
          <a:xfrm>
            <a:off x="1364864" y="4627463"/>
            <a:ext cx="3340683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AWS Certified Cloud Practitioner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  <p:sp>
        <p:nvSpPr>
          <p:cNvPr id="29" name="テキスト ボックス 13">
            <a:extLst>
              <a:ext uri="{FF2B5EF4-FFF2-40B4-BE49-F238E27FC236}">
                <a16:creationId xmlns:a16="http://schemas.microsoft.com/office/drawing/2014/main" id="{D5F39F43-73C8-6C88-C384-B932478D01B1}"/>
              </a:ext>
            </a:extLst>
          </p:cNvPr>
          <p:cNvSpPr txBox="1"/>
          <p:nvPr/>
        </p:nvSpPr>
        <p:spPr>
          <a:xfrm>
            <a:off x="324992" y="5577968"/>
            <a:ext cx="100863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600" b="1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学習内容</a:t>
            </a:r>
            <a:endParaRPr lang="en-US" altLang="ja-JP" sz="1600" b="1">
              <a:solidFill>
                <a:srgbClr val="000000"/>
              </a:solidFill>
              <a:latin typeface="游ゴシック"/>
              <a:ea typeface="游ゴシック"/>
            </a:endParaRPr>
          </a:p>
        </p:txBody>
      </p:sp>
      <p:sp>
        <p:nvSpPr>
          <p:cNvPr id="30" name="テキスト ボックス 13">
            <a:extLst>
              <a:ext uri="{FF2B5EF4-FFF2-40B4-BE49-F238E27FC236}">
                <a16:creationId xmlns:a16="http://schemas.microsoft.com/office/drawing/2014/main" id="{57817AD7-6D65-C1CA-5912-90EC0255CB08}"/>
              </a:ext>
            </a:extLst>
          </p:cNvPr>
          <p:cNvSpPr txBox="1"/>
          <p:nvPr/>
        </p:nvSpPr>
        <p:spPr>
          <a:xfrm>
            <a:off x="1328579" y="5577968"/>
            <a:ext cx="4293151" cy="9541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・AWS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公式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ド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キュメントの徹底的な学習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・Udemy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などのオ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ンラ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イ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ン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講座の受講</a:t>
            </a:r>
            <a:endParaRPr lang="en-US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・模擬試験の繰り返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し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実施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・AWS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ハンズオンでの実践的な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ス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キル習得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</p:txBody>
      </p:sp>
      <p:sp>
        <p:nvSpPr>
          <p:cNvPr id="31" name="テキスト ボックス 13">
            <a:extLst>
              <a:ext uri="{FF2B5EF4-FFF2-40B4-BE49-F238E27FC236}">
                <a16:creationId xmlns:a16="http://schemas.microsoft.com/office/drawing/2014/main" id="{8FBE1C88-6AB8-5848-7B2A-1F3200A35490}"/>
              </a:ext>
            </a:extLst>
          </p:cNvPr>
          <p:cNvSpPr txBox="1"/>
          <p:nvPr/>
        </p:nvSpPr>
        <p:spPr>
          <a:xfrm>
            <a:off x="5404991" y="4591602"/>
            <a:ext cx="1418143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600" b="1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実務活用</a:t>
            </a:r>
            <a:endParaRPr lang="ja-JP" altLang="en-US" sz="1600" b="1" dirty="0">
              <a:latin typeface="游ゴシック"/>
              <a:ea typeface="游ゴシック"/>
            </a:endParaRPr>
          </a:p>
        </p:txBody>
      </p:sp>
      <p:sp>
        <p:nvSpPr>
          <p:cNvPr id="32" name="テキスト ボックス 13">
            <a:extLst>
              <a:ext uri="{FF2B5EF4-FFF2-40B4-BE49-F238E27FC236}">
                <a16:creationId xmlns:a16="http://schemas.microsoft.com/office/drawing/2014/main" id="{19259CBE-B79B-7566-7B67-1119B3EE3A65}"/>
              </a:ext>
            </a:extLst>
          </p:cNvPr>
          <p:cNvSpPr txBox="1"/>
          <p:nvPr/>
        </p:nvSpPr>
        <p:spPr>
          <a:xfrm>
            <a:off x="6463909" y="5012948"/>
            <a:ext cx="5039601" cy="160043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・EC2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S3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RDS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VPC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などの主要サービスの特徴と使用シーンを理解し、適切なサービス選択できるようになりました</a:t>
            </a:r>
            <a:endParaRPr lang="en-US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  <a:p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・クラウドベースのソリューションの基本的なアーキテクチャ設計ができるようになりました</a:t>
            </a:r>
            <a:endParaRPr lang="en-US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  <a:p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・AWS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の共有責任モデルを理解し、セキュアなクラウド環境の設計と運用に貢献できま</a:t>
            </a:r>
            <a:r>
              <a:rPr lang="ja-JP" alt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す</a:t>
            </a:r>
            <a:endParaRPr lang="ja-JP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FFAB83E-9142-65A2-D63B-55DF657B8D1D}"/>
              </a:ext>
            </a:extLst>
          </p:cNvPr>
          <p:cNvSpPr/>
          <p:nvPr/>
        </p:nvSpPr>
        <p:spPr>
          <a:xfrm>
            <a:off x="318116" y="3958223"/>
            <a:ext cx="11430917" cy="360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ja-JP" altLang="en-US" dirty="0">
              <a:ea typeface="游ゴシック"/>
            </a:endParaRPr>
          </a:p>
        </p:txBody>
      </p:sp>
      <p:sp>
        <p:nvSpPr>
          <p:cNvPr id="3" name="テキスト ボックス 13">
            <a:extLst>
              <a:ext uri="{FF2B5EF4-FFF2-40B4-BE49-F238E27FC236}">
                <a16:creationId xmlns:a16="http://schemas.microsoft.com/office/drawing/2014/main" id="{CF8E95CF-D293-0A47-46C6-10E8B69B45EC}"/>
              </a:ext>
            </a:extLst>
          </p:cNvPr>
          <p:cNvSpPr txBox="1"/>
          <p:nvPr/>
        </p:nvSpPr>
        <p:spPr>
          <a:xfrm>
            <a:off x="348568" y="1578312"/>
            <a:ext cx="2303949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b="1">
                <a:solidFill>
                  <a:srgbClr val="000000"/>
                </a:solidFill>
                <a:ea typeface="游ゴシック"/>
              </a:rPr>
              <a:t>AWS関連のスキル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7" name="テキスト ボックス 13">
            <a:extLst>
              <a:ext uri="{FF2B5EF4-FFF2-40B4-BE49-F238E27FC236}">
                <a16:creationId xmlns:a16="http://schemas.microsoft.com/office/drawing/2014/main" id="{5D3C15DD-630D-C8F8-9D78-C66C388FCA7C}"/>
              </a:ext>
            </a:extLst>
          </p:cNvPr>
          <p:cNvSpPr txBox="1"/>
          <p:nvPr/>
        </p:nvSpPr>
        <p:spPr>
          <a:xfrm>
            <a:off x="3157999" y="1575720"/>
            <a:ext cx="2588358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b="1">
                <a:solidFill>
                  <a:srgbClr val="000000"/>
                </a:solidFill>
                <a:ea typeface="+mn-lt"/>
                <a:cs typeface="+mn-lt"/>
              </a:rPr>
              <a:t>その他</a:t>
            </a:r>
            <a:r>
              <a:rPr lang="ja-JP" altLang="en-US" b="1">
                <a:solidFill>
                  <a:srgbClr val="000000"/>
                </a:solidFill>
                <a:ea typeface="+mn-lt"/>
                <a:cs typeface="+mn-lt"/>
              </a:rPr>
              <a:t>スキル</a:t>
            </a:r>
            <a:endParaRPr lang="ja-JP" altLang="en-US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8" name="テキスト ボックス 13">
            <a:extLst>
              <a:ext uri="{FF2B5EF4-FFF2-40B4-BE49-F238E27FC236}">
                <a16:creationId xmlns:a16="http://schemas.microsoft.com/office/drawing/2014/main" id="{3746E2E6-59B2-D19E-96FC-4131DAC1479C}"/>
              </a:ext>
            </a:extLst>
          </p:cNvPr>
          <p:cNvSpPr txBox="1"/>
          <p:nvPr/>
        </p:nvSpPr>
        <p:spPr>
          <a:xfrm>
            <a:off x="1364865" y="4914335"/>
            <a:ext cx="3960170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AWS Certified Solutions Architect - Associate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  <p:sp>
        <p:nvSpPr>
          <p:cNvPr id="9" name="テキスト ボックス 13">
            <a:extLst>
              <a:ext uri="{FF2B5EF4-FFF2-40B4-BE49-F238E27FC236}">
                <a16:creationId xmlns:a16="http://schemas.microsoft.com/office/drawing/2014/main" id="{FEF6B030-42E8-2073-1147-637DE4817AAD}"/>
              </a:ext>
            </a:extLst>
          </p:cNvPr>
          <p:cNvSpPr txBox="1"/>
          <p:nvPr/>
        </p:nvSpPr>
        <p:spPr>
          <a:xfrm>
            <a:off x="1373830" y="5210169"/>
            <a:ext cx="3340683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 err="1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LinuC</a:t>
            </a:r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 Level-1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25407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277DD-8C69-67BC-874A-2E709F5C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4290DC-46D0-9A48-4BAF-C95C574E1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16632"/>
            <a:ext cx="8382944" cy="468054"/>
          </a:xfrm>
        </p:spPr>
        <p:txBody>
          <a:bodyPr>
            <a:normAutofit/>
          </a:bodyPr>
          <a:lstStyle/>
          <a:p>
            <a:r>
              <a:rPr lang="ja-JP" altLang="en-US" dirty="0"/>
              <a:t>対応ケース①：</a:t>
            </a:r>
            <a:r>
              <a:rPr lang="en-US" altLang="ja-JP" dirty="0"/>
              <a:t>S3 </a:t>
            </a:r>
            <a:r>
              <a:rPr lang="ja-JP" altLang="en-US" dirty="0"/>
              <a:t>アップロード制御に関する </a:t>
            </a:r>
            <a:r>
              <a:rPr lang="en-US" altLang="ja-JP" dirty="0"/>
              <a:t>IAM </a:t>
            </a:r>
            <a:r>
              <a:rPr lang="ja-JP" altLang="en-US" dirty="0"/>
              <a:t>設計</a:t>
            </a:r>
            <a:endParaRPr kumimoji="1" lang="ja-JP" altLang="en-US" dirty="0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F9EFE2-1610-C9A4-28A5-4DEC429AA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13409" y="6573744"/>
            <a:ext cx="3245164" cy="174885"/>
          </a:xfrm>
        </p:spPr>
        <p:txBody>
          <a:bodyPr/>
          <a:lstStyle/>
          <a:p>
            <a:fld id="{42C06FF3-EDEF-40D9-844B-E8BDE887AEB1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11" name="コンテンツ プレースホルダー 10">
            <a:extLst>
              <a:ext uri="{FF2B5EF4-FFF2-40B4-BE49-F238E27FC236}">
                <a16:creationId xmlns:a16="http://schemas.microsoft.com/office/drawing/2014/main" id="{17A6A31E-96C1-3CDD-BEBD-02B43BA90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993" y="810867"/>
            <a:ext cx="6110264" cy="1125509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600" dirty="0"/>
              <a:t>■ 問い合わせ内容</a:t>
            </a: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- </a:t>
            </a:r>
            <a:r>
              <a:rPr lang="ja-JP" altLang="en-US" sz="1200" dirty="0"/>
              <a:t>検証環境で </a:t>
            </a:r>
            <a:r>
              <a:rPr lang="en-US" altLang="ja-JP" sz="1200" dirty="0"/>
              <a:t>S3 </a:t>
            </a:r>
            <a:r>
              <a:rPr lang="ja-JP" altLang="en-US" sz="1200" dirty="0"/>
              <a:t>アップロードを禁止したい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- </a:t>
            </a:r>
            <a:r>
              <a:rPr lang="en-US" altLang="ja-JP" sz="1200" dirty="0" err="1"/>
              <a:t>ReadOnlyAccess</a:t>
            </a:r>
            <a:r>
              <a:rPr lang="en-US" altLang="ja-JP" sz="1200" dirty="0"/>
              <a:t> </a:t>
            </a:r>
            <a:r>
              <a:rPr lang="ja-JP" altLang="en-US" sz="1200" dirty="0"/>
              <a:t>や </a:t>
            </a:r>
            <a:r>
              <a:rPr lang="en-US" altLang="ja-JP" sz="1200" dirty="0"/>
              <a:t>Admin + S3ReadOnlyAccess </a:t>
            </a:r>
            <a:r>
              <a:rPr lang="ja-JP" altLang="en-US" sz="1200" dirty="0"/>
              <a:t>の挙動確認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- </a:t>
            </a:r>
            <a:r>
              <a:rPr lang="en-US" altLang="ja-JP" sz="1200" dirty="0" err="1"/>
              <a:t>AdministratorAccess</a:t>
            </a:r>
            <a:r>
              <a:rPr lang="ja-JP" altLang="en-US" sz="1200" dirty="0"/>
              <a:t>＋</a:t>
            </a:r>
            <a:r>
              <a:rPr lang="en-US" altLang="ja-JP" sz="1200" dirty="0"/>
              <a:t>S3ReadOnlyAccess </a:t>
            </a:r>
            <a:r>
              <a:rPr lang="ja-JP" altLang="en-US" sz="1200" dirty="0"/>
              <a:t>の組み合わせの可否を確認したい</a:t>
            </a:r>
          </a:p>
        </p:txBody>
      </p:sp>
      <p:sp>
        <p:nvSpPr>
          <p:cNvPr id="19" name="コンテンツ プレースホルダー 10">
            <a:extLst>
              <a:ext uri="{FF2B5EF4-FFF2-40B4-BE49-F238E27FC236}">
                <a16:creationId xmlns:a16="http://schemas.microsoft.com/office/drawing/2014/main" id="{C9AE140D-EA00-DF4A-CDF3-B3F0EBAF0F9B}"/>
              </a:ext>
            </a:extLst>
          </p:cNvPr>
          <p:cNvSpPr txBox="1">
            <a:spLocks/>
          </p:cNvSpPr>
          <p:nvPr/>
        </p:nvSpPr>
        <p:spPr>
          <a:xfrm>
            <a:off x="165029" y="2184530"/>
            <a:ext cx="5760642" cy="42790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kumimoji="1" sz="32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20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600" dirty="0"/>
              <a:t>■ 調査結果及び回答（公式ドキュメント準拠）</a:t>
            </a: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① </a:t>
            </a:r>
            <a:r>
              <a:rPr lang="en-US" altLang="ja-JP" sz="1200" dirty="0" err="1"/>
              <a:t>ReadOnlyAccess</a:t>
            </a:r>
            <a:r>
              <a:rPr lang="en-US" altLang="ja-JP" sz="1200" dirty="0"/>
              <a:t> </a:t>
            </a:r>
            <a:r>
              <a:rPr lang="ja-JP" altLang="en-US" sz="1200" dirty="0"/>
              <a:t>＋ </a:t>
            </a:r>
            <a:r>
              <a:rPr lang="en-US" altLang="ja-JP" sz="1200" dirty="0"/>
              <a:t>IAM </a:t>
            </a:r>
            <a:r>
              <a:rPr lang="ja-JP" altLang="en-US" sz="1200" dirty="0"/>
              <a:t>制限ポリシー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AWS</a:t>
            </a:r>
            <a:r>
              <a:rPr lang="ja-JP" altLang="en-US" sz="1200" dirty="0"/>
              <a:t>公式のポリシー評価ロジック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「明示的 </a:t>
            </a:r>
            <a:r>
              <a:rPr lang="en-US" altLang="ja-JP" sz="1200" dirty="0"/>
              <a:t>Deny </a:t>
            </a:r>
            <a:r>
              <a:rPr lang="ja-JP" altLang="en-US" sz="1200" dirty="0"/>
              <a:t>＞ </a:t>
            </a:r>
            <a:r>
              <a:rPr lang="en-US" altLang="ja-JP" sz="1200" dirty="0"/>
              <a:t>Allow </a:t>
            </a:r>
            <a:r>
              <a:rPr lang="ja-JP" altLang="en-US" sz="1200" dirty="0"/>
              <a:t>＞ 暗黙的 </a:t>
            </a:r>
            <a:r>
              <a:rPr lang="en-US" altLang="ja-JP" sz="1200" dirty="0"/>
              <a:t>Deny</a:t>
            </a:r>
            <a:r>
              <a:rPr lang="ja-JP" altLang="en-US" sz="1200" dirty="0"/>
              <a:t>」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に基づき回答。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 err="1"/>
              <a:t>ReadOnlyAccess</a:t>
            </a:r>
            <a:r>
              <a:rPr lang="en-US" altLang="ja-JP" sz="1200" dirty="0"/>
              <a:t> </a:t>
            </a:r>
            <a:r>
              <a:rPr lang="ja-JP" altLang="en-US" sz="1200" dirty="0"/>
              <a:t>と </a:t>
            </a:r>
            <a:r>
              <a:rPr lang="en-US" altLang="ja-JP" sz="1200" dirty="0"/>
              <a:t>IAM </a:t>
            </a:r>
            <a:r>
              <a:rPr lang="ja-JP" altLang="en-US" sz="1200" dirty="0"/>
              <a:t>制限ポリシーでは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S3 </a:t>
            </a:r>
            <a:r>
              <a:rPr lang="ja-JP" altLang="en-US" sz="1200" dirty="0"/>
              <a:t>アップロードは暗黙的 </a:t>
            </a:r>
            <a:r>
              <a:rPr lang="en-US" altLang="ja-JP" sz="1200" dirty="0"/>
              <a:t>Deny → </a:t>
            </a:r>
            <a:r>
              <a:rPr lang="ja-JP" altLang="en-US" sz="1200" dirty="0"/>
              <a:t>アップロード不可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お客様の認識は正しいと確認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② </a:t>
            </a:r>
            <a:r>
              <a:rPr lang="en-US" altLang="ja-JP" sz="1200" dirty="0" err="1"/>
              <a:t>AdministratorAccess</a:t>
            </a:r>
            <a:r>
              <a:rPr lang="en-US" altLang="ja-JP" sz="1200" dirty="0"/>
              <a:t> </a:t>
            </a:r>
            <a:r>
              <a:rPr lang="ja-JP" altLang="en-US" sz="1200" dirty="0"/>
              <a:t>＋ </a:t>
            </a:r>
            <a:r>
              <a:rPr lang="en-US" altLang="ja-JP" sz="1200" dirty="0"/>
              <a:t>S3ReadOnlyAccess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 err="1"/>
              <a:t>AdministratorAccess</a:t>
            </a:r>
            <a:r>
              <a:rPr lang="en-US" altLang="ja-JP" sz="1200" dirty="0"/>
              <a:t> </a:t>
            </a:r>
            <a:r>
              <a:rPr lang="ja-JP" altLang="en-US" sz="1200" dirty="0"/>
              <a:t>に 明示的 </a:t>
            </a:r>
            <a:r>
              <a:rPr lang="en-US" altLang="ja-JP" sz="1200" dirty="0"/>
              <a:t>Deny </a:t>
            </a:r>
            <a:r>
              <a:rPr lang="ja-JP" altLang="en-US" sz="1200" dirty="0"/>
              <a:t>が無い場合、アップロードは許可される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S3ReadOnlyAccess </a:t>
            </a:r>
            <a:r>
              <a:rPr lang="ja-JP" altLang="en-US" sz="1200" dirty="0"/>
              <a:t>は「追加の許可を増やす」だけで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Admin </a:t>
            </a:r>
            <a:r>
              <a:rPr lang="ja-JP" altLang="en-US" sz="1200" dirty="0"/>
              <a:t>の権限を制限するものではない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③ </a:t>
            </a:r>
            <a:r>
              <a:rPr lang="en-US" altLang="ja-JP" sz="1200" dirty="0"/>
              <a:t>S3 </a:t>
            </a:r>
            <a:r>
              <a:rPr lang="ja-JP" altLang="en-US" sz="1200" dirty="0"/>
              <a:t>アップロード禁止を確実に行う方法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推奨構成：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 err="1"/>
              <a:t>AdministratorAccess</a:t>
            </a:r>
            <a:r>
              <a:rPr lang="en-US" altLang="ja-JP" sz="1200" dirty="0"/>
              <a:t> </a:t>
            </a:r>
            <a:r>
              <a:rPr lang="ja-JP" altLang="en-US" sz="1200" dirty="0"/>
              <a:t>または </a:t>
            </a:r>
            <a:r>
              <a:rPr lang="en-US" altLang="ja-JP" sz="1200" dirty="0" err="1"/>
              <a:t>PowerUserAccess</a:t>
            </a: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＋ アップロード操作（</a:t>
            </a:r>
            <a:r>
              <a:rPr lang="en-US" altLang="ja-JP" sz="1200" dirty="0"/>
              <a:t>s3:PutObject </a:t>
            </a:r>
            <a:r>
              <a:rPr lang="ja-JP" altLang="en-US" sz="1200" dirty="0"/>
              <a:t>など）を 明示的 </a:t>
            </a:r>
            <a:r>
              <a:rPr lang="en-US" altLang="ja-JP" sz="1200" dirty="0"/>
              <a:t>Deny </a:t>
            </a:r>
            <a:r>
              <a:rPr lang="ja-JP" altLang="en-US" sz="1200" dirty="0"/>
              <a:t>するカスタムポリシー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→ 明示的 </a:t>
            </a:r>
            <a:r>
              <a:rPr lang="en-US" altLang="ja-JP" sz="1200" dirty="0"/>
              <a:t>Deny </a:t>
            </a:r>
            <a:r>
              <a:rPr lang="ja-JP" altLang="en-US" sz="1200" dirty="0"/>
              <a:t>が最優先で評価されるため、アップロード禁止が確実。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600" dirty="0"/>
          </a:p>
        </p:txBody>
      </p:sp>
      <p:sp>
        <p:nvSpPr>
          <p:cNvPr id="20" name="コンテンツ プレースホルダー 10">
            <a:extLst>
              <a:ext uri="{FF2B5EF4-FFF2-40B4-BE49-F238E27FC236}">
                <a16:creationId xmlns:a16="http://schemas.microsoft.com/office/drawing/2014/main" id="{44F025D2-B710-5A2A-2006-C6236A2E66A9}"/>
              </a:ext>
            </a:extLst>
          </p:cNvPr>
          <p:cNvSpPr txBox="1">
            <a:spLocks/>
          </p:cNvSpPr>
          <p:nvPr/>
        </p:nvSpPr>
        <p:spPr>
          <a:xfrm>
            <a:off x="6024285" y="810867"/>
            <a:ext cx="6110264" cy="11255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kumimoji="1" sz="32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20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600" dirty="0"/>
              <a:t>■最終結論（お客様側）</a:t>
            </a: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「</a:t>
            </a:r>
            <a:r>
              <a:rPr lang="en-US" altLang="ja-JP" sz="1200" dirty="0" err="1"/>
              <a:t>PowerUserAccess</a:t>
            </a:r>
            <a:r>
              <a:rPr lang="ja-JP" altLang="en-US" sz="1200" dirty="0"/>
              <a:t>＋</a:t>
            </a:r>
            <a:r>
              <a:rPr lang="en-US" altLang="ja-JP" sz="1200" dirty="0"/>
              <a:t>S3</a:t>
            </a:r>
            <a:r>
              <a:rPr lang="ja-JP" altLang="en-US" sz="1200" dirty="0"/>
              <a:t>アップロード禁止のカスタムポリシー」で対応する方針とするとのことで問い合わせクローズ。</a:t>
            </a:r>
          </a:p>
        </p:txBody>
      </p:sp>
      <p:sp>
        <p:nvSpPr>
          <p:cNvPr id="56" name="コンテンツ プレースホルダー 10">
            <a:extLst>
              <a:ext uri="{FF2B5EF4-FFF2-40B4-BE49-F238E27FC236}">
                <a16:creationId xmlns:a16="http://schemas.microsoft.com/office/drawing/2014/main" id="{F1750309-F865-9E21-4A06-8CFA2603653D}"/>
              </a:ext>
            </a:extLst>
          </p:cNvPr>
          <p:cNvSpPr txBox="1">
            <a:spLocks/>
          </p:cNvSpPr>
          <p:nvPr/>
        </p:nvSpPr>
        <p:spPr>
          <a:xfrm>
            <a:off x="6024285" y="2115548"/>
            <a:ext cx="5760642" cy="42790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kumimoji="1" sz="32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2000" b="1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kumimoji="1" sz="1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600" dirty="0"/>
              <a:t>■参考資料（</a:t>
            </a:r>
            <a:r>
              <a:rPr lang="en-US" altLang="ja-JP" sz="1600" dirty="0"/>
              <a:t>AWS</a:t>
            </a:r>
            <a:r>
              <a:rPr lang="ja-JP" altLang="en-US" sz="1600" dirty="0"/>
              <a:t>公式ドキュメント）</a:t>
            </a: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6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200" dirty="0"/>
              <a:t>■ </a:t>
            </a:r>
            <a:r>
              <a:rPr lang="en-US" altLang="ja-JP" sz="1200" dirty="0"/>
              <a:t>IAM </a:t>
            </a:r>
            <a:r>
              <a:rPr lang="ja-JP" altLang="en-US" sz="1200" dirty="0"/>
              <a:t>ポリシー関連</a:t>
            </a: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[1] </a:t>
            </a:r>
            <a:r>
              <a:rPr lang="ja-JP" altLang="en-US" sz="1200" dirty="0"/>
              <a:t>ポリシーの評価論理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https://docs.aws.amazon.com/ja_jp/IAM/latest/UserGuide/reference_policies_evaluation-logic.html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[2] </a:t>
            </a:r>
            <a:r>
              <a:rPr lang="en-US" altLang="ja-JP" sz="1200" dirty="0" err="1"/>
              <a:t>PowerUserAccess</a:t>
            </a: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https://docs.aws.amazon.com/ja_jp/aws-managed-policy/latest/reference/PowerUserAccess.html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■ S3 / </a:t>
            </a:r>
            <a:r>
              <a:rPr lang="ja-JP" altLang="en-US" sz="1200" dirty="0"/>
              <a:t>アクセス権限関連</a:t>
            </a: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ja-JP" altLang="en-US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[1] AmazonS3ReadOnlyAccess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https://docs.aws.amazon.com/ja_jp/aws-managed-policy/latest/reference/AmazonS3ReadOnlyAccess.html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en-US" altLang="ja-JP" sz="12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[2] </a:t>
            </a:r>
            <a:r>
              <a:rPr lang="ja-JP" altLang="en-US" sz="1200" dirty="0"/>
              <a:t>明示的な拒否と暗黙的な拒否の違い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altLang="ja-JP" sz="1200" dirty="0"/>
              <a:t>https://docs.aws.amazon.com/ja_jp/IAM/latest/UserGuide/reference_policies_evaluation-logic_AccessPolicyLanguage_Interplay.html</a:t>
            </a:r>
            <a:endParaRPr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99036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DE4AA-0102-2D0C-DDA7-20BB4485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336A76-8A42-B5C6-118F-E95E3DE71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b="1">
                <a:latin typeface="游ゴシック"/>
                <a:ea typeface="游ゴシック"/>
              </a:rPr>
              <a:t>今後の目標</a:t>
            </a:r>
            <a:endParaRPr lang="en-US" altLang="ja-JP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8EB832-9266-EA83-4822-87AD21D8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1C62F9-7937-D5C8-704B-B8D648BC6379}"/>
              </a:ext>
            </a:extLst>
          </p:cNvPr>
          <p:cNvSpPr txBox="1"/>
          <p:nvPr/>
        </p:nvSpPr>
        <p:spPr>
          <a:xfrm>
            <a:off x="335360" y="1822360"/>
            <a:ext cx="6674153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ja-JP" altLang="en-US" dirty="0">
                <a:ea typeface="游ゴシック"/>
              </a:rPr>
              <a:t>・</a:t>
            </a:r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 </a:t>
            </a:r>
            <a:r>
              <a:rPr lang="en-US" altLang="ja-JP" dirty="0">
                <a:ea typeface="游ゴシック"/>
              </a:rPr>
              <a:t>Certified Solutions Architect – Professional</a:t>
            </a:r>
            <a:r>
              <a:rPr lang="ja-JP" altLang="en-US" dirty="0">
                <a:ea typeface="游ゴシック"/>
              </a:rPr>
              <a:t> 資格取得</a:t>
            </a:r>
            <a:endParaRPr lang="en-US" altLang="ja-JP" dirty="0">
              <a:ea typeface="游ゴシック"/>
            </a:endParaRPr>
          </a:p>
        </p:txBody>
      </p:sp>
      <p:sp>
        <p:nvSpPr>
          <p:cNvPr id="5" name="テキスト ボックス 13">
            <a:extLst>
              <a:ext uri="{FF2B5EF4-FFF2-40B4-BE49-F238E27FC236}">
                <a16:creationId xmlns:a16="http://schemas.microsoft.com/office/drawing/2014/main" id="{BDD4DDBA-A195-6BD5-FF9B-3368C5F825AB}"/>
              </a:ext>
            </a:extLst>
          </p:cNvPr>
          <p:cNvSpPr txBox="1"/>
          <p:nvPr/>
        </p:nvSpPr>
        <p:spPr>
          <a:xfrm>
            <a:off x="335800" y="1108422"/>
            <a:ext cx="310377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今後の目標</a:t>
            </a:r>
          </a:p>
        </p:txBody>
      </p:sp>
    </p:spTree>
    <p:extLst>
      <p:ext uri="{BB962C8B-B14F-4D97-AF65-F5344CB8AC3E}">
        <p14:creationId xmlns:p14="http://schemas.microsoft.com/office/powerpoint/2010/main" val="2485355997"/>
      </p:ext>
    </p:extLst>
  </p:cSld>
  <p:clrMapOvr>
    <a:masterClrMapping/>
  </p:clrMapOvr>
</p:sld>
</file>

<file path=ppt/theme/theme1.xml><?xml version="1.0" encoding="utf-8"?>
<a:theme xmlns:a="http://schemas.openxmlformats.org/drawingml/2006/main" name="GTTマスター本文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ovtTech東京-スライド雛形_Ver2(ロゴ位置修正)" id="{7BE5E356-91DF-4359-AE8A-3236070EF249}" vid="{340CFE97-167C-4A9F-8A1D-C22867A4EBD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50778A40BB97904D942255E2E155F7D0" ma:contentTypeVersion="14" ma:contentTypeDescription="新しいドキュメントを作成します。" ma:contentTypeScope="" ma:versionID="69a6922dbfd1ab1826ad37d50c30c63c">
  <xsd:schema xmlns:xsd="http://www.w3.org/2001/XMLSchema" xmlns:xs="http://www.w3.org/2001/XMLSchema" xmlns:p="http://schemas.microsoft.com/office/2006/metadata/properties" xmlns:ns2="5d5e86c2-1981-49c0-a4c5-18f5e325411d" xmlns:ns3="3f560f56-3566-4265-8616-bf2c1da3872b" targetNamespace="http://schemas.microsoft.com/office/2006/metadata/properties" ma:root="true" ma:fieldsID="3fe0b2f1430f4c41453b7d9b1b5c55c1" ns2:_="" ns3:_="">
    <xsd:import namespace="5d5e86c2-1981-49c0-a4c5-18f5e325411d"/>
    <xsd:import namespace="3f560f56-3566-4265-8616-bf2c1da3872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e86c2-1981-49c0-a4c5-18f5e32541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画像タグ" ma:readOnly="false" ma:fieldId="{5cf76f15-5ced-4ddc-b409-7134ff3c332f}" ma:taxonomyMulti="true" ma:sspId="811cc47a-0e71-4495-8d9a-154145a130f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560f56-3566-4265-8616-bf2c1da3872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5e86c2-1981-49c0-a4c5-18f5e325411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C315674-D7B8-47E2-BC37-5670892D319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85AFE0-2C0D-480C-9101-310C580611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5e86c2-1981-49c0-a4c5-18f5e325411d"/>
    <ds:schemaRef ds:uri="3f560f56-3566-4265-8616-bf2c1da3872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6C0FC12-A96B-4033-90DC-496C404C70D1}">
  <ds:schemaRefs>
    <ds:schemaRef ds:uri="http://schemas.microsoft.com/office/2006/metadata/properties"/>
    <ds:schemaRef ds:uri="http://schemas.microsoft.com/office/infopath/2007/PartnerControls"/>
    <ds:schemaRef ds:uri="5d5e86c2-1981-49c0-a4c5-18f5e325411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GovtTech東京-スライド雛形_Ver2(ロゴ位置修正)</Template>
  <TotalTime>0</TotalTime>
  <Words>687</Words>
  <Application>Microsoft Office PowerPoint</Application>
  <PresentationFormat>ワイド画面</PresentationFormat>
  <Paragraphs>109</Paragraphs>
  <Slides>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游ゴシック</vt:lpstr>
      <vt:lpstr>Arial</vt:lpstr>
      <vt:lpstr>GTTマスター本文</vt:lpstr>
      <vt:lpstr>PowerPoint プレゼンテーション</vt:lpstr>
      <vt:lpstr>プロフィール・自己PR</vt:lpstr>
      <vt:lpstr>スキルセット</vt:lpstr>
      <vt:lpstr>対応ケース①：S3 アップロード制御に関する IAM 設計</vt:lpstr>
      <vt:lpstr>今後の目標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2025-09-12T08:55:12Z</dcterms:created>
  <dcterms:modified xsi:type="dcterms:W3CDTF">2025-11-26T10:50:03Z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434c97d-8ab1-48ff-a40e-6511b83ece5b_Enabled">
    <vt:lpwstr>true</vt:lpwstr>
  </property>
  <property fmtid="{D5CDD505-2E9C-101B-9397-08002B2CF9AE}" pid="3" name="MSIP_Label_4434c97d-8ab1-48ff-a40e-6511b83ece5b_SetDate">
    <vt:lpwstr>2025-09-12T08:55:22Z</vt:lpwstr>
  </property>
  <property fmtid="{D5CDD505-2E9C-101B-9397-08002B2CF9AE}" pid="4" name="MSIP_Label_4434c97d-8ab1-48ff-a40e-6511b83ece5b_Method">
    <vt:lpwstr>Standard</vt:lpwstr>
  </property>
  <property fmtid="{D5CDD505-2E9C-101B-9397-08002B2CF9AE}" pid="5" name="MSIP_Label_4434c97d-8ab1-48ff-a40e-6511b83ece5b_Name">
    <vt:lpwstr>GTT Public</vt:lpwstr>
  </property>
  <property fmtid="{D5CDD505-2E9C-101B-9397-08002B2CF9AE}" pid="6" name="MSIP_Label_4434c97d-8ab1-48ff-a40e-6511b83ece5b_SiteId">
    <vt:lpwstr>9d3e2e69-df2b-4c53-bac1-dd09f0728a7d</vt:lpwstr>
  </property>
  <property fmtid="{D5CDD505-2E9C-101B-9397-08002B2CF9AE}" pid="7" name="MSIP_Label_4434c97d-8ab1-48ff-a40e-6511b83ece5b_ActionId">
    <vt:lpwstr>5279e295-d89a-4122-8387-c013e94f090d</vt:lpwstr>
  </property>
  <property fmtid="{D5CDD505-2E9C-101B-9397-08002B2CF9AE}" pid="8" name="MSIP_Label_4434c97d-8ab1-48ff-a40e-6511b83ece5b_ContentBits">
    <vt:lpwstr>0</vt:lpwstr>
  </property>
  <property fmtid="{D5CDD505-2E9C-101B-9397-08002B2CF9AE}" pid="9" name="MSIP_Label_4434c97d-8ab1-48ff-a40e-6511b83ece5b_Tag">
    <vt:lpwstr>10, 3, 0, 1</vt:lpwstr>
  </property>
  <property fmtid="{D5CDD505-2E9C-101B-9397-08002B2CF9AE}" pid="10" name="MediaServiceImageTags">
    <vt:lpwstr/>
  </property>
  <property fmtid="{D5CDD505-2E9C-101B-9397-08002B2CF9AE}" pid="11" name="xd_ProgID">
    <vt:lpwstr/>
  </property>
  <property fmtid="{D5CDD505-2E9C-101B-9397-08002B2CF9AE}" pid="12" name="ContentTypeId">
    <vt:lpwstr>0x01010050778A40BB97904D942255E2E155F7D0</vt:lpwstr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TriggerFlowInfo">
    <vt:lpwstr/>
  </property>
  <property fmtid="{D5CDD505-2E9C-101B-9397-08002B2CF9AE}" pid="17" name="xd_Signature">
    <vt:bool>false</vt:bool>
  </property>
</Properties>
</file>