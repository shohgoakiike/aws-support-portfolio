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10"/>
  </p:notesMasterIdLst>
  <p:sldIdLst>
    <p:sldId id="461" r:id="rId5"/>
    <p:sldId id="462" r:id="rId6"/>
    <p:sldId id="463" r:id="rId7"/>
    <p:sldId id="460" r:id="rId8"/>
    <p:sldId id="449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CFC"/>
    <a:srgbClr val="A974FB"/>
    <a:srgbClr val="DEEBF7"/>
    <a:srgbClr val="09CD86"/>
    <a:srgbClr val="0A0045"/>
    <a:srgbClr val="128C75"/>
    <a:srgbClr val="7F7F7F"/>
    <a:srgbClr val="018838"/>
    <a:srgbClr val="E2F0D9"/>
    <a:srgbClr val="D1EB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BB8152-7813-4DD7-8C30-6943339385CA}" type="datetimeFigureOut">
              <a:rPr kumimoji="1" lang="ja-JP" altLang="en-US" smtClean="0"/>
              <a:t>2025/11/19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757476-B337-4A58-AD00-3B086E8673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99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757476-B337-4A58-AD00-3B086E867399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73644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757476-B337-4A58-AD00-3B086E86739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2313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東京都GTT連盟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F28BF40-0C44-45B2-1858-3068C934FEB5}"/>
              </a:ext>
            </a:extLst>
          </p:cNvPr>
          <p:cNvSpPr/>
          <p:nvPr userDrawn="1"/>
        </p:nvSpPr>
        <p:spPr>
          <a:xfrm>
            <a:off x="0" y="-10160"/>
            <a:ext cx="12192000" cy="6648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534E2D3-8122-4E07-5DED-FD5CE17EB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A0045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EF5EE7-1386-DA2F-141B-273E2C609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defRPr sz="3200" b="1">
                <a:latin typeface="+mn-ea"/>
                <a:ea typeface="+mn-ea"/>
              </a:defRPr>
            </a:lvl1pPr>
            <a:lvl2pPr>
              <a:defRPr>
                <a:latin typeface="+mn-ea"/>
                <a:ea typeface="+mn-ea"/>
              </a:defRPr>
            </a:lvl2pPr>
            <a:lvl3pPr>
              <a:spcBef>
                <a:spcPts val="0"/>
              </a:spcBef>
              <a:spcAft>
                <a:spcPts val="0"/>
              </a:spcAft>
              <a:defRPr>
                <a:latin typeface="+mn-ea"/>
                <a:ea typeface="+mn-ea"/>
              </a:defRPr>
            </a:lvl3pPr>
            <a:lvl4pPr>
              <a:lnSpc>
                <a:spcPts val="2400"/>
              </a:lnSpc>
              <a:defRPr>
                <a:latin typeface="+mn-ea"/>
                <a:ea typeface="+mn-ea"/>
              </a:defRPr>
            </a:lvl4pPr>
            <a:lvl5pPr>
              <a:defRPr sz="1400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E37901-2F67-E8F2-32B1-6E60AB3A6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22A55-22D5-47DA-B376-12D74840BD06}" type="datetime1">
              <a:rPr kumimoji="1" lang="ja-JP" altLang="en-US" smtClean="0"/>
              <a:t>2025/11/19</a:t>
            </a:fld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BC9E01-9A0F-E1DE-67C1-524F7E4C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A0045"/>
                </a:solidFill>
              </a:defRPr>
            </a:lvl1pPr>
          </a:lstStyle>
          <a:p>
            <a:fld id="{42C06FF3-EDEF-40D9-844B-E8BDE887AEB1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43970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表紙_GTT東京都連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A7C13D4-85B1-45AC-1216-B18A6FBC0C6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94BDDB0-0B3B-1F99-215B-4A73194E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436" y="1988840"/>
            <a:ext cx="10117124" cy="576064"/>
          </a:xfrm>
        </p:spPr>
        <p:txBody>
          <a:bodyPr>
            <a:normAutofit/>
          </a:bodyPr>
          <a:lstStyle>
            <a:lvl1pPr>
              <a:defRPr sz="3600">
                <a:solidFill>
                  <a:srgbClr val="0A0045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700EB93-ADD2-7A50-3075-35EC33219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47F1A-3080-4AE7-9245-F405EDE1DDF3}" type="datetime1">
              <a:rPr lang="ja-JP" altLang="en-US" smtClean="0"/>
              <a:t>2025/11/19</a:t>
            </a:fld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CE3CD43-DC4B-6753-A084-9BE3623A7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AD773ABD-511A-6C5F-D7E9-C0DA732386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19436" y="2708920"/>
            <a:ext cx="10117124" cy="5762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1">
                <a:solidFill>
                  <a:srgbClr val="0A0045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7716018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E54C745-1914-B58C-DB7A-3CBD3A0A7CD5}"/>
              </a:ext>
            </a:extLst>
          </p:cNvPr>
          <p:cNvSpPr/>
          <p:nvPr userDrawn="1"/>
        </p:nvSpPr>
        <p:spPr>
          <a:xfrm>
            <a:off x="0" y="653872"/>
            <a:ext cx="12187147" cy="577791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2295E26-55C6-A9DF-E00D-4D28E817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16632"/>
            <a:ext cx="7956008" cy="468054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665390-A383-723E-0251-6CC5CE3B4F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360" y="918445"/>
            <a:ext cx="11521280" cy="53908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EEE95A-4113-AE11-D7CA-5E8DAC22E0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6236" y="6562935"/>
            <a:ext cx="3246040" cy="178433"/>
          </a:xfrm>
          <a:prstGeom prst="rect">
            <a:avLst/>
          </a:prstGeom>
          <a:noFill/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rgbClr val="008000"/>
                </a:solidFill>
                <a:latin typeface="+mn-ea"/>
                <a:ea typeface="+mn-ea"/>
              </a:defRPr>
            </a:lvl1pPr>
          </a:lstStyle>
          <a:p>
            <a:fld id="{F1FA71E0-FC87-437A-9C14-FB30BE460721}" type="datetime1">
              <a:rPr lang="ja-JP" altLang="en-US" smtClean="0"/>
              <a:t>2025/11/19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720EC7-3D48-3BC9-8382-F71D33A176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55675"/>
            <a:ext cx="4114800" cy="178433"/>
          </a:xfrm>
          <a:prstGeom prst="rect">
            <a:avLst/>
          </a:prstGeom>
          <a:noFill/>
        </p:spPr>
        <p:txBody>
          <a:bodyPr vert="horz" lIns="0" tIns="0" rIns="0" bIns="0" rtlCol="0" anchor="t" anchorCtr="0"/>
          <a:lstStyle>
            <a:lvl1pPr algn="ctr">
              <a:defRPr sz="1000">
                <a:solidFill>
                  <a:srgbClr val="008000"/>
                </a:solidFill>
                <a:latin typeface="+mn-lt"/>
                <a:ea typeface="Noto Sans JP Medium" panose="020B02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FB723E-30B7-488E-7E05-9456155FBF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62935"/>
            <a:ext cx="3245164" cy="174885"/>
          </a:xfrm>
          <a:prstGeom prst="rect">
            <a:avLst/>
          </a:prstGeom>
          <a:noFill/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rgbClr val="008000"/>
                </a:solidFill>
                <a:latin typeface="+mn-ea"/>
                <a:ea typeface="+mn-ea"/>
              </a:defRPr>
            </a:lvl1pPr>
          </a:lstStyle>
          <a:p>
            <a:fld id="{42C06FF3-EDEF-40D9-844B-E8BDE887AEB1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1777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000" b="1" kern="1200">
          <a:solidFill>
            <a:schemeClr val="bg1"/>
          </a:solidFill>
          <a:latin typeface="+mn-ea"/>
          <a:ea typeface="+mn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32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kumimoji="1" sz="3200" b="1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8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2000" b="1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400"/>
        </a:lnSpc>
        <a:spcBef>
          <a:spcPts val="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400"/>
        </a:lnSpc>
        <a:spcBef>
          <a:spcPts val="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000"/>
        </a:lnSpc>
        <a:spcBef>
          <a:spcPts val="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16DC48-FE98-10EF-29FC-ADF16CFF2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1</a:t>
            </a:fld>
            <a:endParaRPr lang="ja-JP" altLang="en-US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F1AAABE-7C18-C5EF-F462-5E7EED252C75}"/>
              </a:ext>
            </a:extLst>
          </p:cNvPr>
          <p:cNvGrpSpPr/>
          <p:nvPr/>
        </p:nvGrpSpPr>
        <p:grpSpPr>
          <a:xfrm>
            <a:off x="1020519" y="2343140"/>
            <a:ext cx="10117124" cy="2178644"/>
            <a:chOff x="1020519" y="2497375"/>
            <a:chExt cx="10117124" cy="2178644"/>
          </a:xfrm>
        </p:grpSpPr>
        <p:sp>
          <p:nvSpPr>
            <p:cNvPr id="8" name="タイトル 9">
              <a:extLst>
                <a:ext uri="{FF2B5EF4-FFF2-40B4-BE49-F238E27FC236}">
                  <a16:creationId xmlns:a16="http://schemas.microsoft.com/office/drawing/2014/main" id="{1AF61D2E-9CC4-8C1B-B9BD-0DBFBA0011B5}"/>
                </a:ext>
              </a:extLst>
            </p:cNvPr>
            <p:cNvSpPr txBox="1">
              <a:spLocks/>
            </p:cNvSpPr>
            <p:nvPr/>
          </p:nvSpPr>
          <p:spPr>
            <a:xfrm>
              <a:off x="1020519" y="3456522"/>
              <a:ext cx="10117124" cy="576064"/>
            </a:xfrm>
            <a:prstGeom prst="rect">
              <a:avLst/>
            </a:prstGeom>
          </p:spPr>
          <p:txBody>
            <a:bodyPr vert="horz" lIns="0" tIns="0" rIns="0" bIns="0" rtlCol="0" anchor="ctr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kumimoji="1" sz="2000" b="1" kern="1200">
                  <a:solidFill>
                    <a:srgbClr val="0A0045"/>
                  </a:solidFill>
                  <a:latin typeface="+mn-ea"/>
                  <a:ea typeface="+mn-ea"/>
                  <a:cs typeface="+mj-cs"/>
                </a:defRPr>
              </a:lvl1pPr>
            </a:lstStyle>
            <a:p>
              <a:r>
                <a:rPr lang="ja-JP" altLang="en-US" sz="2800" dirty="0">
                  <a:latin typeface="游ゴシック"/>
                  <a:ea typeface="游ゴシック"/>
                </a:rPr>
                <a:t>秋池 翔悟</a:t>
              </a:r>
              <a:r>
                <a:rPr lang="ja-JP" altLang="en-US" dirty="0">
                  <a:latin typeface="游ゴシック"/>
                  <a:ea typeface="游ゴシック"/>
                </a:rPr>
                <a:t>（</a:t>
              </a:r>
              <a:r>
                <a:rPr lang="en-US" altLang="ja-JP" dirty="0" err="1">
                  <a:latin typeface="游ゴシック"/>
                  <a:ea typeface="游ゴシック"/>
                </a:rPr>
                <a:t>Shohgo</a:t>
              </a:r>
              <a:r>
                <a:rPr lang="ja-JP" altLang="en-US" dirty="0">
                  <a:latin typeface="游ゴシック"/>
                  <a:ea typeface="游ゴシック"/>
                  <a:cs typeface="+mn-ea"/>
                </a:rPr>
                <a:t> </a:t>
              </a:r>
              <a:r>
                <a:rPr lang="en-US" altLang="ja-JP" dirty="0" err="1">
                  <a:latin typeface="游ゴシック"/>
                  <a:ea typeface="游ゴシック"/>
                  <a:cs typeface="+mn-ea"/>
                </a:rPr>
                <a:t>Akiike</a:t>
              </a:r>
              <a:r>
                <a:rPr lang="ja-JP" altLang="en-US" dirty="0">
                  <a:latin typeface="游ゴシック"/>
                  <a:ea typeface="游ゴシック"/>
                  <a:cs typeface="+mn-ea"/>
                </a:rPr>
                <a:t>）</a:t>
              </a:r>
              <a:endParaRPr lang="ja-JP" altLang="en-US" dirty="0">
                <a:latin typeface="游ゴシック"/>
                <a:ea typeface="游ゴシック"/>
              </a:endParaRPr>
            </a:p>
          </p:txBody>
        </p:sp>
        <p:sp>
          <p:nvSpPr>
            <p:cNvPr id="9" name="テキスト プレースホルダー 6">
              <a:extLst>
                <a:ext uri="{FF2B5EF4-FFF2-40B4-BE49-F238E27FC236}">
                  <a16:creationId xmlns:a16="http://schemas.microsoft.com/office/drawing/2014/main" id="{923BA4D6-6C9A-574C-A76F-63A1484D7C6A}"/>
                </a:ext>
              </a:extLst>
            </p:cNvPr>
            <p:cNvSpPr txBox="1">
              <a:spLocks/>
            </p:cNvSpPr>
            <p:nvPr/>
          </p:nvSpPr>
          <p:spPr>
            <a:xfrm>
              <a:off x="1020519" y="2497375"/>
              <a:ext cx="10117124" cy="576262"/>
            </a:xfrm>
            <a:prstGeom prst="rect">
              <a:avLst/>
            </a:prstGeom>
          </p:spPr>
          <p:txBody>
            <a:bodyPr vert="horz" lIns="0" tIns="0" rIns="0" bIns="0" rtlCol="0" anchor="t">
              <a:noAutofit/>
            </a:bodyPr>
            <a:lstStyle>
              <a:lvl1pPr marL="0" indent="0" algn="ctr" defTabSz="914400" rtl="0" eaLnBrk="1" latinLnBrk="0" hangingPunct="1">
                <a:lnSpc>
                  <a:spcPts val="3200"/>
                </a:lnSpc>
                <a:spcBef>
                  <a:spcPts val="0"/>
                </a:spcBef>
                <a:spcAft>
                  <a:spcPts val="800"/>
                </a:spcAft>
                <a:buFont typeface="Arial" panose="020B0604020202020204" pitchFamily="34" charset="0"/>
                <a:buNone/>
                <a:defRPr kumimoji="1" sz="2000" b="1" kern="1200">
                  <a:solidFill>
                    <a:srgbClr val="0A0045"/>
                  </a:solidFill>
                  <a:latin typeface="+mn-ea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ts val="28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2000" b="1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ts val="24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ts val="24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6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ts val="2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4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4600">
                  <a:latin typeface="游ゴシック"/>
                  <a:ea typeface="游ゴシック"/>
                </a:rPr>
                <a:t>ポートフォリオ</a:t>
              </a:r>
              <a:endParaRPr lang="en-US" altLang="ja-JP" sz="4600">
                <a:latin typeface="游ゴシック"/>
                <a:ea typeface="游ゴシック"/>
              </a:endParaRPr>
            </a:p>
          </p:txBody>
        </p:sp>
        <p:sp>
          <p:nvSpPr>
            <p:cNvPr id="11" name="テキスト プレースホルダー 6">
              <a:extLst>
                <a:ext uri="{FF2B5EF4-FFF2-40B4-BE49-F238E27FC236}">
                  <a16:creationId xmlns:a16="http://schemas.microsoft.com/office/drawing/2014/main" id="{0AAE7572-DB68-9ECE-7036-CF29FA32C945}"/>
                </a:ext>
              </a:extLst>
            </p:cNvPr>
            <p:cNvSpPr txBox="1">
              <a:spLocks/>
            </p:cNvSpPr>
            <p:nvPr/>
          </p:nvSpPr>
          <p:spPr>
            <a:xfrm>
              <a:off x="1020519" y="4099757"/>
              <a:ext cx="10117124" cy="576262"/>
            </a:xfrm>
            <a:prstGeom prst="rect">
              <a:avLst/>
            </a:prstGeom>
          </p:spPr>
          <p:txBody>
            <a:bodyPr vert="horz" lIns="0" tIns="0" rIns="0" bIns="0" rtlCol="0" anchor="t">
              <a:noAutofit/>
            </a:bodyPr>
            <a:lstStyle>
              <a:lvl1pPr marL="0" indent="0" algn="ctr" defTabSz="914400" rtl="0" eaLnBrk="1" latinLnBrk="0" hangingPunct="1">
                <a:lnSpc>
                  <a:spcPts val="3200"/>
                </a:lnSpc>
                <a:spcBef>
                  <a:spcPts val="0"/>
                </a:spcBef>
                <a:spcAft>
                  <a:spcPts val="800"/>
                </a:spcAft>
                <a:buFont typeface="Arial" panose="020B0604020202020204" pitchFamily="34" charset="0"/>
                <a:buNone/>
                <a:defRPr kumimoji="1" sz="2000" b="1" kern="1200">
                  <a:solidFill>
                    <a:srgbClr val="0A0045"/>
                  </a:solidFill>
                  <a:latin typeface="+mn-ea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ts val="28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kumimoji="1" sz="2000" b="1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ts val="24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ts val="24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6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ts val="2000"/>
                </a:lnSpc>
                <a:spcBef>
                  <a:spcPts val="0"/>
                </a:spcBef>
                <a:buFont typeface="Arial" panose="020B0604020202020204" pitchFamily="34" charset="0"/>
                <a:buChar char="•"/>
                <a:defRPr kumimoji="1" sz="1400" kern="1200">
                  <a:solidFill>
                    <a:schemeClr val="tx1"/>
                  </a:solidFill>
                  <a:latin typeface="+mn-ea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800" b="0" dirty="0">
                  <a:latin typeface="游ゴシック"/>
                  <a:ea typeface="游ゴシック"/>
                </a:rPr>
                <a:t>202</a:t>
              </a:r>
              <a:r>
                <a:rPr lang="en-US" altLang="ja-JP" sz="1800" b="0" dirty="0">
                  <a:latin typeface="游ゴシック"/>
                  <a:ea typeface="游ゴシック"/>
                </a:rPr>
                <a:t>5</a:t>
              </a:r>
              <a:r>
                <a:rPr lang="ja-JP" altLang="en-US" sz="1800" b="0" dirty="0">
                  <a:latin typeface="游ゴシック"/>
                  <a:ea typeface="游ゴシック"/>
                </a:rPr>
                <a:t>.</a:t>
              </a:r>
              <a:r>
                <a:rPr lang="en-US" altLang="ja-JP" sz="1800" b="0" dirty="0">
                  <a:latin typeface="游ゴシック"/>
                  <a:ea typeface="游ゴシック"/>
                </a:rPr>
                <a:t>11</a:t>
              </a:r>
              <a:r>
                <a:rPr lang="ja-JP" altLang="en-US" sz="1800" b="0" dirty="0">
                  <a:latin typeface="游ゴシック"/>
                  <a:ea typeface="游ゴシック"/>
                </a:rPr>
                <a:t>.</a:t>
              </a:r>
              <a:r>
                <a:rPr lang="en-US" altLang="ja-JP" sz="1800" b="0" dirty="0">
                  <a:latin typeface="游ゴシック"/>
                  <a:ea typeface="游ゴシック"/>
                </a:rPr>
                <a:t>17</a:t>
              </a:r>
              <a:r>
                <a:rPr lang="ja-JP" altLang="en-US" sz="1800" b="0" dirty="0">
                  <a:latin typeface="游ゴシック"/>
                  <a:ea typeface="游ゴシック"/>
                </a:rPr>
                <a:t>更新</a:t>
              </a:r>
              <a:endParaRPr lang="en-US" altLang="ja-JP" sz="1800" b="0" dirty="0">
                <a:latin typeface="游ゴシック"/>
                <a:ea typeface="游ゴシック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1536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CAB0A-330B-473F-E0BC-0D27E6B99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5C8847-243F-1B67-63AB-12A7B674D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游ゴシック"/>
                <a:ea typeface="游ゴシック"/>
              </a:rPr>
              <a:t>プロフィール・</a:t>
            </a:r>
            <a:r>
              <a:rPr lang="ja-JP" altLang="en-US">
                <a:latin typeface="游ゴシック"/>
                <a:ea typeface="游ゴシック"/>
              </a:rPr>
              <a:t>自己PR</a:t>
            </a:r>
            <a:endParaRPr kumimoji="1" lang="ja-JP" altLang="en-US">
              <a:latin typeface="游ゴシック"/>
              <a:ea typeface="游ゴシック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628920-5C77-F3EB-86C3-E328FABBA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7" name="テキスト ボックス 13">
            <a:extLst>
              <a:ext uri="{FF2B5EF4-FFF2-40B4-BE49-F238E27FC236}">
                <a16:creationId xmlns:a16="http://schemas.microsoft.com/office/drawing/2014/main" id="{64247452-4B08-381A-009F-5C08D02A287D}"/>
              </a:ext>
            </a:extLst>
          </p:cNvPr>
          <p:cNvSpPr txBox="1"/>
          <p:nvPr/>
        </p:nvSpPr>
        <p:spPr>
          <a:xfrm>
            <a:off x="562974" y="3474000"/>
            <a:ext cx="827205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b="1">
                <a:solidFill>
                  <a:srgbClr val="000000"/>
                </a:solidFill>
                <a:ea typeface="游ゴシック"/>
              </a:rPr>
              <a:t>氏名</a:t>
            </a:r>
            <a:endParaRPr lang="en-US" altLang="ja-JP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9" name="テキスト ボックス 13">
            <a:extLst>
              <a:ext uri="{FF2B5EF4-FFF2-40B4-BE49-F238E27FC236}">
                <a16:creationId xmlns:a16="http://schemas.microsoft.com/office/drawing/2014/main" id="{7E715298-0112-8304-2913-92DB3FD0BC5B}"/>
              </a:ext>
            </a:extLst>
          </p:cNvPr>
          <p:cNvSpPr txBox="1"/>
          <p:nvPr/>
        </p:nvSpPr>
        <p:spPr>
          <a:xfrm>
            <a:off x="1786466" y="3474000"/>
            <a:ext cx="2303949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>
                <a:solidFill>
                  <a:srgbClr val="000000"/>
                </a:solidFill>
                <a:ea typeface="游ゴシック"/>
              </a:rPr>
              <a:t>秋池 翔悟</a:t>
            </a:r>
            <a:endParaRPr lang="en-US" altLang="ja-JP" dirty="0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10" name="テキスト ボックス 13">
            <a:extLst>
              <a:ext uri="{FF2B5EF4-FFF2-40B4-BE49-F238E27FC236}">
                <a16:creationId xmlns:a16="http://schemas.microsoft.com/office/drawing/2014/main" id="{7C47C81F-40FE-C5CA-BEA4-95F967558AF6}"/>
              </a:ext>
            </a:extLst>
          </p:cNvPr>
          <p:cNvSpPr txBox="1"/>
          <p:nvPr/>
        </p:nvSpPr>
        <p:spPr>
          <a:xfrm>
            <a:off x="562974" y="4134798"/>
            <a:ext cx="827205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b="1">
                <a:solidFill>
                  <a:srgbClr val="000000"/>
                </a:solidFill>
                <a:ea typeface="游ゴシック"/>
              </a:rPr>
              <a:t>略歴</a:t>
            </a:r>
            <a:endParaRPr lang="en-US" altLang="ja-JP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11" name="テキスト ボックス 13">
            <a:extLst>
              <a:ext uri="{FF2B5EF4-FFF2-40B4-BE49-F238E27FC236}">
                <a16:creationId xmlns:a16="http://schemas.microsoft.com/office/drawing/2014/main" id="{62C69AEA-A2AD-E044-E1F7-4048BA74168D}"/>
              </a:ext>
            </a:extLst>
          </p:cNvPr>
          <p:cNvSpPr txBox="1"/>
          <p:nvPr/>
        </p:nvSpPr>
        <p:spPr>
          <a:xfrm>
            <a:off x="1756932" y="4140704"/>
            <a:ext cx="3562132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dirty="0">
                <a:solidFill>
                  <a:srgbClr val="000000"/>
                </a:solidFill>
                <a:ea typeface="+mn-lt"/>
                <a:cs typeface="+mn-lt"/>
              </a:rPr>
              <a:t>クラウドインフラエンジニア</a:t>
            </a:r>
            <a:endParaRPr lang="en-US" altLang="ja-JP" dirty="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ja-JP" dirty="0">
                <a:solidFill>
                  <a:srgbClr val="000000"/>
                </a:solidFill>
                <a:ea typeface="+mn-lt"/>
                <a:cs typeface="+mn-lt"/>
              </a:rPr>
              <a:t>としてキャリアをスタート</a:t>
            </a:r>
            <a:endParaRPr lang="en-US" altLang="ja-JP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89D4676-136F-1972-F2AE-3A241BEE7C90}"/>
              </a:ext>
            </a:extLst>
          </p:cNvPr>
          <p:cNvSpPr/>
          <p:nvPr/>
        </p:nvSpPr>
        <p:spPr>
          <a:xfrm>
            <a:off x="490039" y="876152"/>
            <a:ext cx="1837068" cy="181344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ja-JP" altLang="en-US" sz="1400">
                <a:solidFill>
                  <a:srgbClr val="595959"/>
                </a:solidFill>
                <a:latin typeface="游ゴシック"/>
                <a:ea typeface="游ゴシック"/>
              </a:rPr>
              <a:t>プロフィール</a:t>
            </a:r>
          </a:p>
          <a:p>
            <a:pPr algn="ctr"/>
            <a:r>
              <a:rPr lang="ja-JP" altLang="en-US" sz="1400">
                <a:solidFill>
                  <a:srgbClr val="595959"/>
                </a:solidFill>
                <a:latin typeface="游ゴシック"/>
                <a:ea typeface="游ゴシック"/>
              </a:rPr>
              <a:t>写真や</a:t>
            </a:r>
          </a:p>
          <a:p>
            <a:pPr algn="ctr"/>
            <a:r>
              <a:rPr lang="ja-JP" altLang="en-US" sz="1400">
                <a:solidFill>
                  <a:srgbClr val="595959"/>
                </a:solidFill>
                <a:latin typeface="游ゴシック"/>
                <a:ea typeface="游ゴシック"/>
              </a:rPr>
              <a:t>アイコン</a:t>
            </a:r>
          </a:p>
        </p:txBody>
      </p:sp>
      <p:sp>
        <p:nvSpPr>
          <p:cNvPr id="3" name="テキスト ボックス 13">
            <a:extLst>
              <a:ext uri="{FF2B5EF4-FFF2-40B4-BE49-F238E27FC236}">
                <a16:creationId xmlns:a16="http://schemas.microsoft.com/office/drawing/2014/main" id="{4B6D8C18-2F74-82DF-BD93-D618567B874B}"/>
              </a:ext>
            </a:extLst>
          </p:cNvPr>
          <p:cNvSpPr txBox="1"/>
          <p:nvPr/>
        </p:nvSpPr>
        <p:spPr>
          <a:xfrm>
            <a:off x="562974" y="5074588"/>
            <a:ext cx="1156864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b="1">
                <a:solidFill>
                  <a:srgbClr val="000000"/>
                </a:solidFill>
                <a:ea typeface="游ゴシック"/>
              </a:rPr>
              <a:t>強み/</a:t>
            </a:r>
            <a:endParaRPr lang="ja-JP"/>
          </a:p>
          <a:p>
            <a:r>
              <a:rPr lang="ja-JP" altLang="en-US" b="1">
                <a:solidFill>
                  <a:srgbClr val="000000"/>
                </a:solidFill>
                <a:ea typeface="游ゴシック"/>
              </a:rPr>
              <a:t>専門分野</a:t>
            </a:r>
            <a:endParaRPr lang="ja-JP"/>
          </a:p>
        </p:txBody>
      </p:sp>
      <p:sp>
        <p:nvSpPr>
          <p:cNvPr id="8" name="テキスト ボックス 13">
            <a:extLst>
              <a:ext uri="{FF2B5EF4-FFF2-40B4-BE49-F238E27FC236}">
                <a16:creationId xmlns:a16="http://schemas.microsoft.com/office/drawing/2014/main" id="{B28F8744-7D09-722B-C87C-B9C5D9EC6BB9}"/>
              </a:ext>
            </a:extLst>
          </p:cNvPr>
          <p:cNvSpPr txBox="1"/>
          <p:nvPr/>
        </p:nvSpPr>
        <p:spPr>
          <a:xfrm>
            <a:off x="1731923" y="5104122"/>
            <a:ext cx="3961921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>
                <a:solidFill>
                  <a:srgbClr val="000000"/>
                </a:solidFill>
                <a:ea typeface="+mn-lt"/>
                <a:cs typeface="+mn-lt"/>
              </a:rPr>
              <a:t>AWS</a:t>
            </a:r>
            <a:r>
              <a:rPr lang="ja-JP" altLang="en-US" dirty="0">
                <a:solidFill>
                  <a:srgbClr val="000000"/>
                </a:solidFill>
                <a:ea typeface="+mn-lt"/>
                <a:cs typeface="+mn-lt"/>
              </a:rPr>
              <a:t>に関する技術サポートとトラブルシューティング</a:t>
            </a:r>
            <a:endParaRPr lang="en-US" altLang="ja-JP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16760E0-0DE4-BB34-4838-62A2B9A6BEED}"/>
              </a:ext>
            </a:extLst>
          </p:cNvPr>
          <p:cNvSpPr/>
          <p:nvPr/>
        </p:nvSpPr>
        <p:spPr>
          <a:xfrm>
            <a:off x="6077505" y="1173341"/>
            <a:ext cx="29238" cy="50375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ja-JP" altLang="en-US" dirty="0">
              <a:ea typeface="游ゴシック"/>
            </a:endParaRPr>
          </a:p>
        </p:txBody>
      </p:sp>
      <p:sp>
        <p:nvSpPr>
          <p:cNvPr id="25" name="テキスト ボックス 15">
            <a:extLst>
              <a:ext uri="{FF2B5EF4-FFF2-40B4-BE49-F238E27FC236}">
                <a16:creationId xmlns:a16="http://schemas.microsoft.com/office/drawing/2014/main" id="{A4CA2B8F-4950-1CE2-20AD-8B6959A113CD}"/>
              </a:ext>
            </a:extLst>
          </p:cNvPr>
          <p:cNvSpPr txBox="1"/>
          <p:nvPr/>
        </p:nvSpPr>
        <p:spPr>
          <a:xfrm>
            <a:off x="6407163" y="2277197"/>
            <a:ext cx="5363495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>
                <a:ea typeface="游ゴシック"/>
              </a:rPr>
              <a:t>AWS</a:t>
            </a:r>
            <a:r>
              <a:rPr lang="ja-JP" altLang="en-US" dirty="0">
                <a:ea typeface="游ゴシック"/>
              </a:rPr>
              <a:t>テクニカルサポートとしての実務経験を通じて、クラウドインフラの設計・構築・運用に関する確かな知識と対応力を身につけました。</a:t>
            </a:r>
            <a:endParaRPr lang="en-US" altLang="ja-JP" dirty="0">
              <a:ea typeface="游ゴシック"/>
            </a:endParaRPr>
          </a:p>
          <a:p>
            <a:endParaRPr lang="en-US" altLang="ja-JP" dirty="0">
              <a:ea typeface="游ゴシック"/>
            </a:endParaRPr>
          </a:p>
          <a:p>
            <a:r>
              <a:rPr lang="ja-JP" altLang="en-US" dirty="0">
                <a:ea typeface="游ゴシック"/>
              </a:rPr>
              <a:t>特に、主要</a:t>
            </a:r>
            <a:r>
              <a:rPr lang="en-US" altLang="ja-JP" dirty="0">
                <a:ea typeface="游ゴシック"/>
              </a:rPr>
              <a:t>AWS</a:t>
            </a:r>
            <a:r>
              <a:rPr lang="ja-JP" altLang="en-US" dirty="0">
                <a:ea typeface="游ゴシック"/>
              </a:rPr>
              <a:t>サービスのトラブルシューティングや課題解決を得意としており、お客様環境の安定稼働に貢献してきました。</a:t>
            </a:r>
            <a:endParaRPr lang="en-US" altLang="ja-JP" dirty="0">
              <a:ea typeface="游ゴシック"/>
            </a:endParaRPr>
          </a:p>
          <a:p>
            <a:endParaRPr lang="en-US" altLang="ja-JP" dirty="0">
              <a:ea typeface="游ゴシック"/>
            </a:endParaRPr>
          </a:p>
          <a:p>
            <a:r>
              <a:rPr lang="en-US" altLang="ja-JP" dirty="0">
                <a:ea typeface="游ゴシック"/>
              </a:rPr>
              <a:t>CLF</a:t>
            </a:r>
            <a:r>
              <a:rPr lang="ja-JP" altLang="en-US" dirty="0">
                <a:ea typeface="游ゴシック"/>
              </a:rPr>
              <a:t>・</a:t>
            </a:r>
            <a:r>
              <a:rPr lang="en-US" altLang="ja-JP" dirty="0">
                <a:ea typeface="游ゴシック"/>
              </a:rPr>
              <a:t>SAA</a:t>
            </a:r>
            <a:r>
              <a:rPr lang="ja-JP" altLang="en-US" dirty="0">
                <a:ea typeface="游ゴシック"/>
              </a:rPr>
              <a:t>資格に基づく体系的な知識と、日々の問い合わせ対応で培った分析力・コミュニケーション力を活かし、技術的な問題を迅速かつ丁寧に解決できることが強みです。</a:t>
            </a:r>
          </a:p>
        </p:txBody>
      </p:sp>
      <p:sp>
        <p:nvSpPr>
          <p:cNvPr id="26" name="テキスト ボックス 13">
            <a:extLst>
              <a:ext uri="{FF2B5EF4-FFF2-40B4-BE49-F238E27FC236}">
                <a16:creationId xmlns:a16="http://schemas.microsoft.com/office/drawing/2014/main" id="{268F7B78-021D-A448-508A-9A150C7A4123}"/>
              </a:ext>
            </a:extLst>
          </p:cNvPr>
          <p:cNvSpPr txBox="1"/>
          <p:nvPr/>
        </p:nvSpPr>
        <p:spPr>
          <a:xfrm>
            <a:off x="6525854" y="1535797"/>
            <a:ext cx="3103778" cy="4001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000" b="1">
                <a:solidFill>
                  <a:srgbClr val="0070C0"/>
                </a:solidFill>
                <a:ea typeface="游ゴシック"/>
              </a:rPr>
              <a:t>自己PR</a:t>
            </a:r>
          </a:p>
        </p:txBody>
      </p:sp>
    </p:spTree>
    <p:extLst>
      <p:ext uri="{BB962C8B-B14F-4D97-AF65-F5344CB8AC3E}">
        <p14:creationId xmlns:p14="http://schemas.microsoft.com/office/powerpoint/2010/main" val="114401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CAB0A-330B-473F-E0BC-0D27E6B99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5C8847-243F-1B67-63AB-12A7B674D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游ゴシック"/>
                <a:ea typeface="游ゴシック"/>
              </a:rPr>
              <a:t>スキルセット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628920-5C77-F3EB-86C3-E328FABBA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12" name="テキスト ボックス 13">
            <a:extLst>
              <a:ext uri="{FF2B5EF4-FFF2-40B4-BE49-F238E27FC236}">
                <a16:creationId xmlns:a16="http://schemas.microsoft.com/office/drawing/2014/main" id="{9EA77ECB-ED48-D94C-0B25-4FE9DD0743B5}"/>
              </a:ext>
            </a:extLst>
          </p:cNvPr>
          <p:cNvSpPr txBox="1"/>
          <p:nvPr/>
        </p:nvSpPr>
        <p:spPr>
          <a:xfrm>
            <a:off x="348619" y="953712"/>
            <a:ext cx="2303949" cy="46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400" b="1">
                <a:solidFill>
                  <a:srgbClr val="0070C0"/>
                </a:solidFill>
                <a:ea typeface="游ゴシック"/>
              </a:rPr>
              <a:t>スキルセット</a:t>
            </a:r>
            <a:endParaRPr lang="en-US" altLang="ja-JP" sz="2400" b="1">
              <a:solidFill>
                <a:srgbClr val="0070C0"/>
              </a:solidFill>
              <a:ea typeface="游ゴシック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D855525-CE44-56BC-FDAB-F3C31262A841}"/>
              </a:ext>
            </a:extLst>
          </p:cNvPr>
          <p:cNvSpPr txBox="1"/>
          <p:nvPr/>
        </p:nvSpPr>
        <p:spPr>
          <a:xfrm>
            <a:off x="343318" y="2027878"/>
            <a:ext cx="2091298" cy="160043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・EC2</a:t>
            </a: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・S3</a:t>
            </a: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・RDS</a:t>
            </a: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・VPC</a:t>
            </a: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・IAM</a:t>
            </a:r>
            <a:endParaRPr lang="ja-JP" altLang="en-US" sz="1400" dirty="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・Route 53</a:t>
            </a:r>
          </a:p>
          <a:p>
            <a:r>
              <a:rPr lang="en-US" sz="1400" dirty="0">
                <a:solidFill>
                  <a:srgbClr val="000000"/>
                </a:solidFill>
                <a:ea typeface="+mn-lt"/>
                <a:cs typeface="+mn-lt"/>
              </a:rPr>
              <a:t>・CloudFront</a:t>
            </a:r>
            <a:endParaRPr lang="en-US" dirty="0"/>
          </a:p>
        </p:txBody>
      </p:sp>
      <p:sp>
        <p:nvSpPr>
          <p:cNvPr id="15" name="テキスト ボックス 13">
            <a:extLst>
              <a:ext uri="{FF2B5EF4-FFF2-40B4-BE49-F238E27FC236}">
                <a16:creationId xmlns:a16="http://schemas.microsoft.com/office/drawing/2014/main" id="{5D3C15DD-630D-C8F8-9D78-C66C388FCA7C}"/>
              </a:ext>
            </a:extLst>
          </p:cNvPr>
          <p:cNvSpPr txBox="1"/>
          <p:nvPr/>
        </p:nvSpPr>
        <p:spPr>
          <a:xfrm>
            <a:off x="3173550" y="2043429"/>
            <a:ext cx="1922166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b="1" dirty="0">
                <a:solidFill>
                  <a:srgbClr val="000000"/>
                </a:solidFill>
                <a:ea typeface="+mn-lt"/>
                <a:cs typeface="+mn-lt"/>
              </a:rPr>
              <a:t>Linux</a:t>
            </a:r>
            <a:r>
              <a:rPr lang="ja-JP" sz="1400" b="1">
                <a:solidFill>
                  <a:srgbClr val="000000"/>
                </a:solidFill>
                <a:ea typeface="+mn-lt"/>
                <a:cs typeface="+mn-lt"/>
              </a:rPr>
              <a:t>基本コマンド</a:t>
            </a:r>
            <a:endParaRPr lang="en-US" altLang="ja-JP" sz="14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D774B2B-D813-84FB-44EB-88AF1D2FB506}"/>
              </a:ext>
            </a:extLst>
          </p:cNvPr>
          <p:cNvSpPr txBox="1"/>
          <p:nvPr/>
        </p:nvSpPr>
        <p:spPr>
          <a:xfrm>
            <a:off x="3192651" y="2342514"/>
            <a:ext cx="4806337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>
                <a:solidFill>
                  <a:srgbClr val="000000"/>
                </a:solidFill>
                <a:ea typeface="+mn-lt"/>
                <a:cs typeface="+mn-lt"/>
              </a:rPr>
              <a:t>ファイル操作</a:t>
            </a:r>
            <a:r>
              <a:rPr lang="ja-JP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ja-JP" altLang="en-US" sz="1400">
                <a:solidFill>
                  <a:srgbClr val="000000"/>
                </a:solidFill>
                <a:ea typeface="+mn-lt"/>
                <a:cs typeface="+mn-lt"/>
              </a:rPr>
              <a:t>プロセス管理、ネットワーク設定など</a:t>
            </a:r>
            <a:endParaRPr lang="en-US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7" name="テキスト ボックス 13">
            <a:extLst>
              <a:ext uri="{FF2B5EF4-FFF2-40B4-BE49-F238E27FC236}">
                <a16:creationId xmlns:a16="http://schemas.microsoft.com/office/drawing/2014/main" id="{F2064A51-C22E-EAAA-4166-6B1DB9DB9000}"/>
              </a:ext>
            </a:extLst>
          </p:cNvPr>
          <p:cNvSpPr txBox="1"/>
          <p:nvPr/>
        </p:nvSpPr>
        <p:spPr>
          <a:xfrm>
            <a:off x="3163182" y="2846895"/>
            <a:ext cx="2568797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00000"/>
                </a:solidFill>
                <a:ea typeface="+mn-lt"/>
                <a:cs typeface="+mn-lt"/>
              </a:rPr>
              <a:t>WordPress</a:t>
            </a:r>
            <a:r>
              <a:rPr lang="ja-JP" altLang="en-US" sz="1400" b="1" dirty="0">
                <a:solidFill>
                  <a:srgbClr val="000000"/>
                </a:solidFill>
                <a:ea typeface="+mn-lt"/>
                <a:cs typeface="+mn-lt"/>
              </a:rPr>
              <a:t>の構築/運用</a:t>
            </a:r>
            <a:endParaRPr lang="ja-JP" altLang="en-US" sz="1400" b="1" dirty="0">
              <a:ea typeface="游ゴシック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EE94C7D-2EF2-F4E6-0A00-1AE41AF4E71D}"/>
              </a:ext>
            </a:extLst>
          </p:cNvPr>
          <p:cNvSpPr txBox="1"/>
          <p:nvPr/>
        </p:nvSpPr>
        <p:spPr>
          <a:xfrm>
            <a:off x="3187468" y="3154180"/>
            <a:ext cx="3959590" cy="5232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400" dirty="0">
                <a:solidFill>
                  <a:srgbClr val="000000"/>
                </a:solidFill>
                <a:ea typeface="+mn-lt"/>
                <a:cs typeface="+mn-lt"/>
              </a:rPr>
              <a:t>テーマ・プラグイン管理、セキュリティ対策、</a:t>
            </a:r>
            <a:endParaRPr lang="ja-JP" altLang="en-US" sz="1400" dirty="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ja-JP" sz="1400" dirty="0">
                <a:solidFill>
                  <a:srgbClr val="000000"/>
                </a:solidFill>
                <a:ea typeface="+mn-lt"/>
                <a:cs typeface="+mn-lt"/>
              </a:rPr>
              <a:t>パフォーマンス最適化</a:t>
            </a:r>
            <a:endParaRPr lang="ja-JP" altLang="en-US" sz="1400" dirty="0">
              <a:ea typeface="游ゴシック"/>
            </a:endParaRPr>
          </a:p>
        </p:txBody>
      </p:sp>
      <p:sp>
        <p:nvSpPr>
          <p:cNvPr id="19" name="テキスト ボックス 13">
            <a:extLst>
              <a:ext uri="{FF2B5EF4-FFF2-40B4-BE49-F238E27FC236}">
                <a16:creationId xmlns:a16="http://schemas.microsoft.com/office/drawing/2014/main" id="{5A8A208E-803E-D914-8E47-6E0592186A76}"/>
              </a:ext>
            </a:extLst>
          </p:cNvPr>
          <p:cNvSpPr txBox="1"/>
          <p:nvPr/>
        </p:nvSpPr>
        <p:spPr>
          <a:xfrm>
            <a:off x="7790929" y="2071153"/>
            <a:ext cx="2446198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400" b="1" dirty="0">
                <a:solidFill>
                  <a:srgbClr val="000000"/>
                </a:solidFill>
                <a:ea typeface="+mn-lt"/>
                <a:cs typeface="+mn-lt"/>
              </a:rPr>
              <a:t>基本</a:t>
            </a:r>
            <a:r>
              <a:rPr lang="ja-JP" altLang="en-US" sz="1400" b="1" dirty="0">
                <a:solidFill>
                  <a:srgbClr val="000000"/>
                </a:solidFill>
                <a:ea typeface="+mn-lt"/>
                <a:cs typeface="+mn-lt"/>
              </a:rPr>
              <a:t>的なネットワーク知識</a:t>
            </a:r>
            <a:endParaRPr lang="ja-JP" altLang="en-US" sz="1400" b="1" dirty="0">
              <a:ea typeface="游ゴシック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A9D5E80-DEC3-E0B3-317E-8969602CFF2C}"/>
              </a:ext>
            </a:extLst>
          </p:cNvPr>
          <p:cNvSpPr txBox="1"/>
          <p:nvPr/>
        </p:nvSpPr>
        <p:spPr>
          <a:xfrm>
            <a:off x="7803708" y="2365840"/>
            <a:ext cx="3815774" cy="5232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TCP/IP</a:t>
            </a:r>
            <a:r>
              <a:rPr lang="ja-JP" sz="1400">
                <a:solidFill>
                  <a:srgbClr val="000000"/>
                </a:solidFill>
                <a:ea typeface="+mn-lt"/>
                <a:cs typeface="+mn-lt"/>
              </a:rPr>
              <a:t>、サブネット、ファイアウォール、</a:t>
            </a:r>
            <a:endParaRPr lang="ja-JP" altLang="en-US" sz="1400">
              <a:ea typeface="游ゴシック"/>
            </a:endParaRPr>
          </a:p>
          <a:p>
            <a:r>
              <a:rPr lang="ja-JP" sz="1400">
                <a:solidFill>
                  <a:srgbClr val="000000"/>
                </a:solidFill>
                <a:ea typeface="+mn-lt"/>
                <a:cs typeface="+mn-lt"/>
              </a:rPr>
              <a:t>ロードバランサーなど</a:t>
            </a:r>
            <a:endParaRPr lang="ja-JP" sz="1400"/>
          </a:p>
        </p:txBody>
      </p:sp>
      <p:sp>
        <p:nvSpPr>
          <p:cNvPr id="21" name="テキスト ボックス 13">
            <a:extLst>
              <a:ext uri="{FF2B5EF4-FFF2-40B4-BE49-F238E27FC236}">
                <a16:creationId xmlns:a16="http://schemas.microsoft.com/office/drawing/2014/main" id="{67F5B4A0-7F32-C300-64E9-A926E4F7FDD6}"/>
              </a:ext>
            </a:extLst>
          </p:cNvPr>
          <p:cNvSpPr txBox="1"/>
          <p:nvPr/>
        </p:nvSpPr>
        <p:spPr>
          <a:xfrm>
            <a:off x="7801296" y="2996622"/>
            <a:ext cx="1429717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b="1">
                <a:solidFill>
                  <a:srgbClr val="000000"/>
                </a:solidFill>
                <a:ea typeface="+mn-lt"/>
                <a:cs typeface="+mn-lt"/>
              </a:rPr>
              <a:t>G</a:t>
            </a:r>
            <a:r>
              <a:rPr lang="ja-JP" sz="1400" b="1">
                <a:solidFill>
                  <a:srgbClr val="000000"/>
                </a:solidFill>
                <a:ea typeface="+mn-lt"/>
                <a:cs typeface="+mn-lt"/>
              </a:rPr>
              <a:t>it/GitHub</a:t>
            </a:r>
            <a:endParaRPr lang="ja-JP" sz="1400" b="1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6DFCD2D-DC02-7CA4-2852-03BD69AFCE7F}"/>
              </a:ext>
            </a:extLst>
          </p:cNvPr>
          <p:cNvSpPr txBox="1"/>
          <p:nvPr/>
        </p:nvSpPr>
        <p:spPr>
          <a:xfrm>
            <a:off x="7804432" y="3303904"/>
            <a:ext cx="4300627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>
                <a:solidFill>
                  <a:srgbClr val="000000"/>
                </a:solidFill>
                <a:ea typeface="+mn-lt"/>
                <a:cs typeface="+mn-lt"/>
              </a:rPr>
              <a:t>リポジトリ作成</a:t>
            </a:r>
            <a:r>
              <a:rPr lang="ja-JP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altLang="ja-JP" sz="1400" dirty="0">
                <a:solidFill>
                  <a:srgbClr val="000000"/>
                </a:solidFill>
                <a:ea typeface="+mn-lt"/>
                <a:cs typeface="+mn-lt"/>
              </a:rPr>
              <a:t>commit</a:t>
            </a:r>
            <a:r>
              <a:rPr lang="ja-JP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ja-JP" altLang="en-US" sz="1400">
                <a:solidFill>
                  <a:srgbClr val="000000"/>
                </a:solidFill>
                <a:ea typeface="+mn-lt"/>
                <a:cs typeface="+mn-lt"/>
              </a:rPr>
              <a:t>push、pull request</a:t>
            </a:r>
          </a:p>
        </p:txBody>
      </p:sp>
      <p:sp>
        <p:nvSpPr>
          <p:cNvPr id="5" name="テキスト ボックス 13">
            <a:extLst>
              <a:ext uri="{FF2B5EF4-FFF2-40B4-BE49-F238E27FC236}">
                <a16:creationId xmlns:a16="http://schemas.microsoft.com/office/drawing/2014/main" id="{DE1A150F-9700-035A-A4E5-BDC1EAAA9350}"/>
              </a:ext>
            </a:extLst>
          </p:cNvPr>
          <p:cNvSpPr txBox="1"/>
          <p:nvPr/>
        </p:nvSpPr>
        <p:spPr>
          <a:xfrm>
            <a:off x="314625" y="4107949"/>
            <a:ext cx="2303949" cy="46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400" b="1" dirty="0">
                <a:solidFill>
                  <a:srgbClr val="0070C0"/>
                </a:solidFill>
                <a:ea typeface="游ゴシック"/>
              </a:rPr>
              <a:t>保有資格</a:t>
            </a:r>
            <a:endParaRPr lang="en-US" altLang="ja-JP" sz="2400" b="1" dirty="0">
              <a:solidFill>
                <a:srgbClr val="0070C0"/>
              </a:solidFill>
              <a:ea typeface="游ゴシック"/>
            </a:endParaRPr>
          </a:p>
        </p:txBody>
      </p:sp>
      <p:sp>
        <p:nvSpPr>
          <p:cNvPr id="27" name="テキスト ボックス 13">
            <a:extLst>
              <a:ext uri="{FF2B5EF4-FFF2-40B4-BE49-F238E27FC236}">
                <a16:creationId xmlns:a16="http://schemas.microsoft.com/office/drawing/2014/main" id="{A3E4CE06-61DF-E598-8F09-F73564697468}"/>
              </a:ext>
            </a:extLst>
          </p:cNvPr>
          <p:cNvSpPr txBox="1"/>
          <p:nvPr/>
        </p:nvSpPr>
        <p:spPr>
          <a:xfrm>
            <a:off x="324992" y="4600570"/>
            <a:ext cx="827205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600" b="1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資格名</a:t>
            </a:r>
            <a:endParaRPr lang="en-US" altLang="ja-JP" sz="1600" b="1" dirty="0">
              <a:solidFill>
                <a:srgbClr val="000000"/>
              </a:solidFill>
              <a:latin typeface="游ゴシック"/>
              <a:ea typeface="游ゴシック"/>
            </a:endParaRPr>
          </a:p>
        </p:txBody>
      </p:sp>
      <p:sp>
        <p:nvSpPr>
          <p:cNvPr id="28" name="テキスト ボックス 13">
            <a:extLst>
              <a:ext uri="{FF2B5EF4-FFF2-40B4-BE49-F238E27FC236}">
                <a16:creationId xmlns:a16="http://schemas.microsoft.com/office/drawing/2014/main" id="{0EF031F4-8711-0513-808F-60396F84C7A2}"/>
              </a:ext>
            </a:extLst>
          </p:cNvPr>
          <p:cNvSpPr txBox="1"/>
          <p:nvPr/>
        </p:nvSpPr>
        <p:spPr>
          <a:xfrm>
            <a:off x="1364864" y="4627463"/>
            <a:ext cx="3340683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AWS Certified Cloud Practitioner</a:t>
            </a:r>
            <a:endParaRPr lang="ja-JP" sz="1400" dirty="0">
              <a:solidFill>
                <a:srgbClr val="000000"/>
              </a:solidFill>
              <a:latin typeface="游ゴシック"/>
              <a:ea typeface="游ゴシック"/>
              <a:cs typeface="+mn-lt"/>
            </a:endParaRPr>
          </a:p>
        </p:txBody>
      </p:sp>
      <p:sp>
        <p:nvSpPr>
          <p:cNvPr id="29" name="テキスト ボックス 13">
            <a:extLst>
              <a:ext uri="{FF2B5EF4-FFF2-40B4-BE49-F238E27FC236}">
                <a16:creationId xmlns:a16="http://schemas.microsoft.com/office/drawing/2014/main" id="{D5F39F43-73C8-6C88-C384-B932478D01B1}"/>
              </a:ext>
            </a:extLst>
          </p:cNvPr>
          <p:cNvSpPr txBox="1"/>
          <p:nvPr/>
        </p:nvSpPr>
        <p:spPr>
          <a:xfrm>
            <a:off x="324992" y="5577968"/>
            <a:ext cx="1008634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600" b="1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学習内容</a:t>
            </a:r>
            <a:endParaRPr lang="en-US" altLang="ja-JP" sz="1600" b="1">
              <a:solidFill>
                <a:srgbClr val="000000"/>
              </a:solidFill>
              <a:latin typeface="游ゴシック"/>
              <a:ea typeface="游ゴシック"/>
            </a:endParaRPr>
          </a:p>
        </p:txBody>
      </p:sp>
      <p:sp>
        <p:nvSpPr>
          <p:cNvPr id="30" name="テキスト ボックス 13">
            <a:extLst>
              <a:ext uri="{FF2B5EF4-FFF2-40B4-BE49-F238E27FC236}">
                <a16:creationId xmlns:a16="http://schemas.microsoft.com/office/drawing/2014/main" id="{57817AD7-6D65-C1CA-5912-90EC0255CB08}"/>
              </a:ext>
            </a:extLst>
          </p:cNvPr>
          <p:cNvSpPr txBox="1"/>
          <p:nvPr/>
        </p:nvSpPr>
        <p:spPr>
          <a:xfrm>
            <a:off x="1328579" y="5577968"/>
            <a:ext cx="4293151" cy="9541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・AWS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公式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ド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キュメントの徹底的な学習</a:t>
            </a:r>
            <a:endParaRPr lang="en-US" altLang="ja-JP" sz="1400" dirty="0">
              <a:solidFill>
                <a:srgbClr val="000000"/>
              </a:solidFill>
              <a:latin typeface="游ゴシック"/>
              <a:ea typeface="游ゴシック"/>
              <a:cs typeface="Arial"/>
            </a:endParaRPr>
          </a:p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・Udemy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などのオ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ンラ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イ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ン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講座の受講</a:t>
            </a:r>
            <a:endParaRPr lang="en-US" sz="1400" dirty="0">
              <a:solidFill>
                <a:srgbClr val="000000"/>
              </a:solidFill>
              <a:latin typeface="游ゴシック"/>
              <a:ea typeface="游ゴシック"/>
              <a:cs typeface="Arial"/>
            </a:endParaRPr>
          </a:p>
          <a:p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・模擬試験の繰り返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し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実施</a:t>
            </a:r>
            <a:endParaRPr lang="en-US" altLang="ja-JP" sz="1400" dirty="0">
              <a:solidFill>
                <a:srgbClr val="000000"/>
              </a:solidFill>
              <a:latin typeface="游ゴシック"/>
              <a:ea typeface="游ゴシック"/>
              <a:cs typeface="Arial"/>
            </a:endParaRPr>
          </a:p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・AWS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ハンズオンでの実践的な</a:t>
            </a:r>
            <a:r>
              <a:rPr lang="ja-JP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ス</a:t>
            </a:r>
            <a:r>
              <a:rPr lang="ja-JP" altLang="en-US" sz="1400" dirty="0">
                <a:solidFill>
                  <a:srgbClr val="000000"/>
                </a:solidFill>
                <a:latin typeface="游ゴシック"/>
                <a:ea typeface="游ゴシック"/>
                <a:cs typeface="Arial"/>
              </a:rPr>
              <a:t>キル習得</a:t>
            </a:r>
            <a:endParaRPr lang="en-US" altLang="ja-JP" sz="1400" dirty="0">
              <a:solidFill>
                <a:srgbClr val="000000"/>
              </a:solidFill>
              <a:latin typeface="游ゴシック"/>
              <a:ea typeface="游ゴシック"/>
              <a:cs typeface="Arial"/>
            </a:endParaRPr>
          </a:p>
        </p:txBody>
      </p:sp>
      <p:sp>
        <p:nvSpPr>
          <p:cNvPr id="31" name="テキスト ボックス 13">
            <a:extLst>
              <a:ext uri="{FF2B5EF4-FFF2-40B4-BE49-F238E27FC236}">
                <a16:creationId xmlns:a16="http://schemas.microsoft.com/office/drawing/2014/main" id="{8FBE1C88-6AB8-5848-7B2A-1F3200A35490}"/>
              </a:ext>
            </a:extLst>
          </p:cNvPr>
          <p:cNvSpPr txBox="1"/>
          <p:nvPr/>
        </p:nvSpPr>
        <p:spPr>
          <a:xfrm>
            <a:off x="5404991" y="4591602"/>
            <a:ext cx="1418143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600" b="1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実務活用</a:t>
            </a:r>
            <a:endParaRPr lang="ja-JP" altLang="en-US" sz="1600" b="1" dirty="0">
              <a:latin typeface="游ゴシック"/>
              <a:ea typeface="游ゴシック"/>
            </a:endParaRPr>
          </a:p>
        </p:txBody>
      </p:sp>
      <p:sp>
        <p:nvSpPr>
          <p:cNvPr id="32" name="テキスト ボックス 13">
            <a:extLst>
              <a:ext uri="{FF2B5EF4-FFF2-40B4-BE49-F238E27FC236}">
                <a16:creationId xmlns:a16="http://schemas.microsoft.com/office/drawing/2014/main" id="{19259CBE-B79B-7566-7B67-1119B3EE3A65}"/>
              </a:ext>
            </a:extLst>
          </p:cNvPr>
          <p:cNvSpPr txBox="1"/>
          <p:nvPr/>
        </p:nvSpPr>
        <p:spPr>
          <a:xfrm>
            <a:off x="6463909" y="5012948"/>
            <a:ext cx="5039601" cy="160043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・EC2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、</a:t>
            </a:r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S3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、</a:t>
            </a:r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RDS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、</a:t>
            </a:r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VPC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などの主要サービスの特徴と使用シーンを理解し、適切なサービス選択できるようになりました</a:t>
            </a:r>
            <a:endParaRPr lang="en-US" sz="1400">
              <a:solidFill>
                <a:srgbClr val="000000"/>
              </a:solidFill>
              <a:latin typeface="Arial"/>
              <a:ea typeface="游ゴシック"/>
              <a:cs typeface="Arial"/>
            </a:endParaRPr>
          </a:p>
          <a:p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・クラウドベースのソリューションの基本的なアーキテクチャ設計ができるようになりました</a:t>
            </a:r>
            <a:endParaRPr lang="en-US" sz="1400">
              <a:solidFill>
                <a:srgbClr val="000000"/>
              </a:solidFill>
              <a:latin typeface="Arial"/>
              <a:ea typeface="游ゴシック"/>
              <a:cs typeface="Arial"/>
            </a:endParaRPr>
          </a:p>
          <a:p>
            <a:r>
              <a:rPr 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・AWS</a:t>
            </a:r>
            <a:r>
              <a:rPr lang="ja-JP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の共有責任モデルを理解し、セキュアなクラウド環境の設計と運用に貢献できま</a:t>
            </a:r>
            <a:r>
              <a:rPr lang="ja-JP" altLang="en-US" sz="1400">
                <a:solidFill>
                  <a:srgbClr val="000000"/>
                </a:solidFill>
                <a:latin typeface="Arial"/>
                <a:ea typeface="游ゴシック"/>
                <a:cs typeface="Arial"/>
              </a:rPr>
              <a:t>す</a:t>
            </a:r>
            <a:endParaRPr lang="ja-JP" sz="1400">
              <a:solidFill>
                <a:srgbClr val="000000"/>
              </a:solidFill>
              <a:latin typeface="Arial"/>
              <a:ea typeface="游ゴシック"/>
              <a:cs typeface="Arial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FFAB83E-9142-65A2-D63B-55DF657B8D1D}"/>
              </a:ext>
            </a:extLst>
          </p:cNvPr>
          <p:cNvSpPr/>
          <p:nvPr/>
        </p:nvSpPr>
        <p:spPr>
          <a:xfrm>
            <a:off x="318116" y="3958223"/>
            <a:ext cx="11430917" cy="360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ja-JP" altLang="en-US" dirty="0">
              <a:ea typeface="游ゴシック"/>
            </a:endParaRPr>
          </a:p>
        </p:txBody>
      </p:sp>
      <p:sp>
        <p:nvSpPr>
          <p:cNvPr id="3" name="テキスト ボックス 13">
            <a:extLst>
              <a:ext uri="{FF2B5EF4-FFF2-40B4-BE49-F238E27FC236}">
                <a16:creationId xmlns:a16="http://schemas.microsoft.com/office/drawing/2014/main" id="{CF8E95CF-D293-0A47-46C6-10E8B69B45EC}"/>
              </a:ext>
            </a:extLst>
          </p:cNvPr>
          <p:cNvSpPr txBox="1"/>
          <p:nvPr/>
        </p:nvSpPr>
        <p:spPr>
          <a:xfrm>
            <a:off x="348568" y="1578312"/>
            <a:ext cx="2303949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b="1">
                <a:solidFill>
                  <a:srgbClr val="000000"/>
                </a:solidFill>
                <a:ea typeface="游ゴシック"/>
              </a:rPr>
              <a:t>AWS関連のスキル</a:t>
            </a:r>
            <a:endParaRPr lang="en-US" altLang="ja-JP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7" name="テキスト ボックス 13">
            <a:extLst>
              <a:ext uri="{FF2B5EF4-FFF2-40B4-BE49-F238E27FC236}">
                <a16:creationId xmlns:a16="http://schemas.microsoft.com/office/drawing/2014/main" id="{5D3C15DD-630D-C8F8-9D78-C66C388FCA7C}"/>
              </a:ext>
            </a:extLst>
          </p:cNvPr>
          <p:cNvSpPr txBox="1"/>
          <p:nvPr/>
        </p:nvSpPr>
        <p:spPr>
          <a:xfrm>
            <a:off x="3157999" y="1575720"/>
            <a:ext cx="2588358" cy="3693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b="1">
                <a:solidFill>
                  <a:srgbClr val="000000"/>
                </a:solidFill>
                <a:ea typeface="+mn-lt"/>
                <a:cs typeface="+mn-lt"/>
              </a:rPr>
              <a:t>その他</a:t>
            </a:r>
            <a:r>
              <a:rPr lang="ja-JP" altLang="en-US" b="1">
                <a:solidFill>
                  <a:srgbClr val="000000"/>
                </a:solidFill>
                <a:ea typeface="+mn-lt"/>
                <a:cs typeface="+mn-lt"/>
              </a:rPr>
              <a:t>スキル</a:t>
            </a:r>
            <a:endParaRPr lang="ja-JP" altLang="en-US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8" name="テキスト ボックス 13">
            <a:extLst>
              <a:ext uri="{FF2B5EF4-FFF2-40B4-BE49-F238E27FC236}">
                <a16:creationId xmlns:a16="http://schemas.microsoft.com/office/drawing/2014/main" id="{3746E2E6-59B2-D19E-96FC-4131DAC1479C}"/>
              </a:ext>
            </a:extLst>
          </p:cNvPr>
          <p:cNvSpPr txBox="1"/>
          <p:nvPr/>
        </p:nvSpPr>
        <p:spPr>
          <a:xfrm>
            <a:off x="1364865" y="4914335"/>
            <a:ext cx="3960170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AWS Certified Solutions Architect - Associate</a:t>
            </a:r>
            <a:endParaRPr lang="ja-JP" sz="1400" dirty="0">
              <a:solidFill>
                <a:srgbClr val="000000"/>
              </a:solidFill>
              <a:latin typeface="游ゴシック"/>
              <a:ea typeface="游ゴシック"/>
              <a:cs typeface="+mn-lt"/>
            </a:endParaRPr>
          </a:p>
        </p:txBody>
      </p:sp>
      <p:sp>
        <p:nvSpPr>
          <p:cNvPr id="9" name="テキスト ボックス 13">
            <a:extLst>
              <a:ext uri="{FF2B5EF4-FFF2-40B4-BE49-F238E27FC236}">
                <a16:creationId xmlns:a16="http://schemas.microsoft.com/office/drawing/2014/main" id="{FEF6B030-42E8-2073-1147-637DE4817AAD}"/>
              </a:ext>
            </a:extLst>
          </p:cNvPr>
          <p:cNvSpPr txBox="1"/>
          <p:nvPr/>
        </p:nvSpPr>
        <p:spPr>
          <a:xfrm>
            <a:off x="1373830" y="5210169"/>
            <a:ext cx="3340683" cy="307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 dirty="0" err="1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LinuC</a:t>
            </a:r>
            <a:r>
              <a:rPr lang="en-US" altLang="ja-JP" sz="1400" dirty="0">
                <a:solidFill>
                  <a:srgbClr val="000000"/>
                </a:solidFill>
                <a:latin typeface="游ゴシック"/>
                <a:ea typeface="游ゴシック"/>
                <a:cs typeface="+mn-lt"/>
              </a:rPr>
              <a:t> Level-1</a:t>
            </a:r>
            <a:endParaRPr lang="ja-JP" sz="1400" dirty="0">
              <a:solidFill>
                <a:srgbClr val="000000"/>
              </a:solidFill>
              <a:latin typeface="游ゴシック"/>
              <a:ea typeface="游ゴシック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25407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277DD-8C69-67BC-874A-2E709F5C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4290DC-46D0-9A48-4BAF-C95C574E1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16632"/>
            <a:ext cx="8382944" cy="468054"/>
          </a:xfrm>
        </p:spPr>
        <p:txBody>
          <a:bodyPr>
            <a:normAutofit/>
          </a:bodyPr>
          <a:lstStyle/>
          <a:p>
            <a:r>
              <a:rPr lang="ja-JP" altLang="en-US">
                <a:latin typeface="游ゴシック"/>
                <a:ea typeface="游ゴシック"/>
              </a:rPr>
              <a:t>構築プロジェクト例：</a:t>
            </a:r>
            <a:r>
              <a:rPr lang="ja-JP">
                <a:latin typeface="游ゴシック"/>
                <a:ea typeface="游ゴシック"/>
                <a:cs typeface="+mn-ea"/>
              </a:rPr>
              <a:t>金融取引システムの構築</a:t>
            </a:r>
            <a:endParaRPr kumimoji="1" lang="ja-JP" altLang="en-US">
              <a:latin typeface="游ゴシック"/>
              <a:ea typeface="游ゴシック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F9EFE2-1610-C9A4-28A5-4DEC429AA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13409" y="6573744"/>
            <a:ext cx="3245164" cy="174885"/>
          </a:xfrm>
        </p:spPr>
        <p:txBody>
          <a:bodyPr/>
          <a:lstStyle/>
          <a:p>
            <a:fld id="{42C06FF3-EDEF-40D9-844B-E8BDE887AEB1}" type="slidenum">
              <a:rPr lang="ja-JP" altLang="en-US" smtClean="0"/>
              <a:pPr/>
              <a:t>4</a:t>
            </a:fld>
            <a:endParaRPr lang="ja-JP" altLang="en-US"/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2E8543DA-A9F4-EB24-7C9C-C7142EAC329A}"/>
              </a:ext>
            </a:extLst>
          </p:cNvPr>
          <p:cNvGrpSpPr/>
          <p:nvPr/>
        </p:nvGrpSpPr>
        <p:grpSpPr>
          <a:xfrm>
            <a:off x="471523" y="1665625"/>
            <a:ext cx="4583723" cy="4897310"/>
            <a:chOff x="471523" y="849583"/>
            <a:chExt cx="5329509" cy="571335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D78DDC-6CA6-8B4C-8030-D09C702BCE2A}"/>
                </a:ext>
              </a:extLst>
            </p:cNvPr>
            <p:cNvSpPr/>
            <p:nvPr/>
          </p:nvSpPr>
          <p:spPr bwMode="auto">
            <a:xfrm>
              <a:off x="471523" y="1685953"/>
              <a:ext cx="5329509" cy="4876982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AWS Cloud</a:t>
              </a:r>
            </a:p>
          </p:txBody>
        </p:sp>
        <p:pic>
          <p:nvPicPr>
            <p:cNvPr id="6" name="Graphic 37">
              <a:extLst>
                <a:ext uri="{FF2B5EF4-FFF2-40B4-BE49-F238E27FC236}">
                  <a16:creationId xmlns:a16="http://schemas.microsoft.com/office/drawing/2014/main" id="{D78ED6D3-1731-8249-BC37-43C145C98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71523" y="1684384"/>
              <a:ext cx="381000" cy="381000"/>
            </a:xfrm>
            <a:prstGeom prst="rect">
              <a:avLst/>
            </a:prstGeom>
          </p:spPr>
        </p:pic>
        <p:sp>
          <p:nvSpPr>
            <p:cNvPr id="12" name="Rectangle 3">
              <a:extLst>
                <a:ext uri="{FF2B5EF4-FFF2-40B4-BE49-F238E27FC236}">
                  <a16:creationId xmlns:a16="http://schemas.microsoft.com/office/drawing/2014/main" id="{AE0DCB38-C38F-3E45-91A5-BC77EA9021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852523" y="2805251"/>
              <a:ext cx="4535554" cy="3586023"/>
            </a:xfrm>
            <a:prstGeom prst="rect">
              <a:avLst/>
            </a:prstGeom>
            <a:noFill/>
            <a:ln w="15875">
              <a:solidFill>
                <a:srgbClr val="8C4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>
                  <a:ln w="0"/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VPC</a:t>
              </a:r>
            </a:p>
          </p:txBody>
        </p:sp>
        <p:pic>
          <p:nvPicPr>
            <p:cNvPr id="13" name="Graphic 38" descr="VPC group icon.">
              <a:extLst>
                <a:ext uri="{FF2B5EF4-FFF2-40B4-BE49-F238E27FC236}">
                  <a16:creationId xmlns:a16="http://schemas.microsoft.com/office/drawing/2014/main" id="{ED425F82-30BD-E14D-A2A7-09E58EE65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852523" y="2804361"/>
              <a:ext cx="381000" cy="381000"/>
            </a:xfrm>
            <a:prstGeom prst="rect">
              <a:avLst/>
            </a:prstGeom>
          </p:spPr>
        </p:pic>
        <p:pic>
          <p:nvPicPr>
            <p:cNvPr id="14" name="Graphic 91" descr="Internet resource icon for the General Icons category.">
              <a:extLst>
                <a:ext uri="{FF2B5EF4-FFF2-40B4-BE49-F238E27FC236}">
                  <a16:creationId xmlns:a16="http://schemas.microsoft.com/office/drawing/2014/main" id="{0EEE1E7F-10A5-44F1-8084-ABE8C48FF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796626" y="849583"/>
              <a:ext cx="457200" cy="457200"/>
            </a:xfrm>
            <a:prstGeom prst="rect">
              <a:avLst/>
            </a:prstGeom>
          </p:spPr>
        </p:pic>
        <p:sp>
          <p:nvSpPr>
            <p:cNvPr id="15" name="TextBox 29">
              <a:extLst>
                <a:ext uri="{FF2B5EF4-FFF2-40B4-BE49-F238E27FC236}">
                  <a16:creationId xmlns:a16="http://schemas.microsoft.com/office/drawing/2014/main" id="{39619346-3854-4095-907E-2F3C8D53CA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1746" y="1235005"/>
              <a:ext cx="107315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cs typeface="Arial" panose="020B0604020202020204" pitchFamily="34" charset="0"/>
                </a:rPr>
                <a:t>Internet</a:t>
              </a:r>
            </a:p>
          </p:txBody>
        </p:sp>
        <p:pic>
          <p:nvPicPr>
            <p:cNvPr id="16" name="Graphic 21" descr="Amazon Route 53 service icon.">
              <a:extLst>
                <a:ext uri="{FF2B5EF4-FFF2-40B4-BE49-F238E27FC236}">
                  <a16:creationId xmlns:a16="http://schemas.microsoft.com/office/drawing/2014/main" id="{4B6B7262-A401-4545-BE78-5138448DE1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 bwMode="auto">
            <a:xfrm>
              <a:off x="4913971" y="1835207"/>
              <a:ext cx="396000" cy="39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7" name="Graphic 8" descr="Amazon Simple Storage Service (Amazon S3) service icon.">
              <a:extLst>
                <a:ext uri="{FF2B5EF4-FFF2-40B4-BE49-F238E27FC236}">
                  <a16:creationId xmlns:a16="http://schemas.microsoft.com/office/drawing/2014/main" id="{503A6B4D-DEE3-46F9-B451-2A59ED89EB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 bwMode="auto">
            <a:xfrm>
              <a:off x="3876216" y="1837352"/>
              <a:ext cx="396000" cy="39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" name="TextBox 62">
              <a:extLst>
                <a:ext uri="{FF2B5EF4-FFF2-40B4-BE49-F238E27FC236}">
                  <a16:creationId xmlns:a16="http://schemas.microsoft.com/office/drawing/2014/main" id="{03BDFE94-8CD7-4905-A7A8-A1ADD3FD6F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0440" y="2251070"/>
              <a:ext cx="187551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S3</a:t>
              </a:r>
            </a:p>
          </p:txBody>
        </p:sp>
        <p:sp>
          <p:nvSpPr>
            <p:cNvPr id="21" name="TextBox 62">
              <a:extLst>
                <a:ext uri="{FF2B5EF4-FFF2-40B4-BE49-F238E27FC236}">
                  <a16:creationId xmlns:a16="http://schemas.microsoft.com/office/drawing/2014/main" id="{D0D93BA2-E2D0-96DA-20E7-CC18187C36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22628" y="2271296"/>
              <a:ext cx="578685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Route53</a:t>
              </a:r>
            </a:p>
          </p:txBody>
        </p:sp>
        <p:pic>
          <p:nvPicPr>
            <p:cNvPr id="22" name="Graphic 19" descr="Amazon CloudFront service icon.">
              <a:extLst>
                <a:ext uri="{FF2B5EF4-FFF2-40B4-BE49-F238E27FC236}">
                  <a16:creationId xmlns:a16="http://schemas.microsoft.com/office/drawing/2014/main" id="{3F641843-3240-4E7A-A6BF-5E7369657F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 bwMode="auto">
            <a:xfrm>
              <a:off x="2827226" y="1838582"/>
              <a:ext cx="396000" cy="39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" name="TextBox 62">
              <a:extLst>
                <a:ext uri="{FF2B5EF4-FFF2-40B4-BE49-F238E27FC236}">
                  <a16:creationId xmlns:a16="http://schemas.microsoft.com/office/drawing/2014/main" id="{AC2E830E-8494-4BCC-5706-07BA080B24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51782" y="2225755"/>
              <a:ext cx="758221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CloudFront</a:t>
              </a:r>
            </a:p>
          </p:txBody>
        </p:sp>
        <p:pic>
          <p:nvPicPr>
            <p:cNvPr id="24" name="Graphic 36" descr="Application Load Balancer resource icon for the Elastic Load Balancing service.">
              <a:extLst>
                <a:ext uri="{FF2B5EF4-FFF2-40B4-BE49-F238E27FC236}">
                  <a16:creationId xmlns:a16="http://schemas.microsoft.com/office/drawing/2014/main" id="{2C2D838C-4431-4882-B79B-8B52600200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720687" y="3610888"/>
              <a:ext cx="457200" cy="457200"/>
            </a:xfrm>
            <a:prstGeom prst="rect">
              <a:avLst/>
            </a:prstGeom>
          </p:spPr>
        </p:pic>
        <p:sp>
          <p:nvSpPr>
            <p:cNvPr id="25" name="TextBox 62">
              <a:extLst>
                <a:ext uri="{FF2B5EF4-FFF2-40B4-BE49-F238E27FC236}">
                  <a16:creationId xmlns:a16="http://schemas.microsoft.com/office/drawing/2014/main" id="{B47BC988-2487-F3CE-509E-5734B39A7B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1005" y="4059661"/>
              <a:ext cx="290144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ALB</a:t>
              </a:r>
            </a:p>
          </p:txBody>
        </p:sp>
        <p:sp>
          <p:nvSpPr>
            <p:cNvPr id="27" name="TextBox 62">
              <a:extLst>
                <a:ext uri="{FF2B5EF4-FFF2-40B4-BE49-F238E27FC236}">
                  <a16:creationId xmlns:a16="http://schemas.microsoft.com/office/drawing/2014/main" id="{3CC57F9B-B75F-F290-8C63-D967D79551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14911" y="4070582"/>
              <a:ext cx="1295227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Auto Scaling</a:t>
              </a:r>
              <a:r>
                <a:rPr lang="ja-JP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ja-JP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group</a:t>
              </a:r>
              <a:endParaRPr lang="en-US" altLang="en-US" sz="120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Graphic 17" descr="Amazon CloudWatch service icon.">
              <a:extLst>
                <a:ext uri="{FF2B5EF4-FFF2-40B4-BE49-F238E27FC236}">
                  <a16:creationId xmlns:a16="http://schemas.microsoft.com/office/drawing/2014/main" id="{F0F27D85-8B1B-4E60-9EC1-12AB8A2FB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 bwMode="auto">
            <a:xfrm>
              <a:off x="1362886" y="4747217"/>
              <a:ext cx="396000" cy="39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" name="TextBox 62">
              <a:extLst>
                <a:ext uri="{FF2B5EF4-FFF2-40B4-BE49-F238E27FC236}">
                  <a16:creationId xmlns:a16="http://schemas.microsoft.com/office/drawing/2014/main" id="{2D34CAAF-A159-335F-B7D1-B924C8FEEF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1924" y="5145906"/>
              <a:ext cx="829458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CloudWatch</a:t>
              </a:r>
            </a:p>
          </p:txBody>
        </p:sp>
        <p:sp>
          <p:nvSpPr>
            <p:cNvPr id="31" name="TextBox 62">
              <a:extLst>
                <a:ext uri="{FF2B5EF4-FFF2-40B4-BE49-F238E27FC236}">
                  <a16:creationId xmlns:a16="http://schemas.microsoft.com/office/drawing/2014/main" id="{8C9E014C-6BA4-3794-3509-0532C59F72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21387" y="6026089"/>
              <a:ext cx="939360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RDS Multi-AZ</a:t>
              </a:r>
            </a:p>
          </p:txBody>
        </p:sp>
        <p:pic>
          <p:nvPicPr>
            <p:cNvPr id="32" name="Graphic 39" descr="Multi-AZ DB cluster resource icon for the Amazon RDS service.">
              <a:extLst>
                <a:ext uri="{FF2B5EF4-FFF2-40B4-BE49-F238E27FC236}">
                  <a16:creationId xmlns:a16="http://schemas.microsoft.com/office/drawing/2014/main" id="{B81DBAD0-386B-452C-9817-999CB8D89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393067" y="5640941"/>
              <a:ext cx="396000" cy="396000"/>
            </a:xfrm>
            <a:prstGeom prst="rect">
              <a:avLst/>
            </a:prstGeom>
          </p:spPr>
        </p:pic>
        <p:pic>
          <p:nvPicPr>
            <p:cNvPr id="33" name="Graphic 21" descr="Amazon ElastiCache service icon.">
              <a:extLst>
                <a:ext uri="{FF2B5EF4-FFF2-40B4-BE49-F238E27FC236}">
                  <a16:creationId xmlns:a16="http://schemas.microsoft.com/office/drawing/2014/main" id="{89F4225D-E527-627A-7FB0-BAEED26247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/>
            <a:stretch/>
          </p:blipFill>
          <p:spPr bwMode="auto">
            <a:xfrm>
              <a:off x="3231812" y="5647752"/>
              <a:ext cx="396000" cy="39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4" name="TextBox 62">
              <a:extLst>
                <a:ext uri="{FF2B5EF4-FFF2-40B4-BE49-F238E27FC236}">
                  <a16:creationId xmlns:a16="http://schemas.microsoft.com/office/drawing/2014/main" id="{AA34CC5A-6C8F-67A6-D408-61CFD46AE0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15606" y="6089747"/>
              <a:ext cx="852798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Elastic Cash</a:t>
              </a:r>
            </a:p>
          </p:txBody>
        </p:sp>
        <p:pic>
          <p:nvPicPr>
            <p:cNvPr id="35" name="Graphic 67" descr="Auto Scaling group icon.">
              <a:extLst>
                <a:ext uri="{FF2B5EF4-FFF2-40B4-BE49-F238E27FC236}">
                  <a16:creationId xmlns:a16="http://schemas.microsoft.com/office/drawing/2014/main" id="{1ECE5F9D-8443-48DD-BB53-72DDFA75A5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/>
            <a:stretch/>
          </p:blipFill>
          <p:spPr>
            <a:xfrm>
              <a:off x="3082823" y="3686176"/>
              <a:ext cx="396000" cy="396000"/>
            </a:xfrm>
            <a:prstGeom prst="rect">
              <a:avLst/>
            </a:prstGeom>
          </p:spPr>
        </p:pic>
        <p:sp>
          <p:nvSpPr>
            <p:cNvPr id="36" name="Rectangle 66">
              <a:extLst>
                <a:ext uri="{FF2B5EF4-FFF2-40B4-BE49-F238E27FC236}">
                  <a16:creationId xmlns:a16="http://schemas.microsoft.com/office/drawing/2014/main" id="{15D6B773-1DB4-474A-BEF2-EC37AF610557}"/>
                </a:ext>
              </a:extLst>
            </p:cNvPr>
            <p:cNvSpPr/>
            <p:nvPr/>
          </p:nvSpPr>
          <p:spPr>
            <a:xfrm>
              <a:off x="2449840" y="3697769"/>
              <a:ext cx="1765300" cy="184815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Graphic 44" descr="Instances instance icon for the Amazon EC2 service.">
              <a:extLst>
                <a:ext uri="{FF2B5EF4-FFF2-40B4-BE49-F238E27FC236}">
                  <a16:creationId xmlns:a16="http://schemas.microsoft.com/office/drawing/2014/main" id="{14CFE7B6-AE77-5B5D-3B12-8D37A134D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3130217" y="4506598"/>
              <a:ext cx="396000" cy="396000"/>
            </a:xfrm>
            <a:prstGeom prst="rect">
              <a:avLst/>
            </a:prstGeom>
          </p:spPr>
        </p:pic>
        <p:sp>
          <p:nvSpPr>
            <p:cNvPr id="38" name="TextBox 62">
              <a:extLst>
                <a:ext uri="{FF2B5EF4-FFF2-40B4-BE49-F238E27FC236}">
                  <a16:creationId xmlns:a16="http://schemas.microsoft.com/office/drawing/2014/main" id="{725953BE-4BDA-EE4B-16A7-047767D8C3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67357" y="4858098"/>
              <a:ext cx="921727" cy="184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EC2 Instance</a:t>
              </a:r>
            </a:p>
          </p:txBody>
        </p:sp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2C48120F-E7CA-FC2E-0F2B-3EF814F8FCC8}"/>
                </a:ext>
              </a:extLst>
            </p:cNvPr>
            <p:cNvCxnSpPr>
              <a:cxnSpLocks/>
              <a:stCxn id="25" idx="2"/>
              <a:endCxn id="37" idx="1"/>
            </p:cNvCxnSpPr>
            <p:nvPr/>
          </p:nvCxnSpPr>
          <p:spPr>
            <a:xfrm rot="16200000" flipH="1">
              <a:off x="2323012" y="3897392"/>
              <a:ext cx="460271" cy="1154140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EABC1F95-FAEF-F402-6DA9-04F814F48D28}"/>
                </a:ext>
              </a:extLst>
            </p:cNvPr>
            <p:cNvCxnSpPr>
              <a:cxnSpLocks/>
              <a:stCxn id="15" idx="2"/>
              <a:endCxn id="22" idx="0"/>
            </p:cNvCxnSpPr>
            <p:nvPr/>
          </p:nvCxnSpPr>
          <p:spPr>
            <a:xfrm flipH="1">
              <a:off x="3025226" y="1512004"/>
              <a:ext cx="3095" cy="3265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12">
              <a:extLst>
                <a:ext uri="{FF2B5EF4-FFF2-40B4-BE49-F238E27FC236}">
                  <a16:creationId xmlns:a16="http://schemas.microsoft.com/office/drawing/2014/main" id="{122FBE61-7164-40C3-A6A9-06C6341D4B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55138" y="2987936"/>
              <a:ext cx="140335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12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Internet gateway</a:t>
              </a:r>
            </a:p>
          </p:txBody>
        </p:sp>
        <p:grpSp>
          <p:nvGrpSpPr>
            <p:cNvPr id="53" name="グループ化 52">
              <a:extLst>
                <a:ext uri="{FF2B5EF4-FFF2-40B4-BE49-F238E27FC236}">
                  <a16:creationId xmlns:a16="http://schemas.microsoft.com/office/drawing/2014/main" id="{6B87C676-BE09-C916-D03C-A35A0225D853}"/>
                </a:ext>
              </a:extLst>
            </p:cNvPr>
            <p:cNvGrpSpPr/>
            <p:nvPr/>
          </p:nvGrpSpPr>
          <p:grpSpPr>
            <a:xfrm>
              <a:off x="2828863" y="2601623"/>
              <a:ext cx="413413" cy="421496"/>
              <a:chOff x="4181152" y="1113480"/>
              <a:chExt cx="413413" cy="421496"/>
            </a:xfrm>
          </p:grpSpPr>
          <p:sp>
            <p:nvSpPr>
              <p:cNvPr id="46" name="background">
                <a:extLst>
                  <a:ext uri="{FF2B5EF4-FFF2-40B4-BE49-F238E27FC236}">
                    <a16:creationId xmlns:a16="http://schemas.microsoft.com/office/drawing/2014/main" id="{C5CBFBAF-913C-0729-4522-48E44F732B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181152" y="1113480"/>
                <a:ext cx="413413" cy="42149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pic>
            <p:nvPicPr>
              <p:cNvPr id="44" name="Graphic 63" descr="Internet gateway resource icon for the Amazon VPC service.&#10;">
                <a:extLst>
                  <a:ext uri="{FF2B5EF4-FFF2-40B4-BE49-F238E27FC236}">
                    <a16:creationId xmlns:a16="http://schemas.microsoft.com/office/drawing/2014/main" id="{45FAF6D6-2DA9-426A-9915-308E797436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4188101" y="1131614"/>
                <a:ext cx="396000" cy="396000"/>
              </a:xfrm>
              <a:prstGeom prst="rect">
                <a:avLst/>
              </a:prstGeom>
            </p:spPr>
          </p:pic>
        </p:grp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A8260CFD-41DE-A660-D4E6-BB8A331C1B8E}"/>
                </a:ext>
              </a:extLst>
            </p:cNvPr>
            <p:cNvCxnSpPr>
              <a:cxnSpLocks/>
              <a:stCxn id="23" idx="2"/>
              <a:endCxn id="46" idx="0"/>
            </p:cNvCxnSpPr>
            <p:nvPr/>
          </p:nvCxnSpPr>
          <p:spPr>
            <a:xfrm>
              <a:off x="3030893" y="2410421"/>
              <a:ext cx="4677" cy="19120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31A83AF6-0CD4-107E-0988-5B3592B4AD66}"/>
                </a:ext>
              </a:extLst>
            </p:cNvPr>
            <p:cNvCxnSpPr>
              <a:cxnSpLocks/>
              <a:stCxn id="22" idx="3"/>
              <a:endCxn id="17" idx="1"/>
            </p:cNvCxnSpPr>
            <p:nvPr/>
          </p:nvCxnSpPr>
          <p:spPr>
            <a:xfrm flipV="1">
              <a:off x="3223226" y="2035352"/>
              <a:ext cx="652990" cy="12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7C4000AF-235A-0535-E095-121C3E5FB371}"/>
                </a:ext>
              </a:extLst>
            </p:cNvPr>
            <p:cNvCxnSpPr>
              <a:cxnSpLocks/>
              <a:stCxn id="45" idx="2"/>
              <a:endCxn id="24" idx="0"/>
            </p:cNvCxnSpPr>
            <p:nvPr/>
          </p:nvCxnSpPr>
          <p:spPr>
            <a:xfrm rot="5400000">
              <a:off x="2330074" y="2884148"/>
              <a:ext cx="345953" cy="1107526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8E0B15A6-D6D1-84D7-12B5-BB0CCBCAA5DE}"/>
                </a:ext>
              </a:extLst>
            </p:cNvPr>
            <p:cNvCxnSpPr>
              <a:cxnSpLocks/>
              <a:stCxn id="28" idx="3"/>
              <a:endCxn id="38" idx="1"/>
            </p:cNvCxnSpPr>
            <p:nvPr/>
          </p:nvCxnSpPr>
          <p:spPr>
            <a:xfrm>
              <a:off x="1758886" y="4945217"/>
              <a:ext cx="1108471" cy="52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FC5C08CD-25DF-C090-2808-E280331BF0BC}"/>
                </a:ext>
              </a:extLst>
            </p:cNvPr>
            <p:cNvCxnSpPr>
              <a:cxnSpLocks/>
              <a:stCxn id="38" idx="2"/>
              <a:endCxn id="32" idx="3"/>
            </p:cNvCxnSpPr>
            <p:nvPr/>
          </p:nvCxnSpPr>
          <p:spPr>
            <a:xfrm flipH="1">
              <a:off x="1789067" y="5042764"/>
              <a:ext cx="1539154" cy="79617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580E66CF-7B43-CF48-889E-B0DF2AB21868}"/>
                </a:ext>
              </a:extLst>
            </p:cNvPr>
            <p:cNvCxnSpPr>
              <a:cxnSpLocks/>
              <a:stCxn id="38" idx="2"/>
              <a:endCxn id="33" idx="0"/>
            </p:cNvCxnSpPr>
            <p:nvPr/>
          </p:nvCxnSpPr>
          <p:spPr>
            <a:xfrm>
              <a:off x="3328221" y="5042764"/>
              <a:ext cx="101591" cy="60498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EC137388-4BA5-3853-92F9-9677337FD7A6}"/>
                </a:ext>
              </a:extLst>
            </p:cNvPr>
            <p:cNvCxnSpPr>
              <a:cxnSpLocks/>
              <a:stCxn id="29" idx="2"/>
              <a:endCxn id="32" idx="0"/>
            </p:cNvCxnSpPr>
            <p:nvPr/>
          </p:nvCxnSpPr>
          <p:spPr>
            <a:xfrm>
              <a:off x="1586653" y="5330572"/>
              <a:ext cx="4414" cy="3103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テキスト ボックス 13">
            <a:extLst>
              <a:ext uri="{FF2B5EF4-FFF2-40B4-BE49-F238E27FC236}">
                <a16:creationId xmlns:a16="http://schemas.microsoft.com/office/drawing/2014/main" id="{EB64A71B-5205-8993-BA81-780AC51793F6}"/>
              </a:ext>
            </a:extLst>
          </p:cNvPr>
          <p:cNvSpPr txBox="1"/>
          <p:nvPr/>
        </p:nvSpPr>
        <p:spPr>
          <a:xfrm>
            <a:off x="335799" y="908465"/>
            <a:ext cx="3103778" cy="4001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000" b="1">
                <a:solidFill>
                  <a:srgbClr val="0070C0"/>
                </a:solidFill>
                <a:ea typeface="游ゴシック"/>
              </a:rPr>
              <a:t>システム構成図</a:t>
            </a:r>
          </a:p>
        </p:txBody>
      </p:sp>
      <p:sp>
        <p:nvSpPr>
          <p:cNvPr id="10" name="テキスト ボックス 13">
            <a:extLst>
              <a:ext uri="{FF2B5EF4-FFF2-40B4-BE49-F238E27FC236}">
                <a16:creationId xmlns:a16="http://schemas.microsoft.com/office/drawing/2014/main" id="{D222F15B-D3DE-AB5D-8FF5-65C3E12E6DD0}"/>
              </a:ext>
            </a:extLst>
          </p:cNvPr>
          <p:cNvSpPr txBox="1"/>
          <p:nvPr/>
        </p:nvSpPr>
        <p:spPr>
          <a:xfrm>
            <a:off x="5388777" y="908465"/>
            <a:ext cx="4600756" cy="4001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000" b="1">
                <a:solidFill>
                  <a:srgbClr val="0070C0"/>
                </a:solidFill>
                <a:ea typeface="游ゴシック"/>
              </a:rPr>
              <a:t>AWSを使用した環境構築</a:t>
            </a:r>
          </a:p>
        </p:txBody>
      </p:sp>
      <p:sp>
        <p:nvSpPr>
          <p:cNvPr id="26" name="テキスト ボックス 13">
            <a:extLst>
              <a:ext uri="{FF2B5EF4-FFF2-40B4-BE49-F238E27FC236}">
                <a16:creationId xmlns:a16="http://schemas.microsoft.com/office/drawing/2014/main" id="{BA4540EE-F73F-2231-F339-E04EC22A543A}"/>
              </a:ext>
            </a:extLst>
          </p:cNvPr>
          <p:cNvSpPr txBox="1"/>
          <p:nvPr/>
        </p:nvSpPr>
        <p:spPr>
          <a:xfrm>
            <a:off x="5432012" y="1387952"/>
            <a:ext cx="2017524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sz="1600" b="1">
                <a:solidFill>
                  <a:srgbClr val="000000"/>
                </a:solidFill>
                <a:ea typeface="+mn-lt"/>
                <a:cs typeface="+mn-lt"/>
              </a:rPr>
              <a:t>目的</a:t>
            </a:r>
            <a:endParaRPr lang="en-US" altLang="ja-JP" sz="16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30" name="テキスト ボックス 13">
            <a:extLst>
              <a:ext uri="{FF2B5EF4-FFF2-40B4-BE49-F238E27FC236}">
                <a16:creationId xmlns:a16="http://schemas.microsoft.com/office/drawing/2014/main" id="{AC9B9669-4698-1875-2E15-F6BEF10F3BA9}"/>
              </a:ext>
            </a:extLst>
          </p:cNvPr>
          <p:cNvSpPr txBox="1"/>
          <p:nvPr/>
        </p:nvSpPr>
        <p:spPr>
          <a:xfrm>
            <a:off x="5421202" y="1853113"/>
            <a:ext cx="2017524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1600" b="1">
                <a:solidFill>
                  <a:srgbClr val="000000"/>
                </a:solidFill>
                <a:ea typeface="+mn-lt"/>
                <a:cs typeface="+mn-lt"/>
              </a:rPr>
              <a:t>使用技術</a:t>
            </a:r>
            <a:endParaRPr lang="en-US" altLang="ja-JP" sz="16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39" name="テキスト ボックス 13">
            <a:extLst>
              <a:ext uri="{FF2B5EF4-FFF2-40B4-BE49-F238E27FC236}">
                <a16:creationId xmlns:a16="http://schemas.microsoft.com/office/drawing/2014/main" id="{E05D2B82-33F1-63EA-314E-9E5EE294E9E1}"/>
              </a:ext>
            </a:extLst>
          </p:cNvPr>
          <p:cNvSpPr txBox="1"/>
          <p:nvPr/>
        </p:nvSpPr>
        <p:spPr>
          <a:xfrm>
            <a:off x="5410394" y="2372974"/>
            <a:ext cx="2017524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sz="1600" b="1">
                <a:solidFill>
                  <a:srgbClr val="000000"/>
                </a:solidFill>
                <a:ea typeface="+mn-lt"/>
                <a:cs typeface="+mn-lt"/>
              </a:rPr>
              <a:t>構成図の説明</a:t>
            </a:r>
            <a:endParaRPr lang="en-US" altLang="ja-JP" sz="16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42" name="テキスト ボックス 13">
            <a:extLst>
              <a:ext uri="{FF2B5EF4-FFF2-40B4-BE49-F238E27FC236}">
                <a16:creationId xmlns:a16="http://schemas.microsoft.com/office/drawing/2014/main" id="{52713E81-00F2-26E8-E0EF-643D1F35D492}"/>
              </a:ext>
            </a:extLst>
          </p:cNvPr>
          <p:cNvSpPr txBox="1"/>
          <p:nvPr/>
        </p:nvSpPr>
        <p:spPr>
          <a:xfrm>
            <a:off x="5404987" y="3378957"/>
            <a:ext cx="4222460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600" b="1">
                <a:solidFill>
                  <a:srgbClr val="000000"/>
                </a:solidFill>
                <a:ea typeface="+mn-lt"/>
                <a:cs typeface="+mn-lt"/>
              </a:rPr>
              <a:t>このシステム構成を選択した理由</a:t>
            </a:r>
            <a:endParaRPr lang="en-US" altLang="ja-JP" sz="16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43" name="テキスト ボックス 13">
            <a:extLst>
              <a:ext uri="{FF2B5EF4-FFF2-40B4-BE49-F238E27FC236}">
                <a16:creationId xmlns:a16="http://schemas.microsoft.com/office/drawing/2014/main" id="{A4D2A253-9BD9-74B9-ADB9-8B3925231FA8}"/>
              </a:ext>
            </a:extLst>
          </p:cNvPr>
          <p:cNvSpPr txBox="1"/>
          <p:nvPr/>
        </p:nvSpPr>
        <p:spPr>
          <a:xfrm>
            <a:off x="5399583" y="5426771"/>
            <a:ext cx="2017524" cy="3385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600" b="1">
                <a:solidFill>
                  <a:srgbClr val="000000"/>
                </a:solidFill>
                <a:ea typeface="+mn-lt"/>
                <a:cs typeface="+mn-lt"/>
              </a:rPr>
              <a:t>成果</a:t>
            </a:r>
            <a:endParaRPr lang="en-US" altLang="ja-JP" sz="16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48" name="テキスト ボックス 13">
            <a:extLst>
              <a:ext uri="{FF2B5EF4-FFF2-40B4-BE49-F238E27FC236}">
                <a16:creationId xmlns:a16="http://schemas.microsoft.com/office/drawing/2014/main" id="{7B50D39F-238F-68E1-23E2-46D6A7A52A34}"/>
              </a:ext>
            </a:extLst>
          </p:cNvPr>
          <p:cNvSpPr txBox="1"/>
          <p:nvPr/>
        </p:nvSpPr>
        <p:spPr>
          <a:xfrm>
            <a:off x="6795069" y="1374112"/>
            <a:ext cx="5173478" cy="46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金融取引システムの構築 </a:t>
            </a:r>
            <a:endParaRPr lang="en-US" altLang="ja-JP" sz="1200" b="1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～高可用性と拡張性を備えた</a:t>
            </a:r>
            <a:r>
              <a:rPr lang="en-US" altLang="ja-JP" sz="1200">
                <a:solidFill>
                  <a:srgbClr val="000000"/>
                </a:solidFill>
                <a:ea typeface="+mn-lt"/>
                <a:cs typeface="+mn-lt"/>
              </a:rPr>
              <a:t>Web</a:t>
            </a:r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アプリケーション基盤の構築～</a:t>
            </a:r>
            <a:endParaRPr lang="en-US" altLang="ja-JP" sz="12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49" name="テキスト ボックス 13">
            <a:extLst>
              <a:ext uri="{FF2B5EF4-FFF2-40B4-BE49-F238E27FC236}">
                <a16:creationId xmlns:a16="http://schemas.microsoft.com/office/drawing/2014/main" id="{A482A3B0-50D9-890E-DA1A-1054D460C359}"/>
              </a:ext>
            </a:extLst>
          </p:cNvPr>
          <p:cNvSpPr txBox="1"/>
          <p:nvPr/>
        </p:nvSpPr>
        <p:spPr>
          <a:xfrm>
            <a:off x="6795069" y="1853113"/>
            <a:ext cx="4935822" cy="46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200">
                <a:solidFill>
                  <a:srgbClr val="000000"/>
                </a:solidFill>
                <a:ea typeface="+mn-lt"/>
                <a:cs typeface="+mn-lt"/>
              </a:rPr>
              <a:t>Route 53、CloudFront、ALB、EC2 Instance、RDS Multi-AZ、ElastiCache、S3、CloudWatch</a:t>
            </a:r>
            <a:endParaRPr lang="en-US" altLang="ja-JP" sz="12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50" name="テキスト ボックス 13">
            <a:extLst>
              <a:ext uri="{FF2B5EF4-FFF2-40B4-BE49-F238E27FC236}">
                <a16:creationId xmlns:a16="http://schemas.microsoft.com/office/drawing/2014/main" id="{1F313D3E-D173-2DB1-6994-E7BEC075A6AD}"/>
              </a:ext>
            </a:extLst>
          </p:cNvPr>
          <p:cNvSpPr txBox="1"/>
          <p:nvPr/>
        </p:nvSpPr>
        <p:spPr>
          <a:xfrm>
            <a:off x="6795069" y="2343441"/>
            <a:ext cx="5309972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・ユーザーからのリクエストは</a:t>
            </a:r>
            <a:r>
              <a:rPr lang="en-US" altLang="ja-JP" sz="1200">
                <a:solidFill>
                  <a:srgbClr val="000000"/>
                </a:solidFill>
                <a:ea typeface="+mn-lt"/>
                <a:cs typeface="+mn-lt"/>
              </a:rPr>
              <a:t>Route</a:t>
            </a:r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altLang="ja-JP" sz="1200">
                <a:solidFill>
                  <a:srgbClr val="000000"/>
                </a:solidFill>
                <a:ea typeface="+mn-lt"/>
                <a:cs typeface="+mn-lt"/>
              </a:rPr>
              <a:t>53</a:t>
            </a:r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を経由して</a:t>
            </a:r>
            <a:r>
              <a:rPr lang="en-US" altLang="ja-JP" sz="1200">
                <a:solidFill>
                  <a:srgbClr val="000000"/>
                </a:solidFill>
                <a:ea typeface="+mn-lt"/>
                <a:cs typeface="+mn-lt"/>
              </a:rPr>
              <a:t>CloudFront</a:t>
            </a:r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に到達</a:t>
            </a:r>
            <a:endParaRPr lang="en-US" altLang="ja-JP" sz="1200" b="1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・静的コンテンツは</a:t>
            </a:r>
            <a:r>
              <a:rPr lang="en-US" altLang="ja-JP" sz="1200">
                <a:solidFill>
                  <a:srgbClr val="000000"/>
                </a:solidFill>
                <a:ea typeface="+mn-lt"/>
                <a:cs typeface="+mn-lt"/>
              </a:rPr>
              <a:t>S3</a:t>
            </a:r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から、動的コンテンツは</a:t>
            </a:r>
            <a:r>
              <a:rPr lang="en-US" altLang="ja-JP" sz="1200">
                <a:solidFill>
                  <a:srgbClr val="000000"/>
                </a:solidFill>
                <a:ea typeface="+mn-lt"/>
                <a:cs typeface="+mn-lt"/>
              </a:rPr>
              <a:t>EC2</a:t>
            </a:r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インスタンスから提供</a:t>
            </a:r>
            <a:endParaRPr lang="en-US" altLang="ja-JP" sz="1200" b="1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・システム全体の監視には</a:t>
            </a:r>
            <a:r>
              <a:rPr lang="en-US" altLang="ja-JP" sz="1200">
                <a:solidFill>
                  <a:srgbClr val="000000"/>
                </a:solidFill>
                <a:ea typeface="+mn-lt"/>
                <a:cs typeface="+mn-lt"/>
              </a:rPr>
              <a:t>CloudWatch</a:t>
            </a:r>
            <a:r>
              <a:rPr lang="ja-JP" altLang="en-US" sz="1200">
                <a:solidFill>
                  <a:srgbClr val="000000"/>
                </a:solidFill>
                <a:ea typeface="+mn-lt"/>
                <a:cs typeface="+mn-lt"/>
              </a:rPr>
              <a:t>を使用 </a:t>
            </a:r>
            <a:endParaRPr lang="en-US" altLang="ja-JP" sz="1200" b="1">
              <a:solidFill>
                <a:srgbClr val="000000"/>
              </a:solidFill>
              <a:ea typeface="游ゴシック"/>
            </a:endParaRPr>
          </a:p>
        </p:txBody>
      </p:sp>
      <p:sp>
        <p:nvSpPr>
          <p:cNvPr id="51" name="テキスト ボックス 13">
            <a:extLst>
              <a:ext uri="{FF2B5EF4-FFF2-40B4-BE49-F238E27FC236}">
                <a16:creationId xmlns:a16="http://schemas.microsoft.com/office/drawing/2014/main" id="{AE9CBE89-C1BC-7435-1E7E-53F3FBDC41F9}"/>
              </a:ext>
            </a:extLst>
          </p:cNvPr>
          <p:cNvSpPr txBox="1"/>
          <p:nvPr/>
        </p:nvSpPr>
        <p:spPr>
          <a:xfrm>
            <a:off x="5404987" y="3728653"/>
            <a:ext cx="6600858" cy="15696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・高可用性：マルチ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AZ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デプロイメントによる地理的冗長性と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Auto Scaling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による負荷に応じた自動スケーリングを実現し、システムの可用性を大幅に向上</a:t>
            </a:r>
            <a:endParaRPr lang="en-US" altLang="ja-JP" sz="120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・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スケーラビリティ：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EC2 Auto Scaling Group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で計算リソースを動的に調整し、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RDS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読み取りレプリカでデータベースの負荷を分散。急激なトラフィック増加にも柔軟に対応</a:t>
            </a:r>
            <a:endParaRPr lang="en-US" altLang="ja-JP" sz="120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・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パフォーマンス：</a:t>
            </a:r>
            <a:r>
              <a:rPr 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CloudFront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によるコンテンツのグローバル配信と</a:t>
            </a:r>
            <a:r>
              <a:rPr lang="en-US" altLang="ja-JP" sz="1200" err="1">
                <a:solidFill>
                  <a:srgbClr val="000000"/>
                </a:solidFill>
                <a:latin typeface="Arial"/>
                <a:ea typeface="+mn-lt"/>
                <a:cs typeface="Arial"/>
              </a:rPr>
              <a:t>ElastiCache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によるデータのインメモリキャッシュで、ユーザーへの応答時間を大幅に短縮</a:t>
            </a:r>
          </a:p>
          <a:p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・セキュリティ：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VPC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でネットワークを隔離し、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Security Groups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で通信を制御、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WAF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で 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Web 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アプリケーションを保護する多層防御戦略を採用</a:t>
            </a:r>
            <a:endParaRPr lang="en-US" altLang="ja-JP" sz="1200">
              <a:solidFill>
                <a:srgbClr val="000000"/>
              </a:solidFill>
              <a:latin typeface="Arial"/>
              <a:ea typeface="+mn-lt"/>
              <a:cs typeface="Arial"/>
            </a:endParaRPr>
          </a:p>
        </p:txBody>
      </p:sp>
      <p:sp>
        <p:nvSpPr>
          <p:cNvPr id="52" name="テキスト ボックス 13">
            <a:extLst>
              <a:ext uri="{FF2B5EF4-FFF2-40B4-BE49-F238E27FC236}">
                <a16:creationId xmlns:a16="http://schemas.microsoft.com/office/drawing/2014/main" id="{A12F9465-5134-F5EA-7178-08E2851976EB}"/>
              </a:ext>
            </a:extLst>
          </p:cNvPr>
          <p:cNvSpPr txBox="1"/>
          <p:nvPr/>
        </p:nvSpPr>
        <p:spPr>
          <a:xfrm>
            <a:off x="5399583" y="5761837"/>
            <a:ext cx="6103140" cy="83099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・全てのバージョ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ン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管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理を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 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Git 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で管理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し、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環境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の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完全な再現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を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実現</a:t>
            </a:r>
            <a:endParaRPr lang="en-US" sz="120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・自動化されたデプロイプロセ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スに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よ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り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、手動操作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を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最小限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に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抑制</a:t>
            </a:r>
            <a:endParaRPr lang="en-US" sz="1200">
              <a:solidFill>
                <a:srgbClr val="000000"/>
              </a:solidFill>
              <a:latin typeface="Arial"/>
              <a:ea typeface="+mn-lt"/>
              <a:cs typeface="Arial"/>
            </a:endParaRPr>
          </a:p>
          <a:p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・コー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ド化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によ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り設定ミス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を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事前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に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検出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し、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本番環境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で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の問題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を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低減</a:t>
            </a:r>
          </a:p>
          <a:p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・同一の</a:t>
            </a:r>
            <a:r>
              <a:rPr lang="en-US" alt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Terraform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コードを使用し、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複数環境</a:t>
            </a:r>
            <a:r>
              <a:rPr lang="ja-JP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の</a:t>
            </a:r>
            <a:r>
              <a:rPr lang="ja-JP" altLang="en-US" sz="1200">
                <a:solidFill>
                  <a:srgbClr val="000000"/>
                </a:solidFill>
                <a:latin typeface="Arial"/>
                <a:ea typeface="+mn-lt"/>
                <a:cs typeface="Arial"/>
              </a:rPr>
              <a:t>一貫性確保</a:t>
            </a:r>
            <a:endParaRPr lang="en-US" altLang="ja-JP" sz="1200">
              <a:solidFill>
                <a:srgbClr val="000000"/>
              </a:solidFill>
              <a:latin typeface="Arial"/>
              <a:ea typeface="+mn-lt"/>
              <a:cs typeface="Arial"/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BD1AE64-094F-1C11-829B-76E24AE4268B}"/>
              </a:ext>
            </a:extLst>
          </p:cNvPr>
          <p:cNvCxnSpPr/>
          <p:nvPr/>
        </p:nvCxnSpPr>
        <p:spPr>
          <a:xfrm>
            <a:off x="5429303" y="3179400"/>
            <a:ext cx="6329190" cy="5235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9036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DE4AA-0102-2D0C-DDA7-20BB4485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336A76-8A42-B5C6-118F-E95E3DE71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b="1">
                <a:latin typeface="游ゴシック"/>
                <a:ea typeface="游ゴシック"/>
              </a:rPr>
              <a:t>今後の目標</a:t>
            </a:r>
            <a:endParaRPr lang="en-US" altLang="ja-JP">
              <a:latin typeface="游ゴシック"/>
              <a:ea typeface="游ゴシック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8EB832-9266-EA83-4822-87AD21D8A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06FF3-EDEF-40D9-844B-E8BDE887AEB1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1C62F9-7937-D5C8-704B-B8D648BC6379}"/>
              </a:ext>
            </a:extLst>
          </p:cNvPr>
          <p:cNvSpPr txBox="1"/>
          <p:nvPr/>
        </p:nvSpPr>
        <p:spPr>
          <a:xfrm>
            <a:off x="335360" y="1822360"/>
            <a:ext cx="6674153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ja-JP" altLang="en-US" dirty="0">
                <a:ea typeface="游ゴシック"/>
              </a:rPr>
              <a:t>・クラウドインフラエンジニアとしての実務経験を積む</a:t>
            </a:r>
            <a:endParaRPr lang="en-US" altLang="ja-JP" dirty="0">
              <a:ea typeface="游ゴシック"/>
            </a:endParaRPr>
          </a:p>
          <a:p>
            <a:endParaRPr lang="ja-JP" altLang="en-US" dirty="0"/>
          </a:p>
          <a:p>
            <a:r>
              <a:rPr lang="ja-JP" altLang="en-US" dirty="0">
                <a:ea typeface="游ゴシック"/>
              </a:rPr>
              <a:t>・コンテナ技術（</a:t>
            </a:r>
            <a:r>
              <a:rPr lang="en-US" altLang="ja-JP" dirty="0">
                <a:ea typeface="游ゴシック"/>
              </a:rPr>
              <a:t>Docker</a:t>
            </a:r>
            <a:r>
              <a:rPr lang="ja-JP" altLang="en-US" dirty="0">
                <a:ea typeface="游ゴシック"/>
              </a:rPr>
              <a:t>、</a:t>
            </a:r>
            <a:r>
              <a:rPr lang="en-US" altLang="ja-JP" dirty="0">
                <a:ea typeface="游ゴシック"/>
              </a:rPr>
              <a:t>Kubernetes</a:t>
            </a:r>
            <a:r>
              <a:rPr lang="ja-JP" altLang="en-US" dirty="0">
                <a:ea typeface="游ゴシック"/>
              </a:rPr>
              <a:t>）の習得</a:t>
            </a:r>
            <a:endParaRPr lang="en-US" altLang="ja-JP" dirty="0">
              <a:ea typeface="游ゴシック" panose="020B0400000000000000" pitchFamily="34" charset="-128"/>
            </a:endParaRPr>
          </a:p>
          <a:p>
            <a:endParaRPr lang="ja-JP" altLang="en-US" dirty="0"/>
          </a:p>
          <a:p>
            <a:r>
              <a:rPr lang="en-US" altLang="ja-JP" dirty="0">
                <a:ea typeface="游ゴシック"/>
              </a:rPr>
              <a:t>・CI/CD</a:t>
            </a:r>
            <a:r>
              <a:rPr lang="ja-JP" altLang="en-US" dirty="0">
                <a:ea typeface="游ゴシック"/>
              </a:rPr>
              <a:t>パイプラインの構築スキルの習得</a:t>
            </a:r>
            <a:endParaRPr lang="en-US" altLang="ja-JP" dirty="0">
              <a:ea typeface="游ゴシック" panose="020B0400000000000000" pitchFamily="34" charset="-128"/>
            </a:endParaRPr>
          </a:p>
          <a:p>
            <a:endParaRPr lang="en-US" altLang="ja-JP" dirty="0">
              <a:ea typeface="游ゴシック"/>
            </a:endParaRPr>
          </a:p>
          <a:p>
            <a:r>
              <a:rPr lang="ja-JP" altLang="en-US" dirty="0">
                <a:ea typeface="游ゴシック"/>
              </a:rPr>
              <a:t>・</a:t>
            </a:r>
            <a:r>
              <a:rPr lang="en-US" altLang="ja-JP" dirty="0">
                <a:ea typeface="游ゴシック"/>
              </a:rPr>
              <a:t>AWS</a:t>
            </a:r>
            <a:r>
              <a:rPr lang="ja-JP" altLang="en-US" dirty="0">
                <a:ea typeface="游ゴシック"/>
              </a:rPr>
              <a:t> </a:t>
            </a:r>
            <a:r>
              <a:rPr lang="en-US" altLang="ja-JP" dirty="0">
                <a:ea typeface="游ゴシック"/>
              </a:rPr>
              <a:t>Certified Solutions Architect – Professional</a:t>
            </a:r>
            <a:r>
              <a:rPr lang="ja-JP" altLang="en-US" dirty="0">
                <a:ea typeface="游ゴシック"/>
              </a:rPr>
              <a:t> 資格取得</a:t>
            </a:r>
            <a:endParaRPr lang="en-US" altLang="ja-JP" dirty="0">
              <a:ea typeface="游ゴシック"/>
            </a:endParaRPr>
          </a:p>
        </p:txBody>
      </p:sp>
      <p:sp>
        <p:nvSpPr>
          <p:cNvPr id="5" name="テキスト ボックス 13">
            <a:extLst>
              <a:ext uri="{FF2B5EF4-FFF2-40B4-BE49-F238E27FC236}">
                <a16:creationId xmlns:a16="http://schemas.microsoft.com/office/drawing/2014/main" id="{BDD4DDBA-A195-6BD5-FF9B-3368C5F825AB}"/>
              </a:ext>
            </a:extLst>
          </p:cNvPr>
          <p:cNvSpPr txBox="1"/>
          <p:nvPr/>
        </p:nvSpPr>
        <p:spPr>
          <a:xfrm>
            <a:off x="335800" y="1108422"/>
            <a:ext cx="3103778" cy="4001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ja-JP" altLang="en-US" sz="2000" b="1">
                <a:solidFill>
                  <a:srgbClr val="0070C0"/>
                </a:solidFill>
                <a:ea typeface="游ゴシック"/>
              </a:rPr>
              <a:t>今後の目標</a:t>
            </a:r>
          </a:p>
        </p:txBody>
      </p:sp>
    </p:spTree>
    <p:extLst>
      <p:ext uri="{BB962C8B-B14F-4D97-AF65-F5344CB8AC3E}">
        <p14:creationId xmlns:p14="http://schemas.microsoft.com/office/powerpoint/2010/main" val="2485355997"/>
      </p:ext>
    </p:extLst>
  </p:cSld>
  <p:clrMapOvr>
    <a:masterClrMapping/>
  </p:clrMapOvr>
</p:sld>
</file>

<file path=ppt/theme/theme1.xml><?xml version="1.0" encoding="utf-8"?>
<a:theme xmlns:a="http://schemas.openxmlformats.org/drawingml/2006/main" name="GTTマスター本文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ovtTech東京-スライド雛形_Ver2(ロゴ位置修正)" id="{7BE5E356-91DF-4359-AE8A-3236070EF249}" vid="{340CFE97-167C-4A9F-8A1D-C22867A4EBD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5e86c2-1981-49c0-a4c5-18f5e325411d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50778A40BB97904D942255E2E155F7D0" ma:contentTypeVersion="14" ma:contentTypeDescription="新しいドキュメントを作成します。" ma:contentTypeScope="" ma:versionID="69a6922dbfd1ab1826ad37d50c30c63c">
  <xsd:schema xmlns:xsd="http://www.w3.org/2001/XMLSchema" xmlns:xs="http://www.w3.org/2001/XMLSchema" xmlns:p="http://schemas.microsoft.com/office/2006/metadata/properties" xmlns:ns2="5d5e86c2-1981-49c0-a4c5-18f5e325411d" xmlns:ns3="3f560f56-3566-4265-8616-bf2c1da3872b" targetNamespace="http://schemas.microsoft.com/office/2006/metadata/properties" ma:root="true" ma:fieldsID="3fe0b2f1430f4c41453b7d9b1b5c55c1" ns2:_="" ns3:_="">
    <xsd:import namespace="5d5e86c2-1981-49c0-a4c5-18f5e325411d"/>
    <xsd:import namespace="3f560f56-3566-4265-8616-bf2c1da3872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lcf76f155ced4ddcb4097134ff3c332f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e86c2-1981-49c0-a4c5-18f5e32541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画像タグ" ma:readOnly="false" ma:fieldId="{5cf76f15-5ced-4ddc-b409-7134ff3c332f}" ma:taxonomyMulti="true" ma:sspId="811cc47a-0e71-4495-8d9a-154145a130f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560f56-3566-4265-8616-bf2c1da3872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315674-D7B8-47E2-BC37-5670892D319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C0FC12-A96B-4033-90DC-496C404C70D1}">
  <ds:schemaRefs>
    <ds:schemaRef ds:uri="http://schemas.microsoft.com/office/2006/metadata/properties"/>
    <ds:schemaRef ds:uri="http://schemas.microsoft.com/office/infopath/2007/PartnerControls"/>
    <ds:schemaRef ds:uri="5d5e86c2-1981-49c0-a4c5-18f5e325411d"/>
  </ds:schemaRefs>
</ds:datastoreItem>
</file>

<file path=customXml/itemProps3.xml><?xml version="1.0" encoding="utf-8"?>
<ds:datastoreItem xmlns:ds="http://schemas.openxmlformats.org/officeDocument/2006/customXml" ds:itemID="{3185AFE0-2C0D-480C-9101-310C580611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d5e86c2-1981-49c0-a4c5-18f5e325411d"/>
    <ds:schemaRef ds:uri="3f560f56-3566-4265-8616-bf2c1da3872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GovtTech東京-スライド雛形_Ver2(ロゴ位置修正)</Template>
  <TotalTime>0</TotalTime>
  <Words>695</Words>
  <Application>Microsoft Office PowerPoint</Application>
  <PresentationFormat>ワイド画面</PresentationFormat>
  <Paragraphs>107</Paragraphs>
  <Slides>5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游ゴシック</vt:lpstr>
      <vt:lpstr>Arial</vt:lpstr>
      <vt:lpstr>GTTマスター本文</vt:lpstr>
      <vt:lpstr>PowerPoint プレゼンテーション</vt:lpstr>
      <vt:lpstr>プロフィール・自己PR</vt:lpstr>
      <vt:lpstr>スキルセット</vt:lpstr>
      <vt:lpstr>構築プロジェクト例：金融取引システムの構築</vt:lpstr>
      <vt:lpstr>今後の目標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2025-09-12T08:55:12Z</dcterms:created>
  <dcterms:modified xsi:type="dcterms:W3CDTF">2025-11-19T13:00:46Z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434c97d-8ab1-48ff-a40e-6511b83ece5b_Enabled">
    <vt:lpwstr>true</vt:lpwstr>
  </property>
  <property fmtid="{D5CDD505-2E9C-101B-9397-08002B2CF9AE}" pid="3" name="MSIP_Label_4434c97d-8ab1-48ff-a40e-6511b83ece5b_SetDate">
    <vt:lpwstr>2025-09-12T08:55:22Z</vt:lpwstr>
  </property>
  <property fmtid="{D5CDD505-2E9C-101B-9397-08002B2CF9AE}" pid="4" name="MSIP_Label_4434c97d-8ab1-48ff-a40e-6511b83ece5b_Method">
    <vt:lpwstr>Standard</vt:lpwstr>
  </property>
  <property fmtid="{D5CDD505-2E9C-101B-9397-08002B2CF9AE}" pid="5" name="MSIP_Label_4434c97d-8ab1-48ff-a40e-6511b83ece5b_Name">
    <vt:lpwstr>GTT Public</vt:lpwstr>
  </property>
  <property fmtid="{D5CDD505-2E9C-101B-9397-08002B2CF9AE}" pid="6" name="MSIP_Label_4434c97d-8ab1-48ff-a40e-6511b83ece5b_SiteId">
    <vt:lpwstr>9d3e2e69-df2b-4c53-bac1-dd09f0728a7d</vt:lpwstr>
  </property>
  <property fmtid="{D5CDD505-2E9C-101B-9397-08002B2CF9AE}" pid="7" name="MSIP_Label_4434c97d-8ab1-48ff-a40e-6511b83ece5b_ActionId">
    <vt:lpwstr>5279e295-d89a-4122-8387-c013e94f090d</vt:lpwstr>
  </property>
  <property fmtid="{D5CDD505-2E9C-101B-9397-08002B2CF9AE}" pid="8" name="MSIP_Label_4434c97d-8ab1-48ff-a40e-6511b83ece5b_ContentBits">
    <vt:lpwstr>0</vt:lpwstr>
  </property>
  <property fmtid="{D5CDD505-2E9C-101B-9397-08002B2CF9AE}" pid="9" name="MSIP_Label_4434c97d-8ab1-48ff-a40e-6511b83ece5b_Tag">
    <vt:lpwstr>10, 3, 0, 1</vt:lpwstr>
  </property>
  <property fmtid="{D5CDD505-2E9C-101B-9397-08002B2CF9AE}" pid="10" name="MediaServiceImageTags">
    <vt:lpwstr/>
  </property>
  <property fmtid="{D5CDD505-2E9C-101B-9397-08002B2CF9AE}" pid="11" name="xd_ProgID">
    <vt:lpwstr/>
  </property>
  <property fmtid="{D5CDD505-2E9C-101B-9397-08002B2CF9AE}" pid="12" name="ContentTypeId">
    <vt:lpwstr>0x01010050778A40BB97904D942255E2E155F7D0</vt:lpwstr>
  </property>
  <property fmtid="{D5CDD505-2E9C-101B-9397-08002B2CF9AE}" pid="13" name="ComplianceAssetId">
    <vt:lpwstr/>
  </property>
  <property fmtid="{D5CDD505-2E9C-101B-9397-08002B2CF9AE}" pid="14" name="TemplateUrl">
    <vt:lpwstr/>
  </property>
  <property fmtid="{D5CDD505-2E9C-101B-9397-08002B2CF9AE}" pid="15" name="_ExtendedDescription">
    <vt:lpwstr/>
  </property>
  <property fmtid="{D5CDD505-2E9C-101B-9397-08002B2CF9AE}" pid="16" name="TriggerFlowInfo">
    <vt:lpwstr/>
  </property>
  <property fmtid="{D5CDD505-2E9C-101B-9397-08002B2CF9AE}" pid="17" name="xd_Signature">
    <vt:bool>false</vt:bool>
  </property>
</Properties>
</file>